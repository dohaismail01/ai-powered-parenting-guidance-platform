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ParentWise — an Arabic-first parenting assistant. A parent asks a question, by voice or text, in Egyptian colloquial Arabic, and gets a warm, evidence-grounded answer that knows when to step back and send them to a professional. It brings together three Gen-AI pieces — retrieval, a fine-tuned model, and voice — and our one-line philosophy is: we tune the model's behaviour, and we ground its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parents face everyday challenges — tantrums, discipline, screen time, sleep — and today they get scattered, inconsistent advice from social media. Our users are parents of 0-to-12-year-olds, especially first-timers. Two commitments drive the whole design. First, teach behaviour and ground facts: fine-tuning shapes how it answers, RAG decides what it answers with. Second, a hard safety boundary — anything medical or an emergency is refused and redirected, and that's enforced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question flows. The user speaks or types into the React frontend, which calls the FastAPI backend. Inside the backend: if it's voice, Whisper transcribes it; we build a prompt from the system prompt, few-shot examples and retrieved context; the RAG retriever pulls the top chunks from ChromaDB; and the fine-tuned QLoRA model produces the answer. That text goes back to the frontend, and every exchange is stored per session in Postgres or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one is retrieval. Our knowledge base is 944 chunks drawn from 34 real documents — 11 PDFs, 13 web sources, and 10 research papers — all from UNICEF, WHO and academic parenting research. We built it with structure-aware chunking, so we never return an orphaned sentence, and Arabic Unicode normalization so retrieval works reliably on Arabic. The point: we retrieve real evidence, not hallucinated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is hybrid, because neither method alone is enough. Dense BGE-M3 embeddings catch meaning even when the wording differs; BM25 catches exact Arabic terms that embeddings can dilute. We fuse the two with Reciprocal Rank Fusion — no hand-tuned weights — then apply metadata ranking and a cross-encoder reranker, landing on the 8 best chunks for the model. Two retrievers see what one alone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handled before generation, not after. A deterministic gate classifies every query across 7 risk categories. Four are hard-blocked — child abuse, violence, self-harm, and emergencies — and go straight to a safety response with crisis resources, with zero retrieval calls. Medical and mental-health are soft boundaries: we give general information and nudge toward a professional, never a diagnosis. A dangerous question never reaches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between retrieval and the model. Step one, we formulate the retrieval query; step two, we inject the retrieved chunks into a structured, per-source template; step three, the model generates grounded — using only those sources, and citing them. Crucially, the system prompt starts from the exact base message the model was fine-tuned on, so the RAG rules build on the training instead of fighting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two is fine-tuning. We adapted Nile-Chat-4B with QLoRA: the base model is frozen in 4-bit, and we train lightweight adapters — under one percent of the parameters — with rank 16, learning rate 1e-4, for 2 epochs. The dataset is 507 Q&amp;A pairs: 483 grounded parenting pairs plus 24 safety and refusal pairs, split into 482 train, 25 validation, and a 28-item held-out test with zero overlap. We fine-tune for tone and safety, not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optimize for deployment. Post-training quantization to GGUF Q4_K_M takes the model from about 8 gigabytes down to 2.5 — roughly three times smaller — and it runs on a laptop CPU at about 9 tokens per second, with no GPU required to serve. Same behaviour, a third of the size, so it runs right next to the RAG stack,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prompt-engineering side, safety is defense-in-depth — the fine-tuned model isn't the only line of defense. First a Router classifies intent with zero-shot, and skips retrieval and generation entirely for medical or out-of-scope questions. Then the Generator uses role, few-shot, and a silent chain-of-thought. Finally an independent Verifier — a separate call, not the model grading itself — checks grounding and safety before anything ships. Three independent checks, each catching what the others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we use six named prompt-engineering techniques, each doing one job — not stacked for show. Role prompting sets the persona; zero-shot classification drives the router; few-shot examples demonstrate the response shape; chain-of-thought does silent safety and age-fit reasoning; retrieval-grounding restricts answers to the sources; and chain-of-verification double-checks the draft. Together they're the glue between RAG and the fine-tuned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answer-quality guarantees users actually feel. Answers are age-aware, tailored to the child's age. We distinguish evidence from opinion. Medical questions are redirected to a professional. And when the retrieved context isn't enough, the model says so out loud instead of making something up. Safety here isn't a prompt line — it's enforced before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fix on this slide came from testing against the real model and real UNICEF data, not assumptions. We validated 5 test categories and found and fixed 3 real bugs. The router first misfired — a ball-sharing question was tagged medical — until we added five few-shot examples. And keyword retrieval pulled irrelevant chunks until we added stopword filtering and an overlap threshold, so now it falls back honestly instead of hallucinating. At the bottom you can see routing working: behavioural gets a grounded answer, medical a clean redirect, out-of-scope is politely declined.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working React chat UI, built right-to-left first — because that's the actual language of the product, down to the sidebar, message alignment and every string. Voice recording uses the browser's MediaRecorder with a live 'listening' state, ready for the STT endpoint. And there's a clean mock-to-real swap point: two isolated functions for chat and transcription, so wiring the real backend touches no UI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three is voice, and it's hands-free by design — parents can ask while their hands are full. Speech-to-text uses faster-whisper, forced to Arabic, with the voice-activity threshold tuned to 1500 milliseconds after testing showed shorter pauses were cutting sentences off. Text-to-speech uses the NAMAA Egyptian voice. It's a standalone FastAPI service wired end-to-end into the RAG and fine-tuned model over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together and this is the headline result: a full voice-to-voice pipeline. The parent speaks; STT transcribes; RAG plus the fine-tuned Nile-Chat-4B produces a grounded answer; and TTS speaks it back in Egyptian Arabic. This isn't a mock-up — we tested it live,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an honest read of the evaluation — 28 rubric-graded held-out questions, where safety-critical items are hard fails, about 67% overall. What worked: warm on-persona tone, correct refusals on several dangerous myths, emergencies routed to a doctor, and it runs on CPU. What we still need to fix is real: a dosage question produced a number, a choking case wasn't escalated, some facts were off, and a few out-of-scope questions got answered. We show the failures, we don't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honest limitations. This is not a substitute for professional advice; the safety refusals aren't perfect yet; facts are only as good as the sources; coverage is deliberately narrow; and STT can drift toward formal Arabic while TTS leans on a hosted service. Our roadmap follows directly: expand the safety data, strengthen refusal training, ground all facts through RAG, broaden topics and ages, and upgrade to a dialect-specific STT and a private TTS. A clean, working small system beats an overextended one.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187452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GRADUATION PROJECT  ·  GENERATIVE AI</a:t>
            </a:r>
            <a:endParaRPr lang="en-US" sz="1250" dirty="0"/>
          </a:p>
        </p:txBody>
      </p:sp>
      <p:sp>
        <p:nvSpPr>
          <p:cNvPr id="3" name="Text 1"/>
          <p:cNvSpPr txBox="1"/>
          <p:nvPr/>
        </p:nvSpPr>
        <p:spPr>
          <a:xfrm>
            <a:off x="786384" y="2176272"/>
            <a:ext cx="10515600" cy="1051560"/>
          </a:xfrm>
          <a:prstGeom prst="rect">
            <a:avLst/>
          </a:prstGeom>
          <a:noFill/>
          <a:ln/>
        </p:spPr>
        <p:txBody>
          <a:bodyPr wrap="square" lIns="0" tIns="0" rIns="0" bIns="0" rtlCol="0" anchor="ctr"/>
          <a:lstStyle/>
          <a:p>
            <a:pPr algn="l" indent="0" marL="0">
              <a:buNone/>
            </a:pPr>
            <a:r>
              <a:rPr lang="en-US" sz="6000" b="1" dirty="0">
                <a:solidFill>
                  <a:srgbClr val="3D2352"/>
                </a:solidFill>
                <a:latin typeface="Cambria" pitchFamily="34" charset="0"/>
                <a:ea typeface="Cambria" pitchFamily="34" charset="-122"/>
                <a:cs typeface="Cambria" pitchFamily="34" charset="-120"/>
              </a:rPr>
              <a:t>ParentWise</a:t>
            </a:r>
            <a:endParaRPr lang="en-US" sz="6000" dirty="0"/>
          </a:p>
        </p:txBody>
      </p:sp>
      <p:sp>
        <p:nvSpPr>
          <p:cNvPr id="4" name="Text 2"/>
          <p:cNvSpPr txBox="1"/>
          <p:nvPr/>
        </p:nvSpPr>
        <p:spPr>
          <a:xfrm>
            <a:off x="822960" y="3310128"/>
            <a:ext cx="10515600" cy="548640"/>
          </a:xfrm>
          <a:prstGeom prst="rect">
            <a:avLst/>
          </a:prstGeom>
          <a:noFill/>
          <a:ln/>
        </p:spPr>
        <p:txBody>
          <a:bodyPr wrap="square" lIns="0" tIns="0" rIns="0" bIns="0" rtlCol="0" anchor="ctr"/>
          <a:lstStyle/>
          <a:p>
            <a:pPr algn="l" indent="0" marL="0">
              <a:buNone/>
            </a:pPr>
            <a:r>
              <a:rPr lang="en-US" sz="2500" dirty="0">
                <a:solidFill>
                  <a:srgbClr val="5C4477"/>
                </a:solidFill>
                <a:latin typeface="Cambria" pitchFamily="34" charset="0"/>
                <a:ea typeface="Cambria" pitchFamily="34" charset="-122"/>
                <a:cs typeface="Cambria" pitchFamily="34" charset="-120"/>
              </a:rPr>
              <a:t>AI-Powered Parenting Guidance Platform</a:t>
            </a:r>
            <a:endParaRPr lang="en-US" sz="2500" dirty="0"/>
          </a:p>
        </p:txBody>
      </p:sp>
      <p:sp>
        <p:nvSpPr>
          <p:cNvPr id="5" name="Text 3"/>
          <p:cNvSpPr txBox="1"/>
          <p:nvPr/>
        </p:nvSpPr>
        <p:spPr>
          <a:xfrm>
            <a:off x="822960" y="3977640"/>
            <a:ext cx="7498080" cy="822960"/>
          </a:xfrm>
          <a:prstGeom prst="rect">
            <a:avLst/>
          </a:prstGeom>
          <a:noFill/>
          <a:ln/>
        </p:spPr>
        <p:txBody>
          <a:bodyPr wrap="square" lIns="0" tIns="0" rIns="0" bIns="0" rtlCol="0" anchor="ctr"/>
          <a:lstStyle/>
          <a:p>
            <a:pPr algn="l" indent="0" marL="0">
              <a:lnSpc>
                <a:spcPct val="115000"/>
              </a:lnSpc>
              <a:buNone/>
            </a:pPr>
            <a:r>
              <a:rPr lang="en-US" sz="1450" dirty="0">
                <a:solidFill>
                  <a:srgbClr val="6E6680"/>
                </a:solidFill>
                <a:latin typeface="Calibri" pitchFamily="34" charset="0"/>
                <a:ea typeface="Calibri" pitchFamily="34" charset="-122"/>
                <a:cs typeface="Calibri" pitchFamily="34" charset="-120"/>
              </a:rPr>
              <a:t>An Arabic-first, evidence-grounded assistant — parents ask by voice or text in Egyptian colloquial Arabic and get warm, source-grounded answers that defer to a professional on health and safety.</a:t>
            </a:r>
            <a:endParaRPr lang="en-US" sz="1450" dirty="0"/>
          </a:p>
        </p:txBody>
      </p:sp>
      <p:sp>
        <p:nvSpPr>
          <p:cNvPr id="6" name="Shape 4"/>
          <p:cNvSpPr/>
          <p:nvPr/>
        </p:nvSpPr>
        <p:spPr>
          <a:xfrm>
            <a:off x="822960" y="5029200"/>
            <a:ext cx="804672" cy="475488"/>
          </a:xfrm>
          <a:prstGeom prst="roundRect">
            <a:avLst>
              <a:gd name="adj" fmla="val 50000"/>
            </a:avLst>
          </a:prstGeom>
          <a:solidFill>
            <a:srgbClr val="FFFFFF"/>
          </a:solidFill>
          <a:ln/>
          <a:effectLst>
            <a:outerShdw sx="100000" sy="100000" kx="0" ky="0" algn="bl" rotWithShape="0" blurRad="165100" dist="38100" dir="5400000">
              <a:srgbClr val="B7A6C9">
                <a:alpha val="26000"/>
              </a:srgbClr>
            </a:outerShdw>
          </a:effectLst>
        </p:spPr>
      </p:sp>
      <p:sp>
        <p:nvSpPr>
          <p:cNvPr id="7" name="Text 5"/>
          <p:cNvSpPr txBox="1"/>
          <p:nvPr/>
        </p:nvSpPr>
        <p:spPr>
          <a:xfrm>
            <a:off x="822960" y="5029200"/>
            <a:ext cx="804672" cy="475488"/>
          </a:xfrm>
          <a:prstGeom prst="rect">
            <a:avLst/>
          </a:prstGeom>
          <a:noFill/>
          <a:ln/>
        </p:spPr>
        <p:txBody>
          <a:bodyPr wrap="square" lIns="0" tIns="0" rIns="0" bIns="0" rtlCol="0" anchor="ctr"/>
          <a:lstStyle/>
          <a:p>
            <a:pPr algn="ctr" indent="0" marL="0">
              <a:buNone/>
            </a:pPr>
            <a:r>
              <a:rPr lang="en-US" sz="1250" b="1" dirty="0">
                <a:solidFill>
                  <a:srgbClr val="C06A3C"/>
                </a:solidFill>
                <a:latin typeface="Calibri" pitchFamily="34" charset="0"/>
                <a:ea typeface="Calibri" pitchFamily="34" charset="-122"/>
                <a:cs typeface="Calibri" pitchFamily="34" charset="-120"/>
              </a:rPr>
              <a:t>RAG</a:t>
            </a:r>
            <a:endParaRPr lang="en-US" sz="1250" dirty="0"/>
          </a:p>
        </p:txBody>
      </p:sp>
      <p:sp>
        <p:nvSpPr>
          <p:cNvPr id="8" name="Shape 6"/>
          <p:cNvSpPr/>
          <p:nvPr/>
        </p:nvSpPr>
        <p:spPr>
          <a:xfrm>
            <a:off x="1883664" y="5029200"/>
            <a:ext cx="3118104" cy="475488"/>
          </a:xfrm>
          <a:prstGeom prst="roundRect">
            <a:avLst>
              <a:gd name="adj" fmla="val 50000"/>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1883664" y="5029200"/>
            <a:ext cx="3118104" cy="475488"/>
          </a:xfrm>
          <a:prstGeom prst="rect">
            <a:avLst/>
          </a:prstGeom>
          <a:noFill/>
          <a:ln/>
        </p:spPr>
        <p:txBody>
          <a:bodyPr wrap="square" lIns="0" tIns="0" rIns="0" bIns="0" rtlCol="0" anchor="ctr"/>
          <a:lstStyle/>
          <a:p>
            <a:pPr algn="ctr" indent="0" marL="0">
              <a:buNone/>
            </a:pPr>
            <a:r>
              <a:rPr lang="en-US" sz="1250" b="1" dirty="0">
                <a:solidFill>
                  <a:srgbClr val="C06A3C"/>
                </a:solidFill>
                <a:latin typeface="Calibri" pitchFamily="34" charset="0"/>
                <a:ea typeface="Calibri" pitchFamily="34" charset="-122"/>
                <a:cs typeface="Calibri" pitchFamily="34" charset="-120"/>
              </a:rPr>
              <a:t>Fine-Tuning + Quantization</a:t>
            </a:r>
            <a:endParaRPr lang="en-US" sz="1250" dirty="0"/>
          </a:p>
        </p:txBody>
      </p:sp>
      <p:sp>
        <p:nvSpPr>
          <p:cNvPr id="10" name="Shape 8"/>
          <p:cNvSpPr/>
          <p:nvPr/>
        </p:nvSpPr>
        <p:spPr>
          <a:xfrm>
            <a:off x="5257800" y="5029200"/>
            <a:ext cx="2313432" cy="475488"/>
          </a:xfrm>
          <a:prstGeom prst="roundRect">
            <a:avLst>
              <a:gd name="adj" fmla="val 50000"/>
            </a:avLst>
          </a:prstGeom>
          <a:solidFill>
            <a:srgbClr val="FFFFFF"/>
          </a:solidFill>
          <a:ln/>
          <a:effectLst>
            <a:outerShdw sx="100000" sy="100000" kx="0" ky="0" algn="bl" rotWithShape="0" blurRad="165100" dist="38100" dir="5400000">
              <a:srgbClr val="B7A6C9">
                <a:alpha val="26000"/>
              </a:srgbClr>
            </a:outerShdw>
          </a:effectLst>
        </p:spPr>
      </p:sp>
      <p:sp>
        <p:nvSpPr>
          <p:cNvPr id="11" name="Text 9"/>
          <p:cNvSpPr txBox="1"/>
          <p:nvPr/>
        </p:nvSpPr>
        <p:spPr>
          <a:xfrm>
            <a:off x="5257800" y="5029200"/>
            <a:ext cx="2313432" cy="475488"/>
          </a:xfrm>
          <a:prstGeom prst="rect">
            <a:avLst/>
          </a:prstGeom>
          <a:noFill/>
          <a:ln/>
        </p:spPr>
        <p:txBody>
          <a:bodyPr wrap="square" lIns="0" tIns="0" rIns="0" bIns="0" rtlCol="0" anchor="ctr"/>
          <a:lstStyle/>
          <a:p>
            <a:pPr algn="ctr" indent="0" marL="0">
              <a:buNone/>
            </a:pPr>
            <a:r>
              <a:rPr lang="en-US" sz="1250" b="1" dirty="0">
                <a:solidFill>
                  <a:srgbClr val="C06A3C"/>
                </a:solidFill>
                <a:latin typeface="Calibri" pitchFamily="34" charset="0"/>
                <a:ea typeface="Calibri" pitchFamily="34" charset="-122"/>
                <a:cs typeface="Calibri" pitchFamily="34" charset="-120"/>
              </a:rPr>
              <a:t>Prompt Engineering</a:t>
            </a:r>
            <a:endParaRPr lang="en-US" sz="1250" dirty="0"/>
          </a:p>
        </p:txBody>
      </p:sp>
      <p:sp>
        <p:nvSpPr>
          <p:cNvPr id="12" name="Shape 10"/>
          <p:cNvSpPr/>
          <p:nvPr/>
        </p:nvSpPr>
        <p:spPr>
          <a:xfrm>
            <a:off x="7827264" y="5029200"/>
            <a:ext cx="2212848" cy="475488"/>
          </a:xfrm>
          <a:prstGeom prst="roundRect">
            <a:avLst>
              <a:gd name="adj" fmla="val 50000"/>
            </a:avLst>
          </a:prstGeom>
          <a:solidFill>
            <a:srgbClr val="FFFFFF"/>
          </a:solidFill>
          <a:ln/>
          <a:effectLst>
            <a:outerShdw sx="100000" sy="100000" kx="0" ky="0" algn="bl" rotWithShape="0" blurRad="165100" dist="38100" dir="5400000">
              <a:srgbClr val="B7A6C9">
                <a:alpha val="26000"/>
              </a:srgbClr>
            </a:outerShdw>
          </a:effectLst>
        </p:spPr>
      </p:sp>
      <p:sp>
        <p:nvSpPr>
          <p:cNvPr id="13" name="Text 11"/>
          <p:cNvSpPr txBox="1"/>
          <p:nvPr/>
        </p:nvSpPr>
        <p:spPr>
          <a:xfrm>
            <a:off x="7827264" y="5029200"/>
            <a:ext cx="2212848" cy="475488"/>
          </a:xfrm>
          <a:prstGeom prst="rect">
            <a:avLst/>
          </a:prstGeom>
          <a:noFill/>
          <a:ln/>
        </p:spPr>
        <p:txBody>
          <a:bodyPr wrap="square" lIns="0" tIns="0" rIns="0" bIns="0" rtlCol="0" anchor="ctr"/>
          <a:lstStyle/>
          <a:p>
            <a:pPr algn="ctr" indent="0" marL="0">
              <a:buNone/>
            </a:pPr>
            <a:r>
              <a:rPr lang="en-US" sz="1250" b="1" dirty="0">
                <a:solidFill>
                  <a:srgbClr val="C06A3C"/>
                </a:solidFill>
                <a:latin typeface="Calibri" pitchFamily="34" charset="0"/>
                <a:ea typeface="Calibri" pitchFamily="34" charset="-122"/>
                <a:cs typeface="Calibri" pitchFamily="34" charset="-120"/>
              </a:rPr>
              <a:t>Voice · STT + TTS</a:t>
            </a:r>
            <a:endParaRPr lang="en-US" sz="1250" dirty="0"/>
          </a:p>
        </p:txBody>
      </p:sp>
      <p:sp>
        <p:nvSpPr>
          <p:cNvPr id="14" name="Text 12"/>
          <p:cNvSpPr txBox="1"/>
          <p:nvPr/>
        </p:nvSpPr>
        <p:spPr>
          <a:xfrm>
            <a:off x="822960" y="6309360"/>
            <a:ext cx="10515600" cy="320040"/>
          </a:xfrm>
          <a:prstGeom prst="rect">
            <a:avLst/>
          </a:prstGeom>
          <a:noFill/>
          <a:ln/>
        </p:spPr>
        <p:txBody>
          <a:bodyPr wrap="square" lIns="0" tIns="0" rIns="0" bIns="0" rtlCol="0" anchor="ctr"/>
          <a:lstStyle/>
          <a:p>
            <a:pPr algn="l" indent="0" marL="0">
              <a:buNone/>
            </a:pPr>
            <a:r>
              <a:rPr lang="en-US" sz="1150" dirty="0">
                <a:solidFill>
                  <a:srgbClr val="9B93A8"/>
                </a:solidFill>
                <a:latin typeface="Calibri" pitchFamily="34" charset="0"/>
                <a:ea typeface="Calibri" pitchFamily="34" charset="-122"/>
                <a:cs typeface="Calibri" pitchFamily="34" charset="-120"/>
              </a:rPr>
              <a:t>Fine-tuned model: MBZUAI-Paris/Nile-Chat-4B  ·  answers in Egyptian Arabic</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INTRODUCTION · THE PROBLEM &amp; OUR APPROACH</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Reliable parenting help — without the noise</a:t>
            </a:r>
            <a:endParaRPr lang="en-US" sz="3000" dirty="0"/>
          </a:p>
        </p:txBody>
      </p:sp>
      <p:sp>
        <p:nvSpPr>
          <p:cNvPr id="4" name="Shape 2"/>
          <p:cNvSpPr/>
          <p:nvPr/>
        </p:nvSpPr>
        <p:spPr>
          <a:xfrm>
            <a:off x="640080" y="1783080"/>
            <a:ext cx="5257800" cy="1600200"/>
          </a:xfrm>
          <a:prstGeom prst="roundRect">
            <a:avLst>
              <a:gd name="adj" fmla="val 6286"/>
            </a:avLst>
          </a:prstGeom>
          <a:solidFill>
            <a:srgbClr val="FFFFFF"/>
          </a:solidFill>
          <a:ln/>
          <a:effectLst>
            <a:outerShdw sx="100000" sy="100000" kx="0" ky="0" algn="bl" rotWithShape="0" blurRad="165100" dist="38100" dir="5400000">
              <a:srgbClr val="B7A6C9">
                <a:alpha val="26000"/>
              </a:srgbClr>
            </a:outerShdw>
          </a:effectLst>
        </p:spPr>
      </p:sp>
      <p:sp>
        <p:nvSpPr>
          <p:cNvPr id="5" name="Text 3"/>
          <p:cNvSpPr txBox="1"/>
          <p:nvPr/>
        </p:nvSpPr>
        <p:spPr>
          <a:xfrm>
            <a:off x="914400" y="1993392"/>
            <a:ext cx="4754880" cy="1234440"/>
          </a:xfrm>
          <a:prstGeom prst="rect">
            <a:avLst/>
          </a:prstGeom>
          <a:noFill/>
          <a:ln/>
        </p:spPr>
        <p:txBody>
          <a:bodyPr wrap="square" lIns="0" tIns="0" rIns="0" bIns="0" rtlCol="0" anchor="t"/>
          <a:lstStyle/>
          <a:p>
            <a:pPr indent="0" marL="0">
              <a:lnSpc>
                <a:spcPct val="112000"/>
              </a:lnSpc>
              <a:spcBef>
                <a:spcPts val="400"/>
              </a:spcBef>
              <a:buNone/>
            </a:pPr>
            <a:r>
              <a:rPr lang="en-US" sz="1500" b="1" dirty="0">
                <a:solidFill>
                  <a:srgbClr val="C06A3C"/>
                </a:solidFill>
                <a:latin typeface="Calibri" pitchFamily="34" charset="0"/>
                <a:ea typeface="Calibri" pitchFamily="34" charset="-122"/>
                <a:cs typeface="Calibri" pitchFamily="34" charset="-120"/>
              </a:rPr>
              <a:t>The problem</a:t>
            </a:r>
            <a:endParaRPr lang="en-US" sz="1500" dirty="0"/>
          </a:p>
          <a:p>
            <a:pPr indent="0" marL="0">
              <a:lnSpc>
                <a:spcPct val="112000"/>
              </a:lnSpc>
              <a:spcBef>
                <a:spcPts val="400"/>
              </a:spcBef>
              <a:buNone/>
            </a:pPr>
            <a:r>
              <a:rPr lang="en-US" sz="1300" dirty="0">
                <a:solidFill>
                  <a:srgbClr val="6E6680"/>
                </a:solidFill>
                <a:latin typeface="Calibri" pitchFamily="34" charset="0"/>
                <a:ea typeface="Calibri" pitchFamily="34" charset="-122"/>
                <a:cs typeface="Calibri" pitchFamily="34" charset="-120"/>
              </a:rPr>
              <a:t>New and existing parents lack fast, judgment-free guidance on everyday challenges — tantrums, discipline, screen time, sleep — and fall back on scattered, inconsistent social-media advice.</a:t>
            </a:r>
            <a:endParaRPr lang="en-US" sz="1500" dirty="0"/>
          </a:p>
        </p:txBody>
      </p:sp>
      <p:sp>
        <p:nvSpPr>
          <p:cNvPr id="6" name="Shape 4"/>
          <p:cNvSpPr/>
          <p:nvPr/>
        </p:nvSpPr>
        <p:spPr>
          <a:xfrm>
            <a:off x="6263640" y="1783080"/>
            <a:ext cx="5285232" cy="1600200"/>
          </a:xfrm>
          <a:prstGeom prst="roundRect">
            <a:avLst>
              <a:gd name="adj" fmla="val 6286"/>
            </a:avLst>
          </a:prstGeom>
          <a:solidFill>
            <a:srgbClr val="FFFFFF"/>
          </a:solidFill>
          <a:ln/>
          <a:effectLst>
            <a:outerShdw sx="100000" sy="100000" kx="0" ky="0" algn="bl" rotWithShape="0" blurRad="165100" dist="38100" dir="5400000">
              <a:srgbClr val="B7A6C9">
                <a:alpha val="26000"/>
              </a:srgbClr>
            </a:outerShdw>
          </a:effectLst>
        </p:spPr>
      </p:sp>
      <p:sp>
        <p:nvSpPr>
          <p:cNvPr id="7" name="Text 5"/>
          <p:cNvSpPr txBox="1"/>
          <p:nvPr/>
        </p:nvSpPr>
        <p:spPr>
          <a:xfrm>
            <a:off x="6537960" y="1993392"/>
            <a:ext cx="4754880" cy="1234440"/>
          </a:xfrm>
          <a:prstGeom prst="rect">
            <a:avLst/>
          </a:prstGeom>
          <a:noFill/>
          <a:ln/>
        </p:spPr>
        <p:txBody>
          <a:bodyPr wrap="square" lIns="0" tIns="0" rIns="0" bIns="0" rtlCol="0" anchor="t"/>
          <a:lstStyle/>
          <a:p>
            <a:pPr indent="0" marL="0">
              <a:lnSpc>
                <a:spcPct val="112000"/>
              </a:lnSpc>
              <a:spcBef>
                <a:spcPts val="400"/>
              </a:spcBef>
              <a:buNone/>
            </a:pPr>
            <a:r>
              <a:rPr lang="en-US" sz="1500" b="1" dirty="0">
                <a:solidFill>
                  <a:srgbClr val="C06A3C"/>
                </a:solidFill>
                <a:latin typeface="Calibri" pitchFamily="34" charset="0"/>
                <a:ea typeface="Calibri" pitchFamily="34" charset="-122"/>
                <a:cs typeface="Calibri" pitchFamily="34" charset="-120"/>
              </a:rPr>
              <a:t>Who it's for</a:t>
            </a:r>
            <a:endParaRPr lang="en-US" sz="1500" dirty="0"/>
          </a:p>
          <a:p>
            <a:pPr indent="0" marL="0">
              <a:lnSpc>
                <a:spcPct val="112000"/>
              </a:lnSpc>
              <a:spcBef>
                <a:spcPts val="400"/>
              </a:spcBef>
              <a:buNone/>
            </a:pPr>
            <a:r>
              <a:rPr lang="en-US" sz="1300" dirty="0">
                <a:solidFill>
                  <a:srgbClr val="6E6680"/>
                </a:solidFill>
                <a:latin typeface="Calibri" pitchFamily="34" charset="0"/>
                <a:ea typeface="Calibri" pitchFamily="34" charset="-122"/>
                <a:cs typeface="Calibri" pitchFamily="34" charset="-120"/>
              </a:rPr>
              <a:t>Parents of children aged 0–12 — especially first-time parents — who want evidence-informed answers rooted in recognized parenting frameworks, in their own dialect.</a:t>
            </a:r>
            <a:endParaRPr lang="en-US" sz="1500" dirty="0"/>
          </a:p>
        </p:txBody>
      </p:sp>
      <p:sp>
        <p:nvSpPr>
          <p:cNvPr id="8" name="Shape 6"/>
          <p:cNvSpPr/>
          <p:nvPr/>
        </p:nvSpPr>
        <p:spPr>
          <a:xfrm>
            <a:off x="640080" y="3401568"/>
            <a:ext cx="5257800" cy="1810512"/>
          </a:xfrm>
          <a:prstGeom prst="roundRect">
            <a:avLst>
              <a:gd name="adj" fmla="val 5556"/>
            </a:avLst>
          </a:prstGeom>
          <a:solidFill>
            <a:srgbClr val="FBF6FB"/>
          </a:solidFill>
          <a:ln/>
          <a:effectLst>
            <a:outerShdw sx="100000" sy="100000" kx="0" ky="0" algn="bl" rotWithShape="0" blurRad="165100" dist="38100" dir="5400000">
              <a:srgbClr val="B7A6C9">
                <a:alpha val="26000"/>
              </a:srgbClr>
            </a:outerShdw>
          </a:effectLst>
        </p:spPr>
      </p:sp>
      <p:sp>
        <p:nvSpPr>
          <p:cNvPr id="9" name="Shape 7"/>
          <p:cNvSpPr/>
          <p:nvPr/>
        </p:nvSpPr>
        <p:spPr>
          <a:xfrm>
            <a:off x="914400" y="3639312"/>
            <a:ext cx="548640" cy="548640"/>
          </a:xfrm>
          <a:prstGeom prst="ellipse">
            <a:avLst/>
          </a:prstGeom>
          <a:solidFill>
            <a:srgbClr val="ECE4F6"/>
          </a:solidFill>
          <a:ln/>
        </p:spPr>
      </p:sp>
      <p:sp>
        <p:nvSpPr>
          <p:cNvPr id="10" name="Text 8"/>
          <p:cNvSpPr txBox="1"/>
          <p:nvPr/>
        </p:nvSpPr>
        <p:spPr>
          <a:xfrm>
            <a:off x="914400" y="3639312"/>
            <a:ext cx="548640" cy="548640"/>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627632" y="3511296"/>
            <a:ext cx="4041648" cy="1591056"/>
          </a:xfrm>
          <a:prstGeom prst="rect">
            <a:avLst/>
          </a:prstGeom>
          <a:noFill/>
          <a:ln/>
        </p:spPr>
        <p:txBody>
          <a:bodyPr wrap="square" lIns="0" tIns="0" rIns="0" bIns="0" rtlCol="0" anchor="t"/>
          <a:lstStyle/>
          <a:p>
            <a:pPr indent="0" marL="0">
              <a:lnSpc>
                <a:spcPct val="108000"/>
              </a:lnSpc>
              <a:spcBef>
                <a:spcPts val="400"/>
              </a:spcBef>
              <a:buNone/>
            </a:pPr>
            <a:r>
              <a:rPr lang="en-US" sz="1450" b="1" dirty="0">
                <a:solidFill>
                  <a:srgbClr val="3D2352"/>
                </a:solidFill>
                <a:latin typeface="Calibri" pitchFamily="34" charset="0"/>
                <a:ea typeface="Calibri" pitchFamily="34" charset="-122"/>
                <a:cs typeface="Calibri" pitchFamily="34" charset="-120"/>
              </a:rPr>
              <a:t>Teach behaviour, ground facts</a:t>
            </a:r>
            <a:endParaRPr lang="en-US" sz="1450" dirty="0"/>
          </a:p>
          <a:p>
            <a:pPr indent="0" marL="0">
              <a:lnSpc>
                <a:spcPct val="108000"/>
              </a:lnSpc>
              <a:spcBef>
                <a:spcPts val="400"/>
              </a:spcBef>
              <a:buNone/>
            </a:pPr>
            <a:r>
              <a:rPr lang="en-US" sz="1200" dirty="0">
                <a:solidFill>
                  <a:srgbClr val="6E6680"/>
                </a:solidFill>
                <a:latin typeface="Calibri" pitchFamily="34" charset="0"/>
                <a:ea typeface="Calibri" pitchFamily="34" charset="-122"/>
                <a:cs typeface="Calibri" pitchFamily="34" charset="-120"/>
              </a:rPr>
              <a:t>Fine-tuning shapes how the model answers — warm, structured, safe. RAG decides what it answers with, at query time. The two reinforce each other.</a:t>
            </a:r>
            <a:endParaRPr lang="en-US" sz="1450" dirty="0"/>
          </a:p>
        </p:txBody>
      </p:sp>
      <p:sp>
        <p:nvSpPr>
          <p:cNvPr id="12" name="Shape 10"/>
          <p:cNvSpPr/>
          <p:nvPr/>
        </p:nvSpPr>
        <p:spPr>
          <a:xfrm>
            <a:off x="6263640" y="3401568"/>
            <a:ext cx="5285232" cy="1810512"/>
          </a:xfrm>
          <a:prstGeom prst="roundRect">
            <a:avLst>
              <a:gd name="adj" fmla="val 5556"/>
            </a:avLst>
          </a:prstGeom>
          <a:solidFill>
            <a:srgbClr val="FBF6FB"/>
          </a:solidFill>
          <a:ln/>
          <a:effectLst>
            <a:outerShdw sx="100000" sy="100000" kx="0" ky="0" algn="bl" rotWithShape="0" blurRad="165100" dist="38100" dir="5400000">
              <a:srgbClr val="B7A6C9">
                <a:alpha val="26000"/>
              </a:srgbClr>
            </a:outerShdw>
          </a:effectLst>
        </p:spPr>
      </p:sp>
      <p:sp>
        <p:nvSpPr>
          <p:cNvPr id="13" name="Shape 11"/>
          <p:cNvSpPr/>
          <p:nvPr/>
        </p:nvSpPr>
        <p:spPr>
          <a:xfrm>
            <a:off x="6537960" y="3639312"/>
            <a:ext cx="548640" cy="548640"/>
          </a:xfrm>
          <a:prstGeom prst="ellipse">
            <a:avLst/>
          </a:prstGeom>
          <a:solidFill>
            <a:srgbClr val="ECE4F6"/>
          </a:solidFill>
          <a:ln/>
        </p:spPr>
      </p:sp>
      <p:sp>
        <p:nvSpPr>
          <p:cNvPr id="14" name="Text 12"/>
          <p:cNvSpPr txBox="1"/>
          <p:nvPr/>
        </p:nvSpPr>
        <p:spPr>
          <a:xfrm>
            <a:off x="6537960" y="3639312"/>
            <a:ext cx="548640" cy="548640"/>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7251192" y="3511296"/>
            <a:ext cx="4041648" cy="1591056"/>
          </a:xfrm>
          <a:prstGeom prst="rect">
            <a:avLst/>
          </a:prstGeom>
          <a:noFill/>
          <a:ln/>
        </p:spPr>
        <p:txBody>
          <a:bodyPr wrap="square" lIns="0" tIns="0" rIns="0" bIns="0" rtlCol="0" anchor="t"/>
          <a:lstStyle/>
          <a:p>
            <a:pPr indent="0" marL="0">
              <a:lnSpc>
                <a:spcPct val="108000"/>
              </a:lnSpc>
              <a:spcBef>
                <a:spcPts val="400"/>
              </a:spcBef>
              <a:buNone/>
            </a:pPr>
            <a:r>
              <a:rPr lang="en-US" sz="1450" b="1" dirty="0">
                <a:solidFill>
                  <a:srgbClr val="3D2352"/>
                </a:solidFill>
                <a:latin typeface="Calibri" pitchFamily="34" charset="0"/>
                <a:ea typeface="Calibri" pitchFamily="34" charset="-122"/>
                <a:cs typeface="Calibri" pitchFamily="34" charset="-120"/>
              </a:rPr>
              <a:t>A hard safety boundary</a:t>
            </a:r>
            <a:endParaRPr lang="en-US" sz="1450" dirty="0"/>
          </a:p>
          <a:p>
            <a:pPr indent="0" marL="0">
              <a:lnSpc>
                <a:spcPct val="108000"/>
              </a:lnSpc>
              <a:spcBef>
                <a:spcPts val="400"/>
              </a:spcBef>
              <a:buNone/>
            </a:pPr>
            <a:r>
              <a:rPr lang="en-US" sz="1200" dirty="0">
                <a:solidFill>
                  <a:srgbClr val="6E6680"/>
                </a:solidFill>
                <a:latin typeface="Calibri" pitchFamily="34" charset="0"/>
                <a:ea typeface="Calibri" pitchFamily="34" charset="-122"/>
                <a:cs typeface="Calibri" pitchFamily="34" charset="-120"/>
              </a:rPr>
              <a:t>Behavioural &amp; developmental parenting only. Medical, dosing, and emergencies are refused and redirected to a pediatrician — enforced in the model and a RAG safety gate.</a:t>
            </a:r>
            <a:endParaRPr lang="en-US" sz="1450" dirty="0"/>
          </a:p>
        </p:txBody>
      </p:sp>
      <p:sp>
        <p:nvSpPr>
          <p:cNvPr id="16" name="Shape 14"/>
          <p:cNvSpPr/>
          <p:nvPr/>
        </p:nvSpPr>
        <p:spPr>
          <a:xfrm>
            <a:off x="640080" y="5321808"/>
            <a:ext cx="10908792" cy="713232"/>
          </a:xfrm>
          <a:prstGeom prst="roundRect">
            <a:avLst>
              <a:gd name="adj" fmla="val 14103"/>
            </a:avLst>
          </a:prstGeom>
          <a:solidFill>
            <a:srgbClr val="F7EEE9"/>
          </a:solidFill>
          <a:ln/>
          <a:effectLst>
            <a:outerShdw sx="100000" sy="100000" kx="0" ky="0" algn="bl" rotWithShape="0" blurRad="165100" dist="38100" dir="5400000">
              <a:srgbClr val="B7A6C9">
                <a:alpha val="26000"/>
              </a:srgbClr>
            </a:outerShdw>
          </a:effectLst>
        </p:spPr>
      </p:sp>
      <p:sp>
        <p:nvSpPr>
          <p:cNvPr id="17" name="Text 15"/>
          <p:cNvSpPr txBox="1"/>
          <p:nvPr/>
        </p:nvSpPr>
        <p:spPr>
          <a:xfrm>
            <a:off x="914400" y="5321808"/>
            <a:ext cx="10332720" cy="713232"/>
          </a:xfrm>
          <a:prstGeom prst="rect">
            <a:avLst/>
          </a:prstGeom>
          <a:noFill/>
          <a:ln/>
        </p:spPr>
        <p:txBody>
          <a:bodyPr wrap="square" lIns="0" tIns="0" rIns="0" bIns="0" rtlCol="0" anchor="ctr"/>
          <a:lstStyle/>
          <a:p>
            <a:pPr indent="0" marL="0">
              <a:lnSpc>
                <a:spcPct val="120000"/>
              </a:lnSpc>
              <a:buNone/>
            </a:pPr>
            <a:r>
              <a:rPr lang="en-US" sz="1150" b="1" dirty="0">
                <a:solidFill>
                  <a:srgbClr val="C06A3C"/>
                </a:solidFill>
                <a:latin typeface="Calibri" pitchFamily="34" charset="0"/>
                <a:ea typeface="Calibri" pitchFamily="34" charset="-122"/>
                <a:cs typeface="Calibri" pitchFamily="34" charset="-120"/>
              </a:rPr>
              <a:t>Scope — depth over breadth:  </a:t>
            </a:r>
            <a:pPr indent="0" marL="0">
              <a:lnSpc>
                <a:spcPct val="120000"/>
              </a:lnSpc>
              <a:buNone/>
            </a:pPr>
            <a:r>
              <a:rPr lang="en-US" sz="1150" b="1" dirty="0">
                <a:solidFill>
                  <a:srgbClr val="3D2352"/>
                </a:solidFill>
                <a:latin typeface="Calibri" pitchFamily="34" charset="0"/>
                <a:ea typeface="Calibri" pitchFamily="34" charset="-122"/>
                <a:cs typeface="Calibri" pitchFamily="34" charset="-120"/>
              </a:rPr>
              <a:t>Discipline &amp; tantrums · Screen time · Sleep routines</a:t>
            </a:r>
            <a:endParaRPr lang="en-US" sz="1150" dirty="0"/>
          </a:p>
          <a:p>
            <a:pPr indent="0" marL="0">
              <a:lnSpc>
                <a:spcPct val="120000"/>
              </a:lnSpc>
              <a:buNone/>
            </a:pPr>
            <a:r>
              <a:rPr lang="en-US" sz="1150" b="1" dirty="0">
                <a:solidFill>
                  <a:srgbClr val="C06A3C"/>
                </a:solidFill>
                <a:latin typeface="Calibri" pitchFamily="34" charset="0"/>
                <a:ea typeface="Calibri" pitchFamily="34" charset="-122"/>
                <a:cs typeface="Calibri" pitchFamily="34" charset="-120"/>
              </a:rPr>
              <a:t>Requirements met:  </a:t>
            </a:r>
            <a:pPr indent="0" marL="0">
              <a:lnSpc>
                <a:spcPct val="120000"/>
              </a:lnSpc>
              <a:buNone/>
            </a:pPr>
            <a:r>
              <a:rPr lang="en-US" sz="1150" dirty="0">
                <a:solidFill>
                  <a:srgbClr val="6E6680"/>
                </a:solidFill>
                <a:latin typeface="Calibri" pitchFamily="34" charset="0"/>
                <a:ea typeface="Calibri" pitchFamily="34" charset="-122"/>
                <a:cs typeface="Calibri" pitchFamily="34" charset="-120"/>
              </a:rPr>
              <a:t>RAG · STT voice · fine-tuning + optimization · React / FastAPI · end-to-end</a:t>
            </a:r>
            <a:endParaRPr lang="en-US" sz="1150" dirty="0"/>
          </a:p>
        </p:txBody>
      </p:sp>
      <p:sp>
        <p:nvSpPr>
          <p:cNvPr id="18" name="Text 16"/>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Depth over breadth: a few core topics, done well.</a:t>
            </a:r>
            <a:endParaRPr lang="en-US" sz="1150" dirty="0"/>
          </a:p>
        </p:txBody>
      </p:sp>
      <p:sp>
        <p:nvSpPr>
          <p:cNvPr id="19" name="Text 17"/>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2 / 18</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SYSTEM ARCHITECTURE · THE PIPELINE</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How a question flows through the system</a:t>
            </a:r>
            <a:endParaRPr lang="en-US" sz="3000" dirty="0"/>
          </a:p>
        </p:txBody>
      </p:sp>
      <p:sp>
        <p:nvSpPr>
          <p:cNvPr id="4" name="Shape 2"/>
          <p:cNvSpPr/>
          <p:nvPr/>
        </p:nvSpPr>
        <p:spPr>
          <a:xfrm>
            <a:off x="640080" y="1627632"/>
            <a:ext cx="3401568" cy="822960"/>
          </a:xfrm>
          <a:prstGeom prst="roundRect">
            <a:avLst>
              <a:gd name="adj" fmla="val 12222"/>
            </a:avLst>
          </a:prstGeom>
          <a:solidFill>
            <a:srgbClr val="FFFFFF"/>
          </a:solidFill>
          <a:ln/>
          <a:effectLst>
            <a:outerShdw sx="100000" sy="100000" kx="0" ky="0" algn="bl" rotWithShape="0" blurRad="165100" dist="38100" dir="5400000">
              <a:srgbClr val="B7A6C9">
                <a:alpha val="26000"/>
              </a:srgbClr>
            </a:outerShdw>
          </a:effectLst>
        </p:spPr>
      </p:sp>
      <p:sp>
        <p:nvSpPr>
          <p:cNvPr id="5" name="Text 3"/>
          <p:cNvSpPr txBox="1"/>
          <p:nvPr/>
        </p:nvSpPr>
        <p:spPr>
          <a:xfrm>
            <a:off x="777240" y="1627632"/>
            <a:ext cx="3127248" cy="822960"/>
          </a:xfrm>
          <a:prstGeom prst="rect">
            <a:avLst/>
          </a:prstGeom>
          <a:noFill/>
          <a:ln/>
        </p:spPr>
        <p:txBody>
          <a:bodyPr wrap="square" lIns="0" tIns="0" rIns="0" bIns="0" rtlCol="0" anchor="ctr"/>
          <a:lstStyle/>
          <a:p>
            <a:pPr algn="ctr" indent="0" marL="0">
              <a:buNone/>
            </a:pPr>
            <a:r>
              <a:rPr lang="en-US" sz="1450" b="1" dirty="0">
                <a:solidFill>
                  <a:srgbClr val="3D2352"/>
                </a:solidFill>
                <a:latin typeface="Calibri" pitchFamily="34" charset="0"/>
                <a:ea typeface="Calibri" pitchFamily="34" charset="-122"/>
                <a:cs typeface="Calibri" pitchFamily="34" charset="-120"/>
              </a:rPr>
              <a:t>User   </a:t>
            </a:r>
            <a:pPr algn="ctr" indent="0" marL="0">
              <a:buNone/>
            </a:pPr>
            <a:r>
              <a:rPr lang="en-US" sz="1150" dirty="0">
                <a:solidFill>
                  <a:srgbClr val="6E6680"/>
                </a:solidFill>
                <a:latin typeface="Calibri" pitchFamily="34" charset="0"/>
                <a:ea typeface="Calibri" pitchFamily="34" charset="-122"/>
                <a:cs typeface="Calibri" pitchFamily="34" charset="-120"/>
              </a:rPr>
              <a:t>voice / text</a:t>
            </a:r>
            <a:endParaRPr lang="en-US" sz="1450" dirty="0"/>
          </a:p>
        </p:txBody>
      </p:sp>
      <p:sp>
        <p:nvSpPr>
          <p:cNvPr id="6" name="Text 4"/>
          <p:cNvSpPr txBox="1"/>
          <p:nvPr/>
        </p:nvSpPr>
        <p:spPr>
          <a:xfrm>
            <a:off x="3986784" y="1810512"/>
            <a:ext cx="457200" cy="457200"/>
          </a:xfrm>
          <a:prstGeom prst="rect">
            <a:avLst/>
          </a:prstGeom>
          <a:noFill/>
          <a:ln/>
        </p:spPr>
        <p:txBody>
          <a:bodyPr wrap="square" lIns="0" tIns="0" rIns="0" bIns="0" rtlCol="0" anchor="ctr"/>
          <a:lstStyle/>
          <a:p>
            <a:pPr algn="ctr" indent="0" marL="0">
              <a:buNone/>
            </a:pPr>
            <a:r>
              <a:rPr lang="en-US" sz="2000" b="1" dirty="0">
                <a:solidFill>
                  <a:srgbClr val="D9824F"/>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4389120" y="1627632"/>
            <a:ext cx="3401568" cy="822960"/>
          </a:xfrm>
          <a:prstGeom prst="roundRect">
            <a:avLst>
              <a:gd name="adj" fmla="val 12222"/>
            </a:avLst>
          </a:prstGeom>
          <a:solidFill>
            <a:srgbClr val="FFFFFF"/>
          </a:solidFill>
          <a:ln/>
          <a:effectLst>
            <a:outerShdw sx="100000" sy="100000" kx="0" ky="0" algn="bl" rotWithShape="0" blurRad="165100" dist="38100" dir="5400000">
              <a:srgbClr val="B7A6C9">
                <a:alpha val="26000"/>
              </a:srgbClr>
            </a:outerShdw>
          </a:effectLst>
        </p:spPr>
      </p:sp>
      <p:sp>
        <p:nvSpPr>
          <p:cNvPr id="8" name="Text 6"/>
          <p:cNvSpPr txBox="1"/>
          <p:nvPr/>
        </p:nvSpPr>
        <p:spPr>
          <a:xfrm>
            <a:off x="4526280" y="1627632"/>
            <a:ext cx="3127248" cy="822960"/>
          </a:xfrm>
          <a:prstGeom prst="rect">
            <a:avLst/>
          </a:prstGeom>
          <a:noFill/>
          <a:ln/>
        </p:spPr>
        <p:txBody>
          <a:bodyPr wrap="square" lIns="0" tIns="0" rIns="0" bIns="0" rtlCol="0" anchor="ctr"/>
          <a:lstStyle/>
          <a:p>
            <a:pPr algn="ctr" indent="0" marL="0">
              <a:buNone/>
            </a:pPr>
            <a:r>
              <a:rPr lang="en-US" sz="1450" b="1" dirty="0">
                <a:solidFill>
                  <a:srgbClr val="3D2352"/>
                </a:solidFill>
                <a:latin typeface="Calibri" pitchFamily="34" charset="0"/>
                <a:ea typeface="Calibri" pitchFamily="34" charset="-122"/>
                <a:cs typeface="Calibri" pitchFamily="34" charset="-120"/>
              </a:rPr>
              <a:t>React frontend   </a:t>
            </a:r>
            <a:pPr algn="ctr" indent="0" marL="0">
              <a:buNone/>
            </a:pPr>
            <a:r>
              <a:rPr lang="en-US" sz="1150" dirty="0">
                <a:solidFill>
                  <a:srgbClr val="6E6680"/>
                </a:solidFill>
                <a:latin typeface="Calibri" pitchFamily="34" charset="0"/>
                <a:ea typeface="Calibri" pitchFamily="34" charset="-122"/>
                <a:cs typeface="Calibri" pitchFamily="34" charset="-120"/>
              </a:rPr>
              <a:t>chat UI (RTL)</a:t>
            </a:r>
            <a:endParaRPr lang="en-US" sz="1450" dirty="0"/>
          </a:p>
        </p:txBody>
      </p:sp>
      <p:sp>
        <p:nvSpPr>
          <p:cNvPr id="9" name="Text 7"/>
          <p:cNvSpPr txBox="1"/>
          <p:nvPr/>
        </p:nvSpPr>
        <p:spPr>
          <a:xfrm>
            <a:off x="7735824" y="1810512"/>
            <a:ext cx="457200" cy="457200"/>
          </a:xfrm>
          <a:prstGeom prst="rect">
            <a:avLst/>
          </a:prstGeom>
          <a:noFill/>
          <a:ln/>
        </p:spPr>
        <p:txBody>
          <a:bodyPr wrap="square" lIns="0" tIns="0" rIns="0" bIns="0" rtlCol="0" anchor="ctr"/>
          <a:lstStyle/>
          <a:p>
            <a:pPr algn="ctr" indent="0" marL="0">
              <a:buNone/>
            </a:pPr>
            <a:r>
              <a:rPr lang="en-US" sz="2000" b="1" dirty="0">
                <a:solidFill>
                  <a:srgbClr val="D9824F"/>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8138160" y="1627632"/>
            <a:ext cx="3401568" cy="822960"/>
          </a:xfrm>
          <a:prstGeom prst="roundRect">
            <a:avLst>
              <a:gd name="adj" fmla="val 12222"/>
            </a:avLst>
          </a:prstGeom>
          <a:solidFill>
            <a:srgbClr val="FFFFFF"/>
          </a:solidFill>
          <a:ln/>
          <a:effectLst>
            <a:outerShdw sx="100000" sy="100000" kx="0" ky="0" algn="bl" rotWithShape="0" blurRad="165100" dist="38100" dir="5400000">
              <a:srgbClr val="B7A6C9">
                <a:alpha val="26000"/>
              </a:srgbClr>
            </a:outerShdw>
          </a:effectLst>
        </p:spPr>
      </p:sp>
      <p:sp>
        <p:nvSpPr>
          <p:cNvPr id="11" name="Text 9"/>
          <p:cNvSpPr txBox="1"/>
          <p:nvPr/>
        </p:nvSpPr>
        <p:spPr>
          <a:xfrm>
            <a:off x="8275320" y="1627632"/>
            <a:ext cx="3127248" cy="822960"/>
          </a:xfrm>
          <a:prstGeom prst="rect">
            <a:avLst/>
          </a:prstGeom>
          <a:noFill/>
          <a:ln/>
        </p:spPr>
        <p:txBody>
          <a:bodyPr wrap="square" lIns="0" tIns="0" rIns="0" bIns="0" rtlCol="0" anchor="ctr"/>
          <a:lstStyle/>
          <a:p>
            <a:pPr algn="ctr" indent="0" marL="0">
              <a:buNone/>
            </a:pPr>
            <a:r>
              <a:rPr lang="en-US" sz="1450" b="1" dirty="0">
                <a:solidFill>
                  <a:srgbClr val="3D2352"/>
                </a:solidFill>
                <a:latin typeface="Calibri" pitchFamily="34" charset="0"/>
                <a:ea typeface="Calibri" pitchFamily="34" charset="-122"/>
                <a:cs typeface="Calibri" pitchFamily="34" charset="-120"/>
              </a:rPr>
              <a:t>FastAPI backend   </a:t>
            </a:r>
            <a:pPr algn="ctr" indent="0" marL="0">
              <a:buNone/>
            </a:pPr>
            <a:r>
              <a:rPr lang="en-US" sz="1150" dirty="0">
                <a:solidFill>
                  <a:srgbClr val="6E6680"/>
                </a:solidFill>
                <a:latin typeface="Calibri" pitchFamily="34" charset="0"/>
                <a:ea typeface="Calibri" pitchFamily="34" charset="-122"/>
                <a:cs typeface="Calibri" pitchFamily="34" charset="-120"/>
              </a:rPr>
              <a:t>orchestration</a:t>
            </a:r>
            <a:endParaRPr lang="en-US" sz="1450" dirty="0"/>
          </a:p>
        </p:txBody>
      </p:sp>
      <p:sp>
        <p:nvSpPr>
          <p:cNvPr id="12" name="Shape 10"/>
          <p:cNvSpPr/>
          <p:nvPr/>
        </p:nvSpPr>
        <p:spPr>
          <a:xfrm>
            <a:off x="640080" y="2697480"/>
            <a:ext cx="10908792" cy="2286000"/>
          </a:xfrm>
          <a:prstGeom prst="roundRect">
            <a:avLst>
              <a:gd name="adj" fmla="val 4400"/>
            </a:avLst>
          </a:prstGeom>
          <a:solidFill>
            <a:srgbClr val="FBF6FB"/>
          </a:solidFill>
          <a:ln/>
          <a:effectLst>
            <a:outerShdw sx="100000" sy="100000" kx="0" ky="0" algn="bl" rotWithShape="0" blurRad="165100" dist="38100" dir="5400000">
              <a:srgbClr val="B7A6C9">
                <a:alpha val="26000"/>
              </a:srgbClr>
            </a:outerShdw>
          </a:effectLst>
        </p:spPr>
      </p:sp>
      <p:sp>
        <p:nvSpPr>
          <p:cNvPr id="13" name="Text 11"/>
          <p:cNvSpPr txBox="1"/>
          <p:nvPr/>
        </p:nvSpPr>
        <p:spPr>
          <a:xfrm>
            <a:off x="868680" y="2816352"/>
            <a:ext cx="5486400" cy="320040"/>
          </a:xfrm>
          <a:prstGeom prst="rect">
            <a:avLst/>
          </a:prstGeom>
          <a:noFill/>
          <a:ln/>
        </p:spPr>
        <p:txBody>
          <a:bodyPr wrap="square" lIns="0" tIns="0" rIns="0" bIns="0" rtlCol="0" anchor="ctr"/>
          <a:lstStyle/>
          <a:p>
            <a:pPr indent="0" marL="0">
              <a:buNone/>
            </a:pPr>
            <a:r>
              <a:rPr lang="en-US" sz="1250" b="1" spc="150" kern="0" dirty="0">
                <a:solidFill>
                  <a:srgbClr val="C06A3C"/>
                </a:solidFill>
                <a:latin typeface="Calibri" pitchFamily="34" charset="0"/>
                <a:ea typeface="Calibri" pitchFamily="34" charset="-122"/>
                <a:cs typeface="Calibri" pitchFamily="34" charset="-120"/>
              </a:rPr>
              <a:t>Inside the backend</a:t>
            </a:r>
            <a:endParaRPr lang="en-US" sz="1250" dirty="0"/>
          </a:p>
        </p:txBody>
      </p:sp>
      <p:sp>
        <p:nvSpPr>
          <p:cNvPr id="14" name="Shape 12"/>
          <p:cNvSpPr/>
          <p:nvPr/>
        </p:nvSpPr>
        <p:spPr>
          <a:xfrm>
            <a:off x="868680" y="3200400"/>
            <a:ext cx="2542032" cy="1627632"/>
          </a:xfrm>
          <a:prstGeom prst="roundRect">
            <a:avLst>
              <a:gd name="adj" fmla="val 5056"/>
            </a:avLst>
          </a:prstGeom>
          <a:solidFill>
            <a:srgbClr val="FFFFFF"/>
          </a:solidFill>
          <a:ln/>
          <a:effectLst>
            <a:outerShdw sx="100000" sy="100000" kx="0" ky="0" algn="bl" rotWithShape="0" blurRad="88900" dist="25400" dir="5400000">
              <a:srgbClr val="C4B6D2">
                <a:alpha val="20000"/>
              </a:srgbClr>
            </a:outerShdw>
          </a:effectLst>
        </p:spPr>
      </p:sp>
      <p:sp>
        <p:nvSpPr>
          <p:cNvPr id="15" name="Shape 13"/>
          <p:cNvSpPr/>
          <p:nvPr/>
        </p:nvSpPr>
        <p:spPr>
          <a:xfrm>
            <a:off x="1901952" y="3383280"/>
            <a:ext cx="475488" cy="475488"/>
          </a:xfrm>
          <a:prstGeom prst="ellipse">
            <a:avLst/>
          </a:prstGeom>
          <a:solidFill>
            <a:srgbClr val="FFFFFF"/>
          </a:solidFill>
          <a:ln w="22225">
            <a:solidFill>
              <a:srgbClr val="D9824F"/>
            </a:solidFill>
            <a:prstDash val="solid"/>
          </a:ln>
        </p:spPr>
      </p:sp>
      <p:sp>
        <p:nvSpPr>
          <p:cNvPr id="16" name="Text 14"/>
          <p:cNvSpPr txBox="1"/>
          <p:nvPr/>
        </p:nvSpPr>
        <p:spPr>
          <a:xfrm>
            <a:off x="1901952" y="3383280"/>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1</a:t>
            </a:r>
            <a:endParaRPr lang="en-US" sz="1600" dirty="0"/>
          </a:p>
        </p:txBody>
      </p:sp>
      <p:sp>
        <p:nvSpPr>
          <p:cNvPr id="17" name="Text 15"/>
          <p:cNvSpPr txBox="1"/>
          <p:nvPr/>
        </p:nvSpPr>
        <p:spPr>
          <a:xfrm>
            <a:off x="978408" y="3950208"/>
            <a:ext cx="2322576" cy="365760"/>
          </a:xfrm>
          <a:prstGeom prst="rect">
            <a:avLst/>
          </a:prstGeom>
          <a:noFill/>
          <a:ln/>
        </p:spPr>
        <p:txBody>
          <a:bodyPr wrap="square" lIns="0" tIns="0" rIns="0" bIns="0" rtlCol="0" anchor="ctr"/>
          <a:lstStyle/>
          <a:p>
            <a:pPr algn="ctr" indent="0" marL="0">
              <a:buNone/>
            </a:pPr>
            <a:r>
              <a:rPr lang="en-US" sz="1300" b="1" dirty="0">
                <a:solidFill>
                  <a:srgbClr val="3D2352"/>
                </a:solidFill>
                <a:latin typeface="Calibri" pitchFamily="34" charset="0"/>
                <a:ea typeface="Calibri" pitchFamily="34" charset="-122"/>
                <a:cs typeface="Calibri" pitchFamily="34" charset="-120"/>
              </a:rPr>
              <a:t>STT (Whisper)</a:t>
            </a:r>
            <a:endParaRPr lang="en-US" sz="1300" dirty="0"/>
          </a:p>
        </p:txBody>
      </p:sp>
      <p:sp>
        <p:nvSpPr>
          <p:cNvPr id="18" name="Text 16"/>
          <p:cNvSpPr txBox="1"/>
          <p:nvPr/>
        </p:nvSpPr>
        <p:spPr>
          <a:xfrm>
            <a:off x="996696" y="4297680"/>
            <a:ext cx="2286000" cy="457200"/>
          </a:xfrm>
          <a:prstGeom prst="rect">
            <a:avLst/>
          </a:prstGeom>
          <a:noFill/>
          <a:ln/>
        </p:spPr>
        <p:txBody>
          <a:bodyPr wrap="square" lIns="0" tIns="0" rIns="0" bIns="0" rtlCol="0" anchor="ctr"/>
          <a:lstStyle/>
          <a:p>
            <a:pPr algn="ctr" indent="0" marL="0">
              <a:lnSpc>
                <a:spcPct val="102000"/>
              </a:lnSpc>
              <a:buNone/>
            </a:pPr>
            <a:r>
              <a:rPr lang="en-US" sz="1050" dirty="0">
                <a:solidFill>
                  <a:srgbClr val="6E6680"/>
                </a:solidFill>
                <a:latin typeface="Calibri" pitchFamily="34" charset="0"/>
                <a:ea typeface="Calibri" pitchFamily="34" charset="-122"/>
                <a:cs typeface="Calibri" pitchFamily="34" charset="-120"/>
              </a:rPr>
              <a:t>transcribe — if voice input</a:t>
            </a:r>
            <a:endParaRPr lang="en-US" sz="1050" dirty="0"/>
          </a:p>
        </p:txBody>
      </p:sp>
      <p:sp>
        <p:nvSpPr>
          <p:cNvPr id="19" name="Shape 17"/>
          <p:cNvSpPr/>
          <p:nvPr/>
        </p:nvSpPr>
        <p:spPr>
          <a:xfrm>
            <a:off x="3547872" y="3200400"/>
            <a:ext cx="2542032" cy="1627632"/>
          </a:xfrm>
          <a:prstGeom prst="roundRect">
            <a:avLst>
              <a:gd name="adj" fmla="val 5056"/>
            </a:avLst>
          </a:prstGeom>
          <a:solidFill>
            <a:srgbClr val="FFFFFF"/>
          </a:solidFill>
          <a:ln/>
          <a:effectLst>
            <a:outerShdw sx="100000" sy="100000" kx="0" ky="0" algn="bl" rotWithShape="0" blurRad="88900" dist="25400" dir="5400000">
              <a:srgbClr val="C4B6D2">
                <a:alpha val="20000"/>
              </a:srgbClr>
            </a:outerShdw>
          </a:effectLst>
        </p:spPr>
      </p:sp>
      <p:sp>
        <p:nvSpPr>
          <p:cNvPr id="20" name="Shape 18"/>
          <p:cNvSpPr/>
          <p:nvPr/>
        </p:nvSpPr>
        <p:spPr>
          <a:xfrm>
            <a:off x="4581144" y="3383280"/>
            <a:ext cx="475488" cy="475488"/>
          </a:xfrm>
          <a:prstGeom prst="ellipse">
            <a:avLst/>
          </a:prstGeom>
          <a:solidFill>
            <a:srgbClr val="FFFFFF"/>
          </a:solidFill>
          <a:ln w="22225">
            <a:solidFill>
              <a:srgbClr val="D9824F"/>
            </a:solidFill>
            <a:prstDash val="solid"/>
          </a:ln>
        </p:spPr>
      </p:sp>
      <p:sp>
        <p:nvSpPr>
          <p:cNvPr id="21" name="Text 19"/>
          <p:cNvSpPr txBox="1"/>
          <p:nvPr/>
        </p:nvSpPr>
        <p:spPr>
          <a:xfrm>
            <a:off x="4581144" y="3383280"/>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2</a:t>
            </a:r>
            <a:endParaRPr lang="en-US" sz="1600" dirty="0"/>
          </a:p>
        </p:txBody>
      </p:sp>
      <p:sp>
        <p:nvSpPr>
          <p:cNvPr id="22" name="Text 20"/>
          <p:cNvSpPr txBox="1"/>
          <p:nvPr/>
        </p:nvSpPr>
        <p:spPr>
          <a:xfrm>
            <a:off x="3657600" y="3950208"/>
            <a:ext cx="2322576" cy="365760"/>
          </a:xfrm>
          <a:prstGeom prst="rect">
            <a:avLst/>
          </a:prstGeom>
          <a:noFill/>
          <a:ln/>
        </p:spPr>
        <p:txBody>
          <a:bodyPr wrap="square" lIns="0" tIns="0" rIns="0" bIns="0" rtlCol="0" anchor="ctr"/>
          <a:lstStyle/>
          <a:p>
            <a:pPr algn="ctr" indent="0" marL="0">
              <a:buNone/>
            </a:pPr>
            <a:r>
              <a:rPr lang="en-US" sz="1300" b="1" dirty="0">
                <a:solidFill>
                  <a:srgbClr val="3D2352"/>
                </a:solidFill>
                <a:latin typeface="Calibri" pitchFamily="34" charset="0"/>
                <a:ea typeface="Calibri" pitchFamily="34" charset="-122"/>
                <a:cs typeface="Calibri" pitchFamily="34" charset="-120"/>
              </a:rPr>
              <a:t>Prompt template</a:t>
            </a:r>
            <a:endParaRPr lang="en-US" sz="1300" dirty="0"/>
          </a:p>
        </p:txBody>
      </p:sp>
      <p:sp>
        <p:nvSpPr>
          <p:cNvPr id="23" name="Text 21"/>
          <p:cNvSpPr txBox="1"/>
          <p:nvPr/>
        </p:nvSpPr>
        <p:spPr>
          <a:xfrm>
            <a:off x="3675888" y="4297680"/>
            <a:ext cx="2286000" cy="457200"/>
          </a:xfrm>
          <a:prstGeom prst="rect">
            <a:avLst/>
          </a:prstGeom>
          <a:noFill/>
          <a:ln/>
        </p:spPr>
        <p:txBody>
          <a:bodyPr wrap="square" lIns="0" tIns="0" rIns="0" bIns="0" rtlCol="0" anchor="ctr"/>
          <a:lstStyle/>
          <a:p>
            <a:pPr algn="ctr" indent="0" marL="0">
              <a:lnSpc>
                <a:spcPct val="102000"/>
              </a:lnSpc>
              <a:buNone/>
            </a:pPr>
            <a:r>
              <a:rPr lang="en-US" sz="1050" dirty="0">
                <a:solidFill>
                  <a:srgbClr val="6E6680"/>
                </a:solidFill>
                <a:latin typeface="Calibri" pitchFamily="34" charset="0"/>
                <a:ea typeface="Calibri" pitchFamily="34" charset="-122"/>
                <a:cs typeface="Calibri" pitchFamily="34" charset="-120"/>
              </a:rPr>
              <a:t>system prompt + few-shot + retrieved context</a:t>
            </a:r>
            <a:endParaRPr lang="en-US" sz="1050" dirty="0"/>
          </a:p>
        </p:txBody>
      </p:sp>
      <p:sp>
        <p:nvSpPr>
          <p:cNvPr id="24" name="Shape 22"/>
          <p:cNvSpPr/>
          <p:nvPr/>
        </p:nvSpPr>
        <p:spPr>
          <a:xfrm>
            <a:off x="6227064" y="3200400"/>
            <a:ext cx="2542032" cy="1627632"/>
          </a:xfrm>
          <a:prstGeom prst="roundRect">
            <a:avLst>
              <a:gd name="adj" fmla="val 5056"/>
            </a:avLst>
          </a:prstGeom>
          <a:solidFill>
            <a:srgbClr val="FFFFFF"/>
          </a:solidFill>
          <a:ln/>
          <a:effectLst>
            <a:outerShdw sx="100000" sy="100000" kx="0" ky="0" algn="bl" rotWithShape="0" blurRad="88900" dist="25400" dir="5400000">
              <a:srgbClr val="C4B6D2">
                <a:alpha val="20000"/>
              </a:srgbClr>
            </a:outerShdw>
          </a:effectLst>
        </p:spPr>
      </p:sp>
      <p:sp>
        <p:nvSpPr>
          <p:cNvPr id="25" name="Shape 23"/>
          <p:cNvSpPr/>
          <p:nvPr/>
        </p:nvSpPr>
        <p:spPr>
          <a:xfrm>
            <a:off x="7260336" y="3383280"/>
            <a:ext cx="475488" cy="475488"/>
          </a:xfrm>
          <a:prstGeom prst="ellipse">
            <a:avLst/>
          </a:prstGeom>
          <a:solidFill>
            <a:srgbClr val="FFFFFF"/>
          </a:solidFill>
          <a:ln w="22225">
            <a:solidFill>
              <a:srgbClr val="D9824F"/>
            </a:solidFill>
            <a:prstDash val="solid"/>
          </a:ln>
        </p:spPr>
      </p:sp>
      <p:sp>
        <p:nvSpPr>
          <p:cNvPr id="26" name="Text 24"/>
          <p:cNvSpPr txBox="1"/>
          <p:nvPr/>
        </p:nvSpPr>
        <p:spPr>
          <a:xfrm>
            <a:off x="7260336" y="3383280"/>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3</a:t>
            </a:r>
            <a:endParaRPr lang="en-US" sz="1600" dirty="0"/>
          </a:p>
        </p:txBody>
      </p:sp>
      <p:sp>
        <p:nvSpPr>
          <p:cNvPr id="27" name="Text 25"/>
          <p:cNvSpPr txBox="1"/>
          <p:nvPr/>
        </p:nvSpPr>
        <p:spPr>
          <a:xfrm>
            <a:off x="6336792" y="3950208"/>
            <a:ext cx="2322576" cy="365760"/>
          </a:xfrm>
          <a:prstGeom prst="rect">
            <a:avLst/>
          </a:prstGeom>
          <a:noFill/>
          <a:ln/>
        </p:spPr>
        <p:txBody>
          <a:bodyPr wrap="square" lIns="0" tIns="0" rIns="0" bIns="0" rtlCol="0" anchor="ctr"/>
          <a:lstStyle/>
          <a:p>
            <a:pPr algn="ctr" indent="0" marL="0">
              <a:buNone/>
            </a:pPr>
            <a:r>
              <a:rPr lang="en-US" sz="1300" b="1" dirty="0">
                <a:solidFill>
                  <a:srgbClr val="3D2352"/>
                </a:solidFill>
                <a:latin typeface="Calibri" pitchFamily="34" charset="0"/>
                <a:ea typeface="Calibri" pitchFamily="34" charset="-122"/>
                <a:cs typeface="Calibri" pitchFamily="34" charset="-120"/>
              </a:rPr>
              <a:t>RAG retriever</a:t>
            </a:r>
            <a:endParaRPr lang="en-US" sz="1300" dirty="0"/>
          </a:p>
        </p:txBody>
      </p:sp>
      <p:sp>
        <p:nvSpPr>
          <p:cNvPr id="28" name="Text 26"/>
          <p:cNvSpPr txBox="1"/>
          <p:nvPr/>
        </p:nvSpPr>
        <p:spPr>
          <a:xfrm>
            <a:off x="6355080" y="4297680"/>
            <a:ext cx="2286000" cy="457200"/>
          </a:xfrm>
          <a:prstGeom prst="rect">
            <a:avLst/>
          </a:prstGeom>
          <a:noFill/>
          <a:ln/>
        </p:spPr>
        <p:txBody>
          <a:bodyPr wrap="square" lIns="0" tIns="0" rIns="0" bIns="0" rtlCol="0" anchor="ctr"/>
          <a:lstStyle/>
          <a:p>
            <a:pPr algn="ctr" indent="0" marL="0">
              <a:lnSpc>
                <a:spcPct val="102000"/>
              </a:lnSpc>
              <a:buNone/>
            </a:pPr>
            <a:r>
              <a:rPr lang="en-US" sz="1050" dirty="0">
                <a:solidFill>
                  <a:srgbClr val="6E6680"/>
                </a:solidFill>
                <a:latin typeface="Calibri" pitchFamily="34" charset="0"/>
                <a:ea typeface="Calibri" pitchFamily="34" charset="-122"/>
                <a:cs typeface="Calibri" pitchFamily="34" charset="-120"/>
              </a:rPr>
              <a:t>ChromaDB → top-k chunks</a:t>
            </a:r>
            <a:endParaRPr lang="en-US" sz="1050" dirty="0"/>
          </a:p>
        </p:txBody>
      </p:sp>
      <p:sp>
        <p:nvSpPr>
          <p:cNvPr id="29" name="Shape 27"/>
          <p:cNvSpPr/>
          <p:nvPr/>
        </p:nvSpPr>
        <p:spPr>
          <a:xfrm>
            <a:off x="8906256" y="3200400"/>
            <a:ext cx="2542032" cy="1627632"/>
          </a:xfrm>
          <a:prstGeom prst="roundRect">
            <a:avLst>
              <a:gd name="adj" fmla="val 5056"/>
            </a:avLst>
          </a:prstGeom>
          <a:solidFill>
            <a:srgbClr val="FFFFFF"/>
          </a:solidFill>
          <a:ln/>
          <a:effectLst>
            <a:outerShdw sx="100000" sy="100000" kx="0" ky="0" algn="bl" rotWithShape="0" blurRad="88900" dist="25400" dir="5400000">
              <a:srgbClr val="C4B6D2">
                <a:alpha val="20000"/>
              </a:srgbClr>
            </a:outerShdw>
          </a:effectLst>
        </p:spPr>
      </p:sp>
      <p:sp>
        <p:nvSpPr>
          <p:cNvPr id="30" name="Shape 28"/>
          <p:cNvSpPr/>
          <p:nvPr/>
        </p:nvSpPr>
        <p:spPr>
          <a:xfrm>
            <a:off x="9939528" y="3383280"/>
            <a:ext cx="475488" cy="475488"/>
          </a:xfrm>
          <a:prstGeom prst="ellipse">
            <a:avLst/>
          </a:prstGeom>
          <a:solidFill>
            <a:srgbClr val="FFFFFF"/>
          </a:solidFill>
          <a:ln w="22225">
            <a:solidFill>
              <a:srgbClr val="D9824F"/>
            </a:solidFill>
            <a:prstDash val="solid"/>
          </a:ln>
        </p:spPr>
      </p:sp>
      <p:sp>
        <p:nvSpPr>
          <p:cNvPr id="31" name="Text 29"/>
          <p:cNvSpPr txBox="1"/>
          <p:nvPr/>
        </p:nvSpPr>
        <p:spPr>
          <a:xfrm>
            <a:off x="9939528" y="3383280"/>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4</a:t>
            </a:r>
            <a:endParaRPr lang="en-US" sz="1600" dirty="0"/>
          </a:p>
        </p:txBody>
      </p:sp>
      <p:sp>
        <p:nvSpPr>
          <p:cNvPr id="32" name="Text 30"/>
          <p:cNvSpPr txBox="1"/>
          <p:nvPr/>
        </p:nvSpPr>
        <p:spPr>
          <a:xfrm>
            <a:off x="9015984" y="3950208"/>
            <a:ext cx="2322576" cy="365760"/>
          </a:xfrm>
          <a:prstGeom prst="rect">
            <a:avLst/>
          </a:prstGeom>
          <a:noFill/>
          <a:ln/>
        </p:spPr>
        <p:txBody>
          <a:bodyPr wrap="square" lIns="0" tIns="0" rIns="0" bIns="0" rtlCol="0" anchor="ctr"/>
          <a:lstStyle/>
          <a:p>
            <a:pPr algn="ctr" indent="0" marL="0">
              <a:buNone/>
            </a:pPr>
            <a:r>
              <a:rPr lang="en-US" sz="1300" b="1" dirty="0">
                <a:solidFill>
                  <a:srgbClr val="3D2352"/>
                </a:solidFill>
                <a:latin typeface="Calibri" pitchFamily="34" charset="0"/>
                <a:ea typeface="Calibri" pitchFamily="34" charset="-122"/>
                <a:cs typeface="Calibri" pitchFamily="34" charset="-120"/>
              </a:rPr>
              <a:t>Fine-tuned LLM</a:t>
            </a:r>
            <a:endParaRPr lang="en-US" sz="1300" dirty="0"/>
          </a:p>
        </p:txBody>
      </p:sp>
      <p:sp>
        <p:nvSpPr>
          <p:cNvPr id="33" name="Text 31"/>
          <p:cNvSpPr txBox="1"/>
          <p:nvPr/>
        </p:nvSpPr>
        <p:spPr>
          <a:xfrm>
            <a:off x="9034272" y="4297680"/>
            <a:ext cx="2286000" cy="457200"/>
          </a:xfrm>
          <a:prstGeom prst="rect">
            <a:avLst/>
          </a:prstGeom>
          <a:noFill/>
          <a:ln/>
        </p:spPr>
        <p:txBody>
          <a:bodyPr wrap="square" lIns="0" tIns="0" rIns="0" bIns="0" rtlCol="0" anchor="ctr"/>
          <a:lstStyle/>
          <a:p>
            <a:pPr algn="ctr" indent="0" marL="0">
              <a:lnSpc>
                <a:spcPct val="102000"/>
              </a:lnSpc>
              <a:buNone/>
            </a:pPr>
            <a:r>
              <a:rPr lang="en-US" sz="1050" dirty="0">
                <a:solidFill>
                  <a:srgbClr val="6E6680"/>
                </a:solidFill>
                <a:latin typeface="Calibri" pitchFamily="34" charset="0"/>
                <a:ea typeface="Calibri" pitchFamily="34" charset="-122"/>
                <a:cs typeface="Calibri" pitchFamily="34" charset="-120"/>
              </a:rPr>
              <a:t>QLoRA-adapted → text response</a:t>
            </a:r>
            <a:endParaRPr lang="en-US" sz="1050" dirty="0"/>
          </a:p>
        </p:txBody>
      </p:sp>
      <p:sp>
        <p:nvSpPr>
          <p:cNvPr id="34" name="Shape 32"/>
          <p:cNvSpPr/>
          <p:nvPr/>
        </p:nvSpPr>
        <p:spPr>
          <a:xfrm>
            <a:off x="640080" y="5166360"/>
            <a:ext cx="6629400" cy="868680"/>
          </a:xfrm>
          <a:prstGeom prst="roundRect">
            <a:avLst>
              <a:gd name="adj" fmla="val 11579"/>
            </a:avLst>
          </a:prstGeom>
          <a:solidFill>
            <a:srgbClr val="FFFFFF"/>
          </a:solidFill>
          <a:ln/>
          <a:effectLst>
            <a:outerShdw sx="100000" sy="100000" kx="0" ky="0" algn="bl" rotWithShape="0" blurRad="165100" dist="38100" dir="5400000">
              <a:srgbClr val="B7A6C9">
                <a:alpha val="26000"/>
              </a:srgbClr>
            </a:outerShdw>
          </a:effectLst>
        </p:spPr>
      </p:sp>
      <p:sp>
        <p:nvSpPr>
          <p:cNvPr id="35" name="Text 33"/>
          <p:cNvSpPr txBox="1"/>
          <p:nvPr/>
        </p:nvSpPr>
        <p:spPr>
          <a:xfrm>
            <a:off x="914400" y="5166360"/>
            <a:ext cx="6309360" cy="868680"/>
          </a:xfrm>
          <a:prstGeom prst="rect">
            <a:avLst/>
          </a:prstGeom>
          <a:noFill/>
          <a:ln/>
        </p:spPr>
        <p:txBody>
          <a:bodyPr wrap="square" lIns="0" tIns="0" rIns="0" bIns="0" rtlCol="0" anchor="ctr"/>
          <a:lstStyle/>
          <a:p>
            <a:pPr indent="0" marL="0">
              <a:buNone/>
            </a:pPr>
            <a:r>
              <a:rPr lang="en-US" sz="1500" b="1" dirty="0">
                <a:solidFill>
                  <a:srgbClr val="D9824F"/>
                </a:solidFill>
                <a:latin typeface="Calibri" pitchFamily="34" charset="0"/>
                <a:ea typeface="Calibri" pitchFamily="34" charset="-122"/>
                <a:cs typeface="Calibri" pitchFamily="34" charset="-120"/>
              </a:rPr>
              <a:t>↩  </a:t>
            </a:r>
            <a:pPr indent="0" marL="0">
              <a:buNone/>
            </a:pPr>
            <a:r>
              <a:rPr lang="en-US" sz="1350" b="1" dirty="0">
                <a:solidFill>
                  <a:srgbClr val="3D2352"/>
                </a:solidFill>
                <a:latin typeface="Calibri" pitchFamily="34" charset="0"/>
                <a:ea typeface="Calibri" pitchFamily="34" charset="-122"/>
                <a:cs typeface="Calibri" pitchFamily="34" charset="-120"/>
              </a:rPr>
              <a:t>React frontend displays the response </a:t>
            </a:r>
            <a:pPr indent="0" marL="0">
              <a:buNone/>
            </a:pPr>
            <a:r>
              <a:rPr lang="en-US" sz="1200" dirty="0">
                <a:solidFill>
                  <a:srgbClr val="6E6680"/>
                </a:solidFill>
                <a:latin typeface="Calibri" pitchFamily="34" charset="0"/>
                <a:ea typeface="Calibri" pitchFamily="34" charset="-122"/>
                <a:cs typeface="Calibri" pitchFamily="34" charset="-120"/>
              </a:rPr>
              <a:t>(text)</a:t>
            </a:r>
            <a:endParaRPr lang="en-US" sz="1500" dirty="0"/>
          </a:p>
        </p:txBody>
      </p:sp>
      <p:sp>
        <p:nvSpPr>
          <p:cNvPr id="36" name="Shape 34"/>
          <p:cNvSpPr/>
          <p:nvPr/>
        </p:nvSpPr>
        <p:spPr>
          <a:xfrm>
            <a:off x="7406640" y="5166360"/>
            <a:ext cx="4142232" cy="868680"/>
          </a:xfrm>
          <a:prstGeom prst="roundRect">
            <a:avLst>
              <a:gd name="adj" fmla="val 11579"/>
            </a:avLst>
          </a:prstGeom>
          <a:solidFill>
            <a:srgbClr val="FBF6FB"/>
          </a:solidFill>
          <a:ln/>
          <a:effectLst>
            <a:outerShdw sx="100000" sy="100000" kx="0" ky="0" algn="bl" rotWithShape="0" blurRad="165100" dist="38100" dir="5400000">
              <a:srgbClr val="B7A6C9">
                <a:alpha val="26000"/>
              </a:srgbClr>
            </a:outerShdw>
          </a:effectLst>
        </p:spPr>
      </p:sp>
      <p:sp>
        <p:nvSpPr>
          <p:cNvPr id="37" name="Text 35"/>
          <p:cNvSpPr txBox="1"/>
          <p:nvPr/>
        </p:nvSpPr>
        <p:spPr>
          <a:xfrm>
            <a:off x="7635240" y="5166360"/>
            <a:ext cx="3749040" cy="868680"/>
          </a:xfrm>
          <a:prstGeom prst="rect">
            <a:avLst/>
          </a:prstGeom>
          <a:noFill/>
          <a:ln/>
        </p:spPr>
        <p:txBody>
          <a:bodyPr wrap="square" lIns="0" tIns="0" rIns="0" bIns="0" rtlCol="0" anchor="ctr"/>
          <a:lstStyle/>
          <a:p>
            <a:pPr indent="0" marL="0">
              <a:spcBef>
                <a:spcPts val="200"/>
              </a:spcBef>
              <a:buNone/>
            </a:pPr>
            <a:r>
              <a:rPr lang="en-US" sz="1300" b="1" dirty="0">
                <a:solidFill>
                  <a:srgbClr val="3D2352"/>
                </a:solidFill>
                <a:latin typeface="Calibri" pitchFamily="34" charset="0"/>
                <a:ea typeface="Calibri" pitchFamily="34" charset="-122"/>
                <a:cs typeface="Calibri" pitchFamily="34" charset="-120"/>
              </a:rPr>
              <a:t>Conversation history</a:t>
            </a:r>
            <a:endParaRPr lang="en-US" sz="1300" dirty="0"/>
          </a:p>
          <a:p>
            <a:pPr indent="0" marL="0">
              <a:spcBef>
                <a:spcPts val="200"/>
              </a:spcBef>
              <a:buNone/>
            </a:pPr>
            <a:r>
              <a:rPr lang="en-US" sz="1100" dirty="0">
                <a:solidFill>
                  <a:srgbClr val="6E6680"/>
                </a:solidFill>
                <a:latin typeface="Calibri" pitchFamily="34" charset="0"/>
                <a:ea typeface="Calibri" pitchFamily="34" charset="-122"/>
                <a:cs typeface="Calibri" pitchFamily="34" charset="-120"/>
              </a:rPr>
              <a:t>stored per session · Postgres / SQLite</a:t>
            </a:r>
            <a:endParaRPr lang="en-US" sz="1300" dirty="0"/>
          </a:p>
        </p:txBody>
      </p:sp>
      <p:sp>
        <p:nvSpPr>
          <p:cNvPr id="38" name="Text 36"/>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Voice/text → React → FastAPI (STT · prompt · RAG · fine-tuned LLM) → response → history.</a:t>
            </a:r>
            <a:endParaRPr lang="en-US" sz="1150" dirty="0"/>
          </a:p>
        </p:txBody>
      </p:sp>
      <p:sp>
        <p:nvSpPr>
          <p:cNvPr id="39" name="Text 37"/>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3 / 18</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1 · RAG — KNOWLEDGE BASE</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Grounding answers in real sources</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An Arabic-language RAG pipeline over UNICEF, WHO &amp; academic parenting research.</a:t>
            </a:r>
            <a:endParaRPr lang="en-US" sz="1400" dirty="0"/>
          </a:p>
        </p:txBody>
      </p:sp>
      <p:sp>
        <p:nvSpPr>
          <p:cNvPr id="5" name="Shape 3"/>
          <p:cNvSpPr/>
          <p:nvPr/>
        </p:nvSpPr>
        <p:spPr>
          <a:xfrm>
            <a:off x="640080" y="1874520"/>
            <a:ext cx="3520440"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2002536"/>
            <a:ext cx="3520440" cy="52578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944</a:t>
            </a:r>
            <a:endParaRPr lang="en-US" sz="3000" dirty="0"/>
          </a:p>
        </p:txBody>
      </p:sp>
      <p:sp>
        <p:nvSpPr>
          <p:cNvPr id="7" name="Text 5"/>
          <p:cNvSpPr txBox="1"/>
          <p:nvPr/>
        </p:nvSpPr>
        <p:spPr>
          <a:xfrm>
            <a:off x="749808" y="2463394"/>
            <a:ext cx="3300984" cy="441655"/>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CHUNKS</a:t>
            </a:r>
            <a:endParaRPr lang="en-US" sz="950" dirty="0"/>
          </a:p>
        </p:txBody>
      </p:sp>
      <p:sp>
        <p:nvSpPr>
          <p:cNvPr id="8" name="Shape 6"/>
          <p:cNvSpPr/>
          <p:nvPr/>
        </p:nvSpPr>
        <p:spPr>
          <a:xfrm>
            <a:off x="4334256" y="1874520"/>
            <a:ext cx="3520440"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4334256" y="2002536"/>
            <a:ext cx="3520440" cy="52578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34</a:t>
            </a:r>
            <a:endParaRPr lang="en-US" sz="3000" dirty="0"/>
          </a:p>
        </p:txBody>
      </p:sp>
      <p:sp>
        <p:nvSpPr>
          <p:cNvPr id="10" name="Text 8"/>
          <p:cNvSpPr txBox="1"/>
          <p:nvPr/>
        </p:nvSpPr>
        <p:spPr>
          <a:xfrm>
            <a:off x="4443984" y="2463394"/>
            <a:ext cx="3300984" cy="441655"/>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SOURCE DOCS</a:t>
            </a:r>
            <a:endParaRPr lang="en-US" sz="950" dirty="0"/>
          </a:p>
        </p:txBody>
      </p:sp>
      <p:sp>
        <p:nvSpPr>
          <p:cNvPr id="11" name="Shape 9"/>
          <p:cNvSpPr/>
          <p:nvPr/>
        </p:nvSpPr>
        <p:spPr>
          <a:xfrm>
            <a:off x="8028432" y="1874520"/>
            <a:ext cx="3520440"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8028432" y="2002536"/>
            <a:ext cx="3520440" cy="52578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338</a:t>
            </a:r>
            <a:endParaRPr lang="en-US" sz="3000" dirty="0"/>
          </a:p>
        </p:txBody>
      </p:sp>
      <p:sp>
        <p:nvSpPr>
          <p:cNvPr id="13" name="Text 11"/>
          <p:cNvSpPr txBox="1"/>
          <p:nvPr/>
        </p:nvSpPr>
        <p:spPr>
          <a:xfrm>
            <a:off x="8138160" y="2463394"/>
            <a:ext cx="3300984" cy="441655"/>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AVG WORDS / CHUNK</a:t>
            </a:r>
            <a:endParaRPr lang="en-US" sz="950" dirty="0"/>
          </a:p>
        </p:txBody>
      </p:sp>
      <p:sp>
        <p:nvSpPr>
          <p:cNvPr id="14" name="Shape 12"/>
          <p:cNvSpPr/>
          <p:nvPr/>
        </p:nvSpPr>
        <p:spPr>
          <a:xfrm>
            <a:off x="640080" y="3154680"/>
            <a:ext cx="3520440" cy="658368"/>
          </a:xfrm>
          <a:prstGeom prst="roundRect">
            <a:avLst>
              <a:gd name="adj" fmla="val 12500"/>
            </a:avLst>
          </a:prstGeom>
          <a:solidFill>
            <a:srgbClr val="FBF6FB"/>
          </a:solidFill>
          <a:ln/>
          <a:effectLst>
            <a:outerShdw sx="100000" sy="100000" kx="0" ky="0" algn="bl" rotWithShape="0" blurRad="88900" dist="25400" dir="5400000">
              <a:srgbClr val="C4B6D2">
                <a:alpha val="20000"/>
              </a:srgbClr>
            </a:outerShdw>
          </a:effectLst>
        </p:spPr>
      </p:sp>
      <p:sp>
        <p:nvSpPr>
          <p:cNvPr id="15" name="Text 13"/>
          <p:cNvSpPr txBox="1"/>
          <p:nvPr/>
        </p:nvSpPr>
        <p:spPr>
          <a:xfrm>
            <a:off x="777240" y="3154680"/>
            <a:ext cx="3246120" cy="658368"/>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11  </a:t>
            </a:r>
            <a:pPr algn="ctr" indent="0" marL="0">
              <a:buNone/>
            </a:pPr>
            <a:r>
              <a:rPr lang="en-US" sz="1000" b="1" spc="100" kern="0" dirty="0">
                <a:solidFill>
                  <a:srgbClr val="5C4477"/>
                </a:solidFill>
                <a:latin typeface="Calibri" pitchFamily="34" charset="0"/>
                <a:ea typeface="Calibri" pitchFamily="34" charset="-122"/>
                <a:cs typeface="Calibri" pitchFamily="34" charset="-120"/>
              </a:rPr>
              <a:t>PDFS</a:t>
            </a:r>
            <a:endParaRPr lang="en-US" sz="1800" dirty="0"/>
          </a:p>
        </p:txBody>
      </p:sp>
      <p:sp>
        <p:nvSpPr>
          <p:cNvPr id="16" name="Shape 14"/>
          <p:cNvSpPr/>
          <p:nvPr/>
        </p:nvSpPr>
        <p:spPr>
          <a:xfrm>
            <a:off x="4334256" y="3154680"/>
            <a:ext cx="3520440" cy="658368"/>
          </a:xfrm>
          <a:prstGeom prst="roundRect">
            <a:avLst>
              <a:gd name="adj" fmla="val 12500"/>
            </a:avLst>
          </a:prstGeom>
          <a:solidFill>
            <a:srgbClr val="FBF6FB"/>
          </a:solidFill>
          <a:ln/>
          <a:effectLst>
            <a:outerShdw sx="100000" sy="100000" kx="0" ky="0" algn="bl" rotWithShape="0" blurRad="88900" dist="25400" dir="5400000">
              <a:srgbClr val="C4B6D2">
                <a:alpha val="20000"/>
              </a:srgbClr>
            </a:outerShdw>
          </a:effectLst>
        </p:spPr>
      </p:sp>
      <p:sp>
        <p:nvSpPr>
          <p:cNvPr id="17" name="Text 15"/>
          <p:cNvSpPr txBox="1"/>
          <p:nvPr/>
        </p:nvSpPr>
        <p:spPr>
          <a:xfrm>
            <a:off x="4471416" y="3154680"/>
            <a:ext cx="3246120" cy="658368"/>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13  </a:t>
            </a:r>
            <a:pPr algn="ctr" indent="0" marL="0">
              <a:buNone/>
            </a:pPr>
            <a:r>
              <a:rPr lang="en-US" sz="1000" b="1" spc="100" kern="0" dirty="0">
                <a:solidFill>
                  <a:srgbClr val="5C4477"/>
                </a:solidFill>
                <a:latin typeface="Calibri" pitchFamily="34" charset="0"/>
                <a:ea typeface="Calibri" pitchFamily="34" charset="-122"/>
                <a:cs typeface="Calibri" pitchFamily="34" charset="-120"/>
              </a:rPr>
              <a:t>WEB SOURCES</a:t>
            </a:r>
            <a:endParaRPr lang="en-US" sz="1800" dirty="0"/>
          </a:p>
        </p:txBody>
      </p:sp>
      <p:sp>
        <p:nvSpPr>
          <p:cNvPr id="18" name="Shape 16"/>
          <p:cNvSpPr/>
          <p:nvPr/>
        </p:nvSpPr>
        <p:spPr>
          <a:xfrm>
            <a:off x="8028432" y="3154680"/>
            <a:ext cx="3520440" cy="658368"/>
          </a:xfrm>
          <a:prstGeom prst="roundRect">
            <a:avLst>
              <a:gd name="adj" fmla="val 12500"/>
            </a:avLst>
          </a:prstGeom>
          <a:solidFill>
            <a:srgbClr val="FBF6FB"/>
          </a:solidFill>
          <a:ln/>
          <a:effectLst>
            <a:outerShdw sx="100000" sy="100000" kx="0" ky="0" algn="bl" rotWithShape="0" blurRad="88900" dist="25400" dir="5400000">
              <a:srgbClr val="C4B6D2">
                <a:alpha val="20000"/>
              </a:srgbClr>
            </a:outerShdw>
          </a:effectLst>
        </p:spPr>
      </p:sp>
      <p:sp>
        <p:nvSpPr>
          <p:cNvPr id="19" name="Text 17"/>
          <p:cNvSpPr txBox="1"/>
          <p:nvPr/>
        </p:nvSpPr>
        <p:spPr>
          <a:xfrm>
            <a:off x="8165592" y="3154680"/>
            <a:ext cx="3246120" cy="658368"/>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10  </a:t>
            </a:r>
            <a:pPr algn="ctr" indent="0" marL="0">
              <a:buNone/>
            </a:pPr>
            <a:r>
              <a:rPr lang="en-US" sz="1000" b="1" spc="100" kern="0" dirty="0">
                <a:solidFill>
                  <a:srgbClr val="5C4477"/>
                </a:solidFill>
                <a:latin typeface="Calibri" pitchFamily="34" charset="0"/>
                <a:ea typeface="Calibri" pitchFamily="34" charset="-122"/>
                <a:cs typeface="Calibri" pitchFamily="34" charset="-120"/>
              </a:rPr>
              <a:t>RESEARCH PAPERS</a:t>
            </a:r>
            <a:endParaRPr lang="en-US" sz="1800" dirty="0"/>
          </a:p>
        </p:txBody>
      </p:sp>
      <p:sp>
        <p:nvSpPr>
          <p:cNvPr id="20" name="Shape 18"/>
          <p:cNvSpPr/>
          <p:nvPr/>
        </p:nvSpPr>
        <p:spPr>
          <a:xfrm>
            <a:off x="640080" y="411480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1" name="Text 19"/>
          <p:cNvSpPr txBox="1"/>
          <p:nvPr/>
        </p:nvSpPr>
        <p:spPr>
          <a:xfrm>
            <a:off x="713232" y="411480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Ingestion</a:t>
            </a:r>
            <a:endParaRPr lang="en-US" sz="1150" dirty="0"/>
          </a:p>
        </p:txBody>
      </p:sp>
      <p:sp>
        <p:nvSpPr>
          <p:cNvPr id="22" name="Text 20"/>
          <p:cNvSpPr txBox="1"/>
          <p:nvPr/>
        </p:nvSpPr>
        <p:spPr>
          <a:xfrm>
            <a:off x="3024378" y="434340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3481578" y="411480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4" name="Text 22"/>
          <p:cNvSpPr txBox="1"/>
          <p:nvPr/>
        </p:nvSpPr>
        <p:spPr>
          <a:xfrm>
            <a:off x="3554730" y="411480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Preprocessing</a:t>
            </a:r>
            <a:endParaRPr lang="en-US" sz="1150" dirty="0"/>
          </a:p>
        </p:txBody>
      </p:sp>
      <p:sp>
        <p:nvSpPr>
          <p:cNvPr id="25" name="Text 23"/>
          <p:cNvSpPr txBox="1"/>
          <p:nvPr/>
        </p:nvSpPr>
        <p:spPr>
          <a:xfrm>
            <a:off x="5865876" y="434340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6323076" y="411480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7" name="Text 25"/>
          <p:cNvSpPr txBox="1"/>
          <p:nvPr/>
        </p:nvSpPr>
        <p:spPr>
          <a:xfrm>
            <a:off x="6396228" y="411480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Chunking</a:t>
            </a:r>
            <a:endParaRPr lang="en-US" sz="1150" dirty="0"/>
          </a:p>
        </p:txBody>
      </p:sp>
      <p:sp>
        <p:nvSpPr>
          <p:cNvPr id="28" name="Text 26"/>
          <p:cNvSpPr txBox="1"/>
          <p:nvPr/>
        </p:nvSpPr>
        <p:spPr>
          <a:xfrm>
            <a:off x="8707374" y="434340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9164574" y="411480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30" name="Text 28"/>
          <p:cNvSpPr txBox="1"/>
          <p:nvPr/>
        </p:nvSpPr>
        <p:spPr>
          <a:xfrm>
            <a:off x="9237726" y="411480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Embedding</a:t>
            </a:r>
            <a:endParaRPr lang="en-US" sz="1150" dirty="0"/>
          </a:p>
        </p:txBody>
      </p:sp>
      <p:sp>
        <p:nvSpPr>
          <p:cNvPr id="31" name="Shape 29"/>
          <p:cNvSpPr/>
          <p:nvPr/>
        </p:nvSpPr>
        <p:spPr>
          <a:xfrm>
            <a:off x="640080" y="5257800"/>
            <a:ext cx="10908792" cy="777240"/>
          </a:xfrm>
          <a:prstGeom prst="roundRect">
            <a:avLst>
              <a:gd name="adj" fmla="val 12941"/>
            </a:avLst>
          </a:prstGeom>
          <a:solidFill>
            <a:srgbClr val="F7EEE9"/>
          </a:solidFill>
          <a:ln/>
          <a:effectLst>
            <a:outerShdw sx="100000" sy="100000" kx="0" ky="0" algn="bl" rotWithShape="0" blurRad="165100" dist="38100" dir="5400000">
              <a:srgbClr val="B7A6C9">
                <a:alpha val="26000"/>
              </a:srgbClr>
            </a:outerShdw>
          </a:effectLst>
        </p:spPr>
      </p:sp>
      <p:sp>
        <p:nvSpPr>
          <p:cNvPr id="32" name="Text 30"/>
          <p:cNvSpPr txBox="1"/>
          <p:nvPr/>
        </p:nvSpPr>
        <p:spPr>
          <a:xfrm>
            <a:off x="914400" y="5257800"/>
            <a:ext cx="10332720" cy="777240"/>
          </a:xfrm>
          <a:prstGeom prst="rect">
            <a:avLst/>
          </a:prstGeom>
          <a:noFill/>
          <a:ln/>
        </p:spPr>
        <p:txBody>
          <a:bodyPr wrap="square" lIns="0" tIns="0" rIns="0" bIns="0" rtlCol="0" anchor="ctr"/>
          <a:lstStyle/>
          <a:p>
            <a:pPr indent="0" marL="0">
              <a:lnSpc>
                <a:spcPct val="105000"/>
              </a:lnSpc>
              <a:buNone/>
            </a:pPr>
            <a:r>
              <a:rPr lang="en-US" sz="1250" b="1" dirty="0">
                <a:solidFill>
                  <a:srgbClr val="C06A3C"/>
                </a:solidFill>
                <a:latin typeface="Calibri" pitchFamily="34" charset="0"/>
                <a:ea typeface="Calibri" pitchFamily="34" charset="-122"/>
                <a:cs typeface="Calibri" pitchFamily="34" charset="-120"/>
              </a:rPr>
              <a:t>How it was built.  </a:t>
            </a:r>
            <a:pPr indent="0" marL="0">
              <a:lnSpc>
                <a:spcPct val="105000"/>
              </a:lnSpc>
              <a:buNone/>
            </a:pPr>
            <a:r>
              <a:rPr lang="en-US" sz="1200" dirty="0">
                <a:solidFill>
                  <a:srgbClr val="6E6680"/>
                </a:solidFill>
                <a:latin typeface="Calibri" pitchFamily="34" charset="0"/>
                <a:ea typeface="Calibri" pitchFamily="34" charset="-122"/>
                <a:cs typeface="Calibri" pitchFamily="34" charset="-120"/>
              </a:rPr>
              <a:t>Structure-aware chunking · Arabic Unicode normalization (NFKC) · sentence-level fallback splitting for oversized paragraphs.</a:t>
            </a:r>
            <a:endParaRPr lang="en-US" sz="1250" dirty="0"/>
          </a:p>
        </p:txBody>
      </p:sp>
      <p:sp>
        <p:nvSpPr>
          <p:cNvPr id="33" name="Text 31"/>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We retrieve real evidence, not hallucinated advice.</a:t>
            </a:r>
            <a:endParaRPr lang="en-US" sz="1150" dirty="0"/>
          </a:p>
        </p:txBody>
      </p:sp>
      <p:sp>
        <p:nvSpPr>
          <p:cNvPr id="34" name="Text 32"/>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4 / 18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1 · RAG — RETRIEVAL ENGINE</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Hybrid search beats either alone</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Dense embeddings catch meaning; lexical search catches exact terminology.</a:t>
            </a:r>
            <a:endParaRPr lang="en-US" sz="1400" dirty="0"/>
          </a:p>
        </p:txBody>
      </p:sp>
      <p:sp>
        <p:nvSpPr>
          <p:cNvPr id="5" name="Shape 3"/>
          <p:cNvSpPr/>
          <p:nvPr/>
        </p:nvSpPr>
        <p:spPr>
          <a:xfrm>
            <a:off x="640080" y="1874520"/>
            <a:ext cx="2596896"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2002536"/>
            <a:ext cx="2596896"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1024</a:t>
            </a:r>
            <a:endParaRPr lang="en-US" sz="3000" dirty="0"/>
          </a:p>
        </p:txBody>
      </p:sp>
      <p:sp>
        <p:nvSpPr>
          <p:cNvPr id="7" name="Text 5"/>
          <p:cNvSpPr txBox="1"/>
          <p:nvPr/>
        </p:nvSpPr>
        <p:spPr>
          <a:xfrm>
            <a:off x="749808" y="2437790"/>
            <a:ext cx="2377440"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EMBEDDING DIMS · BGE-M3</a:t>
            </a:r>
            <a:endParaRPr lang="en-US" sz="950" dirty="0"/>
          </a:p>
        </p:txBody>
      </p:sp>
      <p:sp>
        <p:nvSpPr>
          <p:cNvPr id="8" name="Shape 6"/>
          <p:cNvSpPr/>
          <p:nvPr/>
        </p:nvSpPr>
        <p:spPr>
          <a:xfrm>
            <a:off x="3410712" y="1874520"/>
            <a:ext cx="2596896"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3410712" y="2002536"/>
            <a:ext cx="2596896"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2</a:t>
            </a:r>
            <a:endParaRPr lang="en-US" sz="3000" dirty="0"/>
          </a:p>
        </p:txBody>
      </p:sp>
      <p:sp>
        <p:nvSpPr>
          <p:cNvPr id="10" name="Text 8"/>
          <p:cNvSpPr txBox="1"/>
          <p:nvPr/>
        </p:nvSpPr>
        <p:spPr>
          <a:xfrm>
            <a:off x="3520440" y="2437790"/>
            <a:ext cx="2377440"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RETRIEVERS FUSED</a:t>
            </a:r>
            <a:endParaRPr lang="en-US" sz="950" dirty="0"/>
          </a:p>
        </p:txBody>
      </p:sp>
      <p:sp>
        <p:nvSpPr>
          <p:cNvPr id="11" name="Shape 9"/>
          <p:cNvSpPr/>
          <p:nvPr/>
        </p:nvSpPr>
        <p:spPr>
          <a:xfrm>
            <a:off x="6181344" y="1874520"/>
            <a:ext cx="2596896"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6181344" y="2002536"/>
            <a:ext cx="2596896"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8</a:t>
            </a:r>
            <a:endParaRPr lang="en-US" sz="3000" dirty="0"/>
          </a:p>
        </p:txBody>
      </p:sp>
      <p:sp>
        <p:nvSpPr>
          <p:cNvPr id="13" name="Text 11"/>
          <p:cNvSpPr txBox="1"/>
          <p:nvPr/>
        </p:nvSpPr>
        <p:spPr>
          <a:xfrm>
            <a:off x="6291072" y="2437790"/>
            <a:ext cx="2377440"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FINAL CHUNKS TO LLM</a:t>
            </a:r>
            <a:endParaRPr lang="en-US" sz="950" dirty="0"/>
          </a:p>
        </p:txBody>
      </p:sp>
      <p:sp>
        <p:nvSpPr>
          <p:cNvPr id="14" name="Shape 12"/>
          <p:cNvSpPr/>
          <p:nvPr/>
        </p:nvSpPr>
        <p:spPr>
          <a:xfrm>
            <a:off x="8951976" y="1874520"/>
            <a:ext cx="2596896"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15" name="Text 13"/>
          <p:cNvSpPr txBox="1"/>
          <p:nvPr/>
        </p:nvSpPr>
        <p:spPr>
          <a:xfrm>
            <a:off x="8951976" y="2002536"/>
            <a:ext cx="2596896"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0.1</a:t>
            </a:r>
            <a:endParaRPr lang="en-US" sz="3000" dirty="0"/>
          </a:p>
        </p:txBody>
      </p:sp>
      <p:sp>
        <p:nvSpPr>
          <p:cNvPr id="16" name="Text 14"/>
          <p:cNvSpPr txBox="1"/>
          <p:nvPr/>
        </p:nvSpPr>
        <p:spPr>
          <a:xfrm>
            <a:off x="9061704" y="2437790"/>
            <a:ext cx="2377440"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MIN RERANK CONFIDENCE</a:t>
            </a:r>
            <a:endParaRPr lang="en-US" sz="950" dirty="0"/>
          </a:p>
        </p:txBody>
      </p:sp>
      <p:sp>
        <p:nvSpPr>
          <p:cNvPr id="17" name="Shape 15"/>
          <p:cNvSpPr/>
          <p:nvPr/>
        </p:nvSpPr>
        <p:spPr>
          <a:xfrm>
            <a:off x="640080" y="306324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18" name="Text 16"/>
          <p:cNvSpPr txBox="1"/>
          <p:nvPr/>
        </p:nvSpPr>
        <p:spPr>
          <a:xfrm>
            <a:off x="713232" y="306324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Dense + BM25</a:t>
            </a:r>
            <a:endParaRPr lang="en-US" sz="1150" dirty="0"/>
          </a:p>
        </p:txBody>
      </p:sp>
      <p:sp>
        <p:nvSpPr>
          <p:cNvPr id="19" name="Text 17"/>
          <p:cNvSpPr txBox="1"/>
          <p:nvPr/>
        </p:nvSpPr>
        <p:spPr>
          <a:xfrm>
            <a:off x="3024378" y="329184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3481578" y="306324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1" name="Text 19"/>
          <p:cNvSpPr txBox="1"/>
          <p:nvPr/>
        </p:nvSpPr>
        <p:spPr>
          <a:xfrm>
            <a:off x="3554730" y="306324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RRF Fusion</a:t>
            </a:r>
            <a:endParaRPr lang="en-US" sz="1150" dirty="0"/>
          </a:p>
        </p:txBody>
      </p:sp>
      <p:sp>
        <p:nvSpPr>
          <p:cNvPr id="22" name="Text 20"/>
          <p:cNvSpPr txBox="1"/>
          <p:nvPr/>
        </p:nvSpPr>
        <p:spPr>
          <a:xfrm>
            <a:off x="5865876" y="329184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323076" y="306324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4" name="Text 22"/>
          <p:cNvSpPr txBox="1"/>
          <p:nvPr/>
        </p:nvSpPr>
        <p:spPr>
          <a:xfrm>
            <a:off x="6396228" y="306324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Metadata Ranking</a:t>
            </a:r>
            <a:endParaRPr lang="en-US" sz="1150" dirty="0"/>
          </a:p>
        </p:txBody>
      </p:sp>
      <p:sp>
        <p:nvSpPr>
          <p:cNvPr id="25" name="Text 23"/>
          <p:cNvSpPr txBox="1"/>
          <p:nvPr/>
        </p:nvSpPr>
        <p:spPr>
          <a:xfrm>
            <a:off x="8707374" y="3291840"/>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9164574" y="3063240"/>
            <a:ext cx="2384298" cy="914400"/>
          </a:xfrm>
          <a:prstGeom prst="roundRect">
            <a:avLst>
              <a:gd name="adj" fmla="val 9000"/>
            </a:avLst>
          </a:prstGeom>
          <a:solidFill>
            <a:srgbClr val="FFFFFF"/>
          </a:solidFill>
          <a:ln/>
          <a:effectLst>
            <a:outerShdw sx="100000" sy="100000" kx="0" ky="0" algn="bl" rotWithShape="0" blurRad="88900" dist="25400" dir="5400000">
              <a:srgbClr val="C4B6D2">
                <a:alpha val="20000"/>
              </a:srgbClr>
            </a:outerShdw>
          </a:effectLst>
        </p:spPr>
      </p:sp>
      <p:sp>
        <p:nvSpPr>
          <p:cNvPr id="27" name="Text 25"/>
          <p:cNvSpPr txBox="1"/>
          <p:nvPr/>
        </p:nvSpPr>
        <p:spPr>
          <a:xfrm>
            <a:off x="9237726" y="3063240"/>
            <a:ext cx="2237994"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3D2352"/>
                </a:solidFill>
                <a:latin typeface="Calibri" pitchFamily="34" charset="0"/>
                <a:ea typeface="Calibri" pitchFamily="34" charset="-122"/>
                <a:cs typeface="Calibri" pitchFamily="34" charset="-120"/>
              </a:rPr>
              <a:t>Reranker · BGE-v2-m3</a:t>
            </a:r>
            <a:endParaRPr lang="en-US" sz="1150" dirty="0"/>
          </a:p>
        </p:txBody>
      </p:sp>
      <p:sp>
        <p:nvSpPr>
          <p:cNvPr id="28" name="Shape 26"/>
          <p:cNvSpPr/>
          <p:nvPr/>
        </p:nvSpPr>
        <p:spPr>
          <a:xfrm>
            <a:off x="640080" y="4206240"/>
            <a:ext cx="10908792" cy="1645920"/>
          </a:xfrm>
          <a:prstGeom prst="roundRect">
            <a:avLst>
              <a:gd name="adj" fmla="val 6111"/>
            </a:avLst>
          </a:prstGeom>
          <a:solidFill>
            <a:srgbClr val="FBF6FB"/>
          </a:solidFill>
          <a:ln/>
          <a:effectLst>
            <a:outerShdw sx="100000" sy="100000" kx="0" ky="0" algn="bl" rotWithShape="0" blurRad="165100" dist="38100" dir="5400000">
              <a:srgbClr val="B7A6C9">
                <a:alpha val="26000"/>
              </a:srgbClr>
            </a:outerShdw>
          </a:effectLst>
        </p:spPr>
      </p:sp>
      <p:sp>
        <p:nvSpPr>
          <p:cNvPr id="29" name="Text 27"/>
          <p:cNvSpPr txBox="1"/>
          <p:nvPr/>
        </p:nvSpPr>
        <p:spPr>
          <a:xfrm>
            <a:off x="914400" y="4370832"/>
            <a:ext cx="5486400" cy="320040"/>
          </a:xfrm>
          <a:prstGeom prst="rect">
            <a:avLst/>
          </a:prstGeom>
          <a:noFill/>
          <a:ln/>
        </p:spPr>
        <p:txBody>
          <a:bodyPr wrap="square" lIns="0" tIns="0" rIns="0" bIns="0" rtlCol="0" anchor="ctr"/>
          <a:lstStyle/>
          <a:p>
            <a:pPr indent="0" marL="0">
              <a:buNone/>
            </a:pPr>
            <a:r>
              <a:rPr lang="en-US" sz="1400" b="1" dirty="0">
                <a:solidFill>
                  <a:srgbClr val="C06A3C"/>
                </a:solidFill>
                <a:latin typeface="Calibri" pitchFamily="34" charset="0"/>
                <a:ea typeface="Calibri" pitchFamily="34" charset="-122"/>
                <a:cs typeface="Calibri" pitchFamily="34" charset="-120"/>
              </a:rPr>
              <a:t>Why hybrid</a:t>
            </a:r>
            <a:endParaRPr lang="en-US" sz="1400" dirty="0"/>
          </a:p>
        </p:txBody>
      </p:sp>
      <p:sp>
        <p:nvSpPr>
          <p:cNvPr id="30" name="Text 28"/>
          <p:cNvSpPr txBox="1"/>
          <p:nvPr/>
        </p:nvSpPr>
        <p:spPr>
          <a:xfrm>
            <a:off x="914400" y="4754880"/>
            <a:ext cx="10332720" cy="1005840"/>
          </a:xfrm>
          <a:prstGeom prst="rect">
            <a:avLst/>
          </a:prstGeom>
          <a:noFill/>
          <a:ln/>
        </p:spPr>
        <p:txBody>
          <a:bodyPr wrap="square" lIns="0" tIns="0" rIns="0" bIns="0" rtlCol="0" anchor="ctr"/>
          <a:lstStyle/>
          <a:p>
            <a:pPr marL="342900" indent="-342900">
              <a:lnSpc>
                <a:spcPct val="103000"/>
              </a:lnSpc>
              <a:spcAft>
                <a:spcPts val="600"/>
              </a:spcAft>
              <a:buSzPct val="100000"/>
              <a:buChar char="•"/>
            </a:pPr>
            <a:r>
              <a:rPr lang="en-US" sz="1250" dirty="0">
                <a:solidFill>
                  <a:srgbClr val="6E6680"/>
                </a:solidFill>
                <a:latin typeface="Calibri" pitchFamily="34" charset="0"/>
                <a:ea typeface="Calibri" pitchFamily="34" charset="-122"/>
                <a:cs typeface="Calibri" pitchFamily="34" charset="-120"/>
              </a:rPr>
              <a:t>Dense (BGE-M3) catches semantic meaning even when wording differs from the source.</a:t>
            </a:r>
            <a:endParaRPr lang="en-US" sz="1250" dirty="0"/>
          </a:p>
          <a:p>
            <a:pPr marL="342900" indent="-342900">
              <a:lnSpc>
                <a:spcPct val="103000"/>
              </a:lnSpc>
              <a:spcAft>
                <a:spcPts val="600"/>
              </a:spcAft>
              <a:buSzPct val="100000"/>
              <a:buChar char="•"/>
            </a:pPr>
            <a:r>
              <a:rPr lang="en-US" sz="1250" dirty="0">
                <a:solidFill>
                  <a:srgbClr val="6E6680"/>
                </a:solidFill>
                <a:latin typeface="Calibri" pitchFamily="34" charset="0"/>
                <a:ea typeface="Calibri" pitchFamily="34" charset="-122"/>
                <a:cs typeface="Calibri" pitchFamily="34" charset="-120"/>
              </a:rPr>
              <a:t>BM25 catches exact Arabic clinical / common terms that dense embeddings can dilute.</a:t>
            </a:r>
            <a:endParaRPr lang="en-US" sz="1250" dirty="0"/>
          </a:p>
          <a:p>
            <a:pPr marL="342900" indent="-342900">
              <a:lnSpc>
                <a:spcPct val="103000"/>
              </a:lnSpc>
              <a:spcAft>
                <a:spcPts val="600"/>
              </a:spcAft>
              <a:buSzPct val="100000"/>
              <a:buChar char="•"/>
            </a:pPr>
            <a:r>
              <a:rPr lang="en-US" sz="1250" dirty="0">
                <a:solidFill>
                  <a:srgbClr val="6E6680"/>
                </a:solidFill>
                <a:latin typeface="Calibri" pitchFamily="34" charset="0"/>
                <a:ea typeface="Calibri" pitchFamily="34" charset="-122"/>
                <a:cs typeface="Calibri" pitchFamily="34" charset="-120"/>
              </a:rPr>
              <a:t>Reciprocal Rank Fusion combines both without hand-tuned weights.</a:t>
            </a:r>
            <a:endParaRPr lang="en-US" sz="1250" dirty="0"/>
          </a:p>
        </p:txBody>
      </p:sp>
      <p:sp>
        <p:nvSpPr>
          <p:cNvPr id="31" name="Text 29"/>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Two retrievers see what one alone would miss.</a:t>
            </a:r>
            <a:endParaRPr lang="en-US" sz="1150" dirty="0"/>
          </a:p>
        </p:txBody>
      </p:sp>
      <p:sp>
        <p:nvSpPr>
          <p:cNvPr id="32" name="Text 30"/>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5 / 18</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1 · RAG — SAFETY</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Risk is caught before generation, not after</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A deterministic gate runs before any retrieval or generation happens.</a:t>
            </a:r>
            <a:endParaRPr lang="en-US" sz="1400" dirty="0"/>
          </a:p>
        </p:txBody>
      </p:sp>
      <p:sp>
        <p:nvSpPr>
          <p:cNvPr id="5" name="Shape 3"/>
          <p:cNvSpPr/>
          <p:nvPr/>
        </p:nvSpPr>
        <p:spPr>
          <a:xfrm>
            <a:off x="640080" y="1874520"/>
            <a:ext cx="3520440"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2002536"/>
            <a:ext cx="3520440"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7</a:t>
            </a:r>
            <a:endParaRPr lang="en-US" sz="3000" dirty="0"/>
          </a:p>
        </p:txBody>
      </p:sp>
      <p:sp>
        <p:nvSpPr>
          <p:cNvPr id="7" name="Text 5"/>
          <p:cNvSpPr txBox="1"/>
          <p:nvPr/>
        </p:nvSpPr>
        <p:spPr>
          <a:xfrm>
            <a:off x="749808" y="2437790"/>
            <a:ext cx="3300984"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RISK CATEGORIES MONITORED</a:t>
            </a:r>
            <a:endParaRPr lang="en-US" sz="950" dirty="0"/>
          </a:p>
        </p:txBody>
      </p:sp>
      <p:sp>
        <p:nvSpPr>
          <p:cNvPr id="8" name="Shape 6"/>
          <p:cNvSpPr/>
          <p:nvPr/>
        </p:nvSpPr>
        <p:spPr>
          <a:xfrm>
            <a:off x="4334256" y="1874520"/>
            <a:ext cx="3520440"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4334256" y="2002536"/>
            <a:ext cx="3520440"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4</a:t>
            </a:r>
            <a:endParaRPr lang="en-US" sz="3000" dirty="0"/>
          </a:p>
        </p:txBody>
      </p:sp>
      <p:sp>
        <p:nvSpPr>
          <p:cNvPr id="10" name="Text 8"/>
          <p:cNvSpPr txBox="1"/>
          <p:nvPr/>
        </p:nvSpPr>
        <p:spPr>
          <a:xfrm>
            <a:off x="4443984" y="2437790"/>
            <a:ext cx="3300984"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HARD-BLOCKED CATEGORIES</a:t>
            </a:r>
            <a:endParaRPr lang="en-US" sz="950" dirty="0"/>
          </a:p>
        </p:txBody>
      </p:sp>
      <p:sp>
        <p:nvSpPr>
          <p:cNvPr id="11" name="Shape 9"/>
          <p:cNvSpPr/>
          <p:nvPr/>
        </p:nvSpPr>
        <p:spPr>
          <a:xfrm>
            <a:off x="8028432" y="1874520"/>
            <a:ext cx="3520440" cy="1005840"/>
          </a:xfrm>
          <a:prstGeom prst="roundRect">
            <a:avLst>
              <a:gd name="adj" fmla="val 10000"/>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8028432" y="2002536"/>
            <a:ext cx="3520440" cy="50292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0</a:t>
            </a:r>
            <a:endParaRPr lang="en-US" sz="3000" dirty="0"/>
          </a:p>
        </p:txBody>
      </p:sp>
      <p:sp>
        <p:nvSpPr>
          <p:cNvPr id="13" name="Text 11"/>
          <p:cNvSpPr txBox="1"/>
          <p:nvPr/>
        </p:nvSpPr>
        <p:spPr>
          <a:xfrm>
            <a:off x="8138160" y="2437790"/>
            <a:ext cx="3300984" cy="422453"/>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RETRIEVAL CALLS ON BLOCKED QUERIES</a:t>
            </a:r>
            <a:endParaRPr lang="en-US" sz="950" dirty="0"/>
          </a:p>
        </p:txBody>
      </p:sp>
      <p:sp>
        <p:nvSpPr>
          <p:cNvPr id="14" name="Shape 12"/>
          <p:cNvSpPr/>
          <p:nvPr/>
        </p:nvSpPr>
        <p:spPr>
          <a:xfrm>
            <a:off x="640080" y="3063240"/>
            <a:ext cx="5349240" cy="1783080"/>
          </a:xfrm>
          <a:prstGeom prst="roundRect">
            <a:avLst>
              <a:gd name="adj" fmla="val 5641"/>
            </a:avLst>
          </a:prstGeom>
          <a:solidFill>
            <a:srgbClr val="F7EEE9"/>
          </a:solidFill>
          <a:ln/>
          <a:effectLst>
            <a:outerShdw sx="100000" sy="100000" kx="0" ky="0" algn="bl" rotWithShape="0" blurRad="165100" dist="38100" dir="5400000">
              <a:srgbClr val="B7A6C9">
                <a:alpha val="26000"/>
              </a:srgbClr>
            </a:outerShdw>
          </a:effectLst>
        </p:spPr>
      </p:sp>
      <p:sp>
        <p:nvSpPr>
          <p:cNvPr id="15" name="Text 13"/>
          <p:cNvSpPr txBox="1"/>
          <p:nvPr/>
        </p:nvSpPr>
        <p:spPr>
          <a:xfrm>
            <a:off x="914400" y="3246120"/>
            <a:ext cx="4846320" cy="320040"/>
          </a:xfrm>
          <a:prstGeom prst="rect">
            <a:avLst/>
          </a:prstGeom>
          <a:noFill/>
          <a:ln/>
        </p:spPr>
        <p:txBody>
          <a:bodyPr wrap="square" lIns="0" tIns="0" rIns="0" bIns="0" rtlCol="0" anchor="ctr"/>
          <a:lstStyle/>
          <a:p>
            <a:pPr indent="0" marL="0">
              <a:buNone/>
            </a:pPr>
            <a:r>
              <a:rPr lang="en-US" sz="1400" b="1" dirty="0">
                <a:solidFill>
                  <a:srgbClr val="C06A3C"/>
                </a:solidFill>
                <a:latin typeface="Calibri" pitchFamily="34" charset="0"/>
                <a:ea typeface="Calibri" pitchFamily="34" charset="-122"/>
                <a:cs typeface="Calibri" pitchFamily="34" charset="-120"/>
              </a:rPr>
              <a:t>Blocked outright</a:t>
            </a:r>
            <a:endParaRPr lang="en-US" sz="1400" dirty="0"/>
          </a:p>
        </p:txBody>
      </p:sp>
      <p:sp>
        <p:nvSpPr>
          <p:cNvPr id="16" name="Text 14"/>
          <p:cNvSpPr txBox="1"/>
          <p:nvPr/>
        </p:nvSpPr>
        <p:spPr>
          <a:xfrm>
            <a:off x="914400" y="3639312"/>
            <a:ext cx="4846320" cy="1097280"/>
          </a:xfrm>
          <a:prstGeom prst="rect">
            <a:avLst/>
          </a:prstGeom>
          <a:noFill/>
          <a:ln/>
        </p:spPr>
        <p:txBody>
          <a:bodyPr wrap="square" lIns="0" tIns="0" rIns="0" bIns="0" rtlCol="0" anchor="t"/>
          <a:lstStyle/>
          <a:p>
            <a:pPr indent="0" marL="0">
              <a:lnSpc>
                <a:spcPct val="105000"/>
              </a:lnSpc>
              <a:spcBef>
                <a:spcPts val="400"/>
              </a:spcBef>
              <a:buNone/>
            </a:pPr>
            <a:r>
              <a:rPr lang="en-US" sz="1200" b="1" dirty="0">
                <a:solidFill>
                  <a:srgbClr val="3D2352"/>
                </a:solidFill>
                <a:latin typeface="Calibri" pitchFamily="34" charset="0"/>
                <a:ea typeface="Calibri" pitchFamily="34" charset="-122"/>
                <a:cs typeface="Calibri" pitchFamily="34" charset="-120"/>
              </a:rPr>
              <a:t>CHILD_ABUSE · VIOLENCE · SELF_HARM · EMERGENCY</a:t>
            </a:r>
            <a:endParaRPr lang="en-US" sz="1200" dirty="0"/>
          </a:p>
          <a:p>
            <a:pPr indent="0" marL="0">
              <a:lnSpc>
                <a:spcPct val="105000"/>
              </a:lnSpc>
              <a:spcBef>
                <a:spcPts val="400"/>
              </a:spcBef>
              <a:buNone/>
            </a:pPr>
            <a:r>
              <a:rPr lang="en-US" sz="1200" dirty="0">
                <a:solidFill>
                  <a:srgbClr val="6E6680"/>
                </a:solidFill>
                <a:latin typeface="Calibri" pitchFamily="34" charset="0"/>
                <a:ea typeface="Calibri" pitchFamily="34" charset="-122"/>
                <a:cs typeface="Calibri" pitchFamily="34" charset="-120"/>
              </a:rPr>
              <a:t>Routed straight to a safety response with crisis resources.</a:t>
            </a:r>
            <a:endParaRPr lang="en-US" sz="1200" dirty="0"/>
          </a:p>
        </p:txBody>
      </p:sp>
      <p:sp>
        <p:nvSpPr>
          <p:cNvPr id="17" name="Shape 15"/>
          <p:cNvSpPr/>
          <p:nvPr/>
        </p:nvSpPr>
        <p:spPr>
          <a:xfrm>
            <a:off x="6199632" y="3063240"/>
            <a:ext cx="5349240" cy="1783080"/>
          </a:xfrm>
          <a:prstGeom prst="roundRect">
            <a:avLst>
              <a:gd name="adj" fmla="val 5641"/>
            </a:avLst>
          </a:prstGeom>
          <a:solidFill>
            <a:srgbClr val="FBF6FB"/>
          </a:solidFill>
          <a:ln/>
          <a:effectLst>
            <a:outerShdw sx="100000" sy="100000" kx="0" ky="0" algn="bl" rotWithShape="0" blurRad="165100" dist="38100" dir="5400000">
              <a:srgbClr val="B7A6C9">
                <a:alpha val="26000"/>
              </a:srgbClr>
            </a:outerShdw>
          </a:effectLst>
        </p:spPr>
      </p:sp>
      <p:sp>
        <p:nvSpPr>
          <p:cNvPr id="18" name="Text 16"/>
          <p:cNvSpPr txBox="1"/>
          <p:nvPr/>
        </p:nvSpPr>
        <p:spPr>
          <a:xfrm>
            <a:off x="6473952" y="3246120"/>
            <a:ext cx="4846320" cy="320040"/>
          </a:xfrm>
          <a:prstGeom prst="rect">
            <a:avLst/>
          </a:prstGeom>
          <a:noFill/>
          <a:ln/>
        </p:spPr>
        <p:txBody>
          <a:bodyPr wrap="square" lIns="0" tIns="0" rIns="0" bIns="0" rtlCol="0" anchor="ctr"/>
          <a:lstStyle/>
          <a:p>
            <a:pPr indent="0" marL="0">
              <a:buNone/>
            </a:pPr>
            <a:r>
              <a:rPr lang="en-US" sz="1400" b="1" dirty="0">
                <a:solidFill>
                  <a:srgbClr val="C06A3C"/>
                </a:solidFill>
                <a:latin typeface="Calibri" pitchFamily="34" charset="0"/>
                <a:ea typeface="Calibri" pitchFamily="34" charset="-122"/>
                <a:cs typeface="Calibri" pitchFamily="34" charset="-120"/>
              </a:rPr>
              <a:t>Soft boundary</a:t>
            </a:r>
            <a:endParaRPr lang="en-US" sz="1400" dirty="0"/>
          </a:p>
        </p:txBody>
      </p:sp>
      <p:sp>
        <p:nvSpPr>
          <p:cNvPr id="19" name="Text 17"/>
          <p:cNvSpPr txBox="1"/>
          <p:nvPr/>
        </p:nvSpPr>
        <p:spPr>
          <a:xfrm>
            <a:off x="6473952" y="3639312"/>
            <a:ext cx="4846320" cy="1097280"/>
          </a:xfrm>
          <a:prstGeom prst="rect">
            <a:avLst/>
          </a:prstGeom>
          <a:noFill/>
          <a:ln/>
        </p:spPr>
        <p:txBody>
          <a:bodyPr wrap="square" lIns="0" tIns="0" rIns="0" bIns="0" rtlCol="0" anchor="t"/>
          <a:lstStyle/>
          <a:p>
            <a:pPr indent="0" marL="0">
              <a:lnSpc>
                <a:spcPct val="105000"/>
              </a:lnSpc>
              <a:spcBef>
                <a:spcPts val="400"/>
              </a:spcBef>
              <a:buNone/>
            </a:pPr>
            <a:r>
              <a:rPr lang="en-US" sz="1200" b="1" dirty="0">
                <a:solidFill>
                  <a:srgbClr val="3D2352"/>
                </a:solidFill>
                <a:latin typeface="Calibri" pitchFamily="34" charset="0"/>
                <a:ea typeface="Calibri" pitchFamily="34" charset="-122"/>
                <a:cs typeface="Calibri" pitchFamily="34" charset="-120"/>
              </a:rPr>
              <a:t>MEDICAL · MENTAL_HEALTH</a:t>
            </a:r>
            <a:endParaRPr lang="en-US" sz="1200" dirty="0"/>
          </a:p>
          <a:p>
            <a:pPr indent="0" marL="0">
              <a:lnSpc>
                <a:spcPct val="105000"/>
              </a:lnSpc>
              <a:spcBef>
                <a:spcPts val="400"/>
              </a:spcBef>
              <a:buNone/>
            </a:pPr>
            <a:r>
              <a:rPr lang="en-US" sz="1200" dirty="0">
                <a:solidFill>
                  <a:srgbClr val="6E6680"/>
                </a:solidFill>
                <a:latin typeface="Calibri" pitchFamily="34" charset="0"/>
                <a:ea typeface="Calibri" pitchFamily="34" charset="-122"/>
                <a:cs typeface="Calibri" pitchFamily="34" charset="-120"/>
              </a:rPr>
              <a:t>Answered with general info + a nudge to consult a professional — never a diagnosis.</a:t>
            </a:r>
            <a:endParaRPr lang="en-US" sz="1200" dirty="0"/>
          </a:p>
        </p:txBody>
      </p:sp>
      <p:sp>
        <p:nvSpPr>
          <p:cNvPr id="20" name="Shape 18"/>
          <p:cNvSpPr/>
          <p:nvPr/>
        </p:nvSpPr>
        <p:spPr>
          <a:xfrm>
            <a:off x="640080" y="5074920"/>
            <a:ext cx="2194560" cy="777240"/>
          </a:xfrm>
          <a:prstGeom prst="roundRect">
            <a:avLst>
              <a:gd name="adj" fmla="val 10588"/>
            </a:avLst>
          </a:prstGeom>
          <a:solidFill>
            <a:srgbClr val="FFFFFF"/>
          </a:solidFill>
          <a:ln/>
          <a:effectLst>
            <a:outerShdw sx="100000" sy="100000" kx="0" ky="0" algn="bl" rotWithShape="0" blurRad="88900" dist="25400" dir="5400000">
              <a:srgbClr val="C4B6D2">
                <a:alpha val="20000"/>
              </a:srgbClr>
            </a:outerShdw>
          </a:effectLst>
        </p:spPr>
      </p:sp>
      <p:sp>
        <p:nvSpPr>
          <p:cNvPr id="21" name="Text 19"/>
          <p:cNvSpPr txBox="1"/>
          <p:nvPr/>
        </p:nvSpPr>
        <p:spPr>
          <a:xfrm>
            <a:off x="640080" y="5074920"/>
            <a:ext cx="2194560" cy="777240"/>
          </a:xfrm>
          <a:prstGeom prst="rect">
            <a:avLst/>
          </a:prstGeom>
          <a:noFill/>
          <a:ln/>
        </p:spPr>
        <p:txBody>
          <a:bodyPr wrap="square" lIns="0" tIns="0" rIns="0" bIns="0" rtlCol="0" anchor="ctr"/>
          <a:lstStyle/>
          <a:p>
            <a:pPr algn="ctr" indent="0" marL="0">
              <a:buNone/>
            </a:pPr>
            <a:r>
              <a:rPr lang="en-US" sz="1250" b="1" dirty="0">
                <a:solidFill>
                  <a:srgbClr val="3D2352"/>
                </a:solidFill>
                <a:latin typeface="Calibri" pitchFamily="34" charset="0"/>
                <a:ea typeface="Calibri" pitchFamily="34" charset="-122"/>
                <a:cs typeface="Calibri" pitchFamily="34" charset="-120"/>
              </a:rPr>
              <a:t>Query</a:t>
            </a:r>
            <a:endParaRPr lang="en-US" sz="1250" dirty="0"/>
          </a:p>
        </p:txBody>
      </p:sp>
      <p:sp>
        <p:nvSpPr>
          <p:cNvPr id="22" name="Text 20"/>
          <p:cNvSpPr txBox="1"/>
          <p:nvPr/>
        </p:nvSpPr>
        <p:spPr>
          <a:xfrm>
            <a:off x="2926080" y="5230368"/>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3429000" y="5074920"/>
            <a:ext cx="2880360" cy="777240"/>
          </a:xfrm>
          <a:prstGeom prst="roundRect">
            <a:avLst>
              <a:gd name="adj" fmla="val 10588"/>
            </a:avLst>
          </a:prstGeom>
          <a:solidFill>
            <a:srgbClr val="FFFFFF"/>
          </a:solidFill>
          <a:ln/>
          <a:effectLst>
            <a:outerShdw sx="100000" sy="100000" kx="0" ky="0" algn="bl" rotWithShape="0" blurRad="88900" dist="25400" dir="5400000">
              <a:srgbClr val="C4B6D2">
                <a:alpha val="20000"/>
              </a:srgbClr>
            </a:outerShdw>
          </a:effectLst>
        </p:spPr>
      </p:sp>
      <p:sp>
        <p:nvSpPr>
          <p:cNvPr id="24" name="Text 22"/>
          <p:cNvSpPr txBox="1"/>
          <p:nvPr/>
        </p:nvSpPr>
        <p:spPr>
          <a:xfrm>
            <a:off x="3429000" y="5074920"/>
            <a:ext cx="2880360" cy="777240"/>
          </a:xfrm>
          <a:prstGeom prst="rect">
            <a:avLst/>
          </a:prstGeom>
          <a:noFill/>
          <a:ln/>
        </p:spPr>
        <p:txBody>
          <a:bodyPr wrap="square" lIns="0" tIns="0" rIns="0" bIns="0" rtlCol="0" anchor="ctr"/>
          <a:lstStyle/>
          <a:p>
            <a:pPr algn="ctr" indent="0" marL="0">
              <a:buNone/>
            </a:pPr>
            <a:r>
              <a:rPr lang="en-US" sz="1250" b="1" dirty="0">
                <a:solidFill>
                  <a:srgbClr val="3D2352"/>
                </a:solidFill>
                <a:latin typeface="Calibri" pitchFamily="34" charset="0"/>
                <a:ea typeface="Calibri" pitchFamily="34" charset="-122"/>
                <a:cs typeface="Calibri" pitchFamily="34" charset="-120"/>
              </a:rPr>
              <a:t>Risk Classification</a:t>
            </a:r>
            <a:endParaRPr lang="en-US" sz="1250" dirty="0"/>
          </a:p>
        </p:txBody>
      </p:sp>
      <p:sp>
        <p:nvSpPr>
          <p:cNvPr id="25" name="Text 23"/>
          <p:cNvSpPr txBox="1"/>
          <p:nvPr/>
        </p:nvSpPr>
        <p:spPr>
          <a:xfrm>
            <a:off x="6382512" y="5230368"/>
            <a:ext cx="457200" cy="457200"/>
          </a:xfrm>
          <a:prstGeom prst="rect">
            <a:avLst/>
          </a:prstGeom>
          <a:noFill/>
          <a:ln/>
        </p:spPr>
        <p:txBody>
          <a:bodyPr wrap="square" lIns="0" tIns="0" rIns="0" bIns="0" rtlCol="0" anchor="ctr"/>
          <a:lstStyle/>
          <a:p>
            <a:pPr algn="ctr" indent="0" marL="0">
              <a:buNone/>
            </a:pPr>
            <a:r>
              <a:rPr lang="en-US" sz="1800" b="1" dirty="0">
                <a:solidFill>
                  <a:srgbClr val="D9824F"/>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6903720" y="5074920"/>
            <a:ext cx="4645152" cy="777240"/>
          </a:xfrm>
          <a:prstGeom prst="roundRect">
            <a:avLst>
              <a:gd name="adj" fmla="val 10588"/>
            </a:avLst>
          </a:prstGeom>
          <a:solidFill>
            <a:srgbClr val="F4EEFA"/>
          </a:solidFill>
          <a:ln/>
          <a:effectLst>
            <a:outerShdw sx="100000" sy="100000" kx="0" ky="0" algn="bl" rotWithShape="0" blurRad="88900" dist="25400" dir="5400000">
              <a:srgbClr val="C4B6D2">
                <a:alpha val="20000"/>
              </a:srgbClr>
            </a:outerShdw>
          </a:effectLst>
        </p:spPr>
      </p:sp>
      <p:sp>
        <p:nvSpPr>
          <p:cNvPr id="27" name="Text 25"/>
          <p:cNvSpPr txBox="1"/>
          <p:nvPr/>
        </p:nvSpPr>
        <p:spPr>
          <a:xfrm>
            <a:off x="7040880" y="5074920"/>
            <a:ext cx="4389120" cy="777240"/>
          </a:xfrm>
          <a:prstGeom prst="rect">
            <a:avLst/>
          </a:prstGeom>
          <a:noFill/>
          <a:ln/>
        </p:spPr>
        <p:txBody>
          <a:bodyPr wrap="square" lIns="0" tIns="0" rIns="0" bIns="0" rtlCol="0" anchor="ctr"/>
          <a:lstStyle/>
          <a:p>
            <a:pPr indent="0" marL="0">
              <a:lnSpc>
                <a:spcPct val="100000"/>
              </a:lnSpc>
              <a:spcBef>
                <a:spcPts val="200"/>
              </a:spcBef>
              <a:buNone/>
            </a:pPr>
            <a:r>
              <a:rPr lang="en-US" sz="1150" b="1" dirty="0">
                <a:solidFill>
                  <a:srgbClr val="C06A3C"/>
                </a:solidFill>
                <a:latin typeface="Calibri" pitchFamily="34" charset="0"/>
                <a:ea typeface="Calibri" pitchFamily="34" charset="-122"/>
                <a:cs typeface="Calibri" pitchFamily="34" charset="-120"/>
              </a:rPr>
              <a:t>high-risk → Safety Response</a:t>
            </a:r>
            <a:endParaRPr lang="en-US" sz="1150" dirty="0"/>
          </a:p>
          <a:p>
            <a:pPr indent="0" marL="0">
              <a:lnSpc>
                <a:spcPct val="100000"/>
              </a:lnSpc>
              <a:spcBef>
                <a:spcPts val="200"/>
              </a:spcBef>
              <a:buNone/>
            </a:pPr>
            <a:r>
              <a:rPr lang="en-US" sz="1150" b="1" dirty="0">
                <a:solidFill>
                  <a:srgbClr val="3E7C59"/>
                </a:solidFill>
                <a:latin typeface="Calibri" pitchFamily="34" charset="0"/>
                <a:ea typeface="Calibri" pitchFamily="34" charset="-122"/>
                <a:cs typeface="Calibri" pitchFamily="34" charset="-120"/>
              </a:rPr>
              <a:t>safe → Retrieval</a:t>
            </a:r>
            <a:endParaRPr lang="en-US" sz="1150" dirty="0"/>
          </a:p>
        </p:txBody>
      </p:sp>
      <p:sp>
        <p:nvSpPr>
          <p:cNvPr id="28" name="Text 26"/>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A dangerous question never reaches the model — it's stopped first.</a:t>
            </a:r>
            <a:endParaRPr lang="en-US" sz="1150" dirty="0"/>
          </a:p>
        </p:txBody>
      </p:sp>
      <p:sp>
        <p:nvSpPr>
          <p:cNvPr id="29" name="Text 27"/>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6 / 18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RAG → FINE-TUNED MODEL</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A context-injection template the model trusts</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Retrieved chunks are formatted so the fine-tuned model consumes them reliably — and only them.</a:t>
            </a:r>
            <a:endParaRPr lang="en-US" sz="1400" dirty="0"/>
          </a:p>
        </p:txBody>
      </p:sp>
      <p:sp>
        <p:nvSpPr>
          <p:cNvPr id="5" name="Shape 3"/>
          <p:cNvSpPr/>
          <p:nvPr/>
        </p:nvSpPr>
        <p:spPr>
          <a:xfrm>
            <a:off x="640080" y="2148840"/>
            <a:ext cx="3456432" cy="2788920"/>
          </a:xfrm>
          <a:prstGeom prst="roundRect">
            <a:avLst>
              <a:gd name="adj" fmla="val 3607"/>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960120" y="2441448"/>
            <a:ext cx="1828800" cy="822960"/>
          </a:xfrm>
          <a:prstGeom prst="rect">
            <a:avLst/>
          </a:prstGeom>
          <a:noFill/>
          <a:ln/>
        </p:spPr>
        <p:txBody>
          <a:bodyPr wrap="square" lIns="0" tIns="0" rIns="0" bIns="0" rtlCol="0" anchor="ctr"/>
          <a:lstStyle/>
          <a:p>
            <a:pPr indent="0" marL="0">
              <a:buNone/>
            </a:pPr>
            <a:r>
              <a:rPr lang="en-US" sz="4600" b="1" dirty="0">
                <a:solidFill>
                  <a:srgbClr val="D9824F"/>
                </a:solidFill>
                <a:latin typeface="Cambria" pitchFamily="34" charset="0"/>
                <a:ea typeface="Cambria" pitchFamily="34" charset="-122"/>
                <a:cs typeface="Cambria" pitchFamily="34" charset="-120"/>
              </a:rPr>
              <a:t>01</a:t>
            </a:r>
            <a:endParaRPr lang="en-US" sz="4600" dirty="0"/>
          </a:p>
        </p:txBody>
      </p:sp>
      <p:sp>
        <p:nvSpPr>
          <p:cNvPr id="7" name="Text 5"/>
          <p:cNvSpPr txBox="1"/>
          <p:nvPr/>
        </p:nvSpPr>
        <p:spPr>
          <a:xfrm>
            <a:off x="987552" y="3383280"/>
            <a:ext cx="2816352"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Retrieval Query</a:t>
            </a:r>
            <a:endParaRPr lang="en-US" sz="1600" dirty="0"/>
          </a:p>
        </p:txBody>
      </p:sp>
      <p:sp>
        <p:nvSpPr>
          <p:cNvPr id="8" name="Text 6"/>
          <p:cNvSpPr txBox="1"/>
          <p:nvPr/>
        </p:nvSpPr>
        <p:spPr>
          <a:xfrm>
            <a:off x="987552" y="3840480"/>
            <a:ext cx="2798064" cy="91440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Formulate the query sent to the RAG system to fetch the most relevant source chunks.</a:t>
            </a:r>
            <a:endParaRPr lang="en-US" sz="1250" dirty="0"/>
          </a:p>
        </p:txBody>
      </p:sp>
      <p:sp>
        <p:nvSpPr>
          <p:cNvPr id="9" name="Text 7"/>
          <p:cNvSpPr txBox="1"/>
          <p:nvPr/>
        </p:nvSpPr>
        <p:spPr>
          <a:xfrm>
            <a:off x="4000500" y="331470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361688" y="2148840"/>
            <a:ext cx="3456432" cy="2788920"/>
          </a:xfrm>
          <a:prstGeom prst="roundRect">
            <a:avLst>
              <a:gd name="adj" fmla="val 3607"/>
            </a:avLst>
          </a:prstGeom>
          <a:solidFill>
            <a:srgbClr val="FFFFFF"/>
          </a:solidFill>
          <a:ln/>
          <a:effectLst>
            <a:outerShdw sx="100000" sy="100000" kx="0" ky="0" algn="bl" rotWithShape="0" blurRad="165100" dist="38100" dir="5400000">
              <a:srgbClr val="B7A6C9">
                <a:alpha val="26000"/>
              </a:srgbClr>
            </a:outerShdw>
          </a:effectLst>
        </p:spPr>
      </p:sp>
      <p:sp>
        <p:nvSpPr>
          <p:cNvPr id="11" name="Text 9"/>
          <p:cNvSpPr txBox="1"/>
          <p:nvPr/>
        </p:nvSpPr>
        <p:spPr>
          <a:xfrm>
            <a:off x="4681728" y="2441448"/>
            <a:ext cx="1828800" cy="822960"/>
          </a:xfrm>
          <a:prstGeom prst="rect">
            <a:avLst/>
          </a:prstGeom>
          <a:noFill/>
          <a:ln/>
        </p:spPr>
        <p:txBody>
          <a:bodyPr wrap="square" lIns="0" tIns="0" rIns="0" bIns="0" rtlCol="0" anchor="ctr"/>
          <a:lstStyle/>
          <a:p>
            <a:pPr indent="0" marL="0">
              <a:buNone/>
            </a:pPr>
            <a:r>
              <a:rPr lang="en-US" sz="4600" b="1" dirty="0">
                <a:solidFill>
                  <a:srgbClr val="D9824F"/>
                </a:solidFill>
                <a:latin typeface="Cambria" pitchFamily="34" charset="0"/>
                <a:ea typeface="Cambria" pitchFamily="34" charset="-122"/>
                <a:cs typeface="Cambria" pitchFamily="34" charset="-120"/>
              </a:rPr>
              <a:t>02</a:t>
            </a:r>
            <a:endParaRPr lang="en-US" sz="4600" dirty="0"/>
          </a:p>
        </p:txBody>
      </p:sp>
      <p:sp>
        <p:nvSpPr>
          <p:cNvPr id="12" name="Text 10"/>
          <p:cNvSpPr txBox="1"/>
          <p:nvPr/>
        </p:nvSpPr>
        <p:spPr>
          <a:xfrm>
            <a:off x="4709160" y="3383280"/>
            <a:ext cx="2816352"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Context Injection</a:t>
            </a:r>
            <a:endParaRPr lang="en-US" sz="1600" dirty="0"/>
          </a:p>
        </p:txBody>
      </p:sp>
      <p:sp>
        <p:nvSpPr>
          <p:cNvPr id="13" name="Text 11"/>
          <p:cNvSpPr txBox="1"/>
          <p:nvPr/>
        </p:nvSpPr>
        <p:spPr>
          <a:xfrm>
            <a:off x="4709160" y="3840480"/>
            <a:ext cx="2798064" cy="91440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Inject and format retrieved chunks into the prompt using a structured, per-source template.</a:t>
            </a:r>
            <a:endParaRPr lang="en-US" sz="1250" dirty="0"/>
          </a:p>
        </p:txBody>
      </p:sp>
      <p:sp>
        <p:nvSpPr>
          <p:cNvPr id="14" name="Text 12"/>
          <p:cNvSpPr txBox="1"/>
          <p:nvPr/>
        </p:nvSpPr>
        <p:spPr>
          <a:xfrm>
            <a:off x="7722108" y="331470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8083296" y="2148840"/>
            <a:ext cx="3456432" cy="2788920"/>
          </a:xfrm>
          <a:prstGeom prst="roundRect">
            <a:avLst>
              <a:gd name="adj" fmla="val 3607"/>
            </a:avLst>
          </a:prstGeom>
          <a:solidFill>
            <a:srgbClr val="FFFFFF"/>
          </a:solidFill>
          <a:ln/>
          <a:effectLst>
            <a:outerShdw sx="100000" sy="100000" kx="0" ky="0" algn="bl" rotWithShape="0" blurRad="165100" dist="38100" dir="5400000">
              <a:srgbClr val="B7A6C9">
                <a:alpha val="26000"/>
              </a:srgbClr>
            </a:outerShdw>
          </a:effectLst>
        </p:spPr>
      </p:sp>
      <p:sp>
        <p:nvSpPr>
          <p:cNvPr id="16" name="Text 14"/>
          <p:cNvSpPr txBox="1"/>
          <p:nvPr/>
        </p:nvSpPr>
        <p:spPr>
          <a:xfrm>
            <a:off x="8403336" y="2441448"/>
            <a:ext cx="1828800" cy="822960"/>
          </a:xfrm>
          <a:prstGeom prst="rect">
            <a:avLst/>
          </a:prstGeom>
          <a:noFill/>
          <a:ln/>
        </p:spPr>
        <p:txBody>
          <a:bodyPr wrap="square" lIns="0" tIns="0" rIns="0" bIns="0" rtlCol="0" anchor="ctr"/>
          <a:lstStyle/>
          <a:p>
            <a:pPr indent="0" marL="0">
              <a:buNone/>
            </a:pPr>
            <a:r>
              <a:rPr lang="en-US" sz="4600" b="1" dirty="0">
                <a:solidFill>
                  <a:srgbClr val="D9824F"/>
                </a:solidFill>
                <a:latin typeface="Cambria" pitchFamily="34" charset="0"/>
                <a:ea typeface="Cambria" pitchFamily="34" charset="-122"/>
                <a:cs typeface="Cambria" pitchFamily="34" charset="-120"/>
              </a:rPr>
              <a:t>03</a:t>
            </a:r>
            <a:endParaRPr lang="en-US" sz="4600" dirty="0"/>
          </a:p>
        </p:txBody>
      </p:sp>
      <p:sp>
        <p:nvSpPr>
          <p:cNvPr id="17" name="Text 15"/>
          <p:cNvSpPr txBox="1"/>
          <p:nvPr/>
        </p:nvSpPr>
        <p:spPr>
          <a:xfrm>
            <a:off x="8430768" y="3383280"/>
            <a:ext cx="2816352"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Grounded Generation</a:t>
            </a:r>
            <a:endParaRPr lang="en-US" sz="1600" dirty="0"/>
          </a:p>
        </p:txBody>
      </p:sp>
      <p:sp>
        <p:nvSpPr>
          <p:cNvPr id="18" name="Text 16"/>
          <p:cNvSpPr txBox="1"/>
          <p:nvPr/>
        </p:nvSpPr>
        <p:spPr>
          <a:xfrm>
            <a:off x="8430768" y="3840480"/>
            <a:ext cx="2798064" cy="91440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The model answers using only the injected, trustworthy sources — and cites them.</a:t>
            </a:r>
            <a:endParaRPr lang="en-US" sz="1250" dirty="0"/>
          </a:p>
        </p:txBody>
      </p:sp>
      <p:sp>
        <p:nvSpPr>
          <p:cNvPr id="19" name="Text 17"/>
          <p:cNvSpPr txBox="1"/>
          <p:nvPr/>
        </p:nvSpPr>
        <p:spPr>
          <a:xfrm>
            <a:off x="640080" y="5257800"/>
            <a:ext cx="10908792" cy="640080"/>
          </a:xfrm>
          <a:prstGeom prst="rect">
            <a:avLst/>
          </a:prstGeom>
          <a:noFill/>
          <a:ln/>
        </p:spPr>
        <p:txBody>
          <a:bodyPr wrap="square" lIns="0" tIns="0" rIns="0" bIns="0" rtlCol="0" anchor="ctr"/>
          <a:lstStyle/>
          <a:p>
            <a:pPr algn="ctr" indent="0" marL="0">
              <a:lnSpc>
                <a:spcPct val="110000"/>
              </a:lnSpc>
              <a:buNone/>
            </a:pPr>
            <a:r>
              <a:rPr lang="en-US" sz="1250" i="1" dirty="0">
                <a:solidFill>
                  <a:srgbClr val="5C4477"/>
                </a:solidFill>
                <a:latin typeface="Calibri" pitchFamily="34" charset="0"/>
                <a:ea typeface="Calibri" pitchFamily="34" charset="-122"/>
                <a:cs typeface="Calibri" pitchFamily="34" charset="-120"/>
              </a:rPr>
              <a:t>The system prompt starts from the fine-tuning team's exact base message — RAG rules are appended in the same Egyptian-colloquial register, never replacing it.</a:t>
            </a:r>
            <a:endParaRPr lang="en-US" sz="1250" dirty="0"/>
          </a:p>
        </p:txBody>
      </p:sp>
      <p:sp>
        <p:nvSpPr>
          <p:cNvPr id="20" name="Text 18"/>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The bridge between retrieval and generation.</a:t>
            </a:r>
            <a:endParaRPr lang="en-US" sz="1150" dirty="0"/>
          </a:p>
        </p:txBody>
      </p:sp>
      <p:sp>
        <p:nvSpPr>
          <p:cNvPr id="21" name="Text 19"/>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7 / 18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2 · FINE-TUNING</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QLoRA on a single free GPU</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Freeze Nile-Chat-4B (4-bit), train lightweight LoRA adapters — &lt; 1% of parameters.</a:t>
            </a:r>
            <a:endParaRPr lang="en-US" sz="1400" dirty="0"/>
          </a:p>
        </p:txBody>
      </p:sp>
      <p:sp>
        <p:nvSpPr>
          <p:cNvPr id="5" name="Shape 3"/>
          <p:cNvSpPr/>
          <p:nvPr/>
        </p:nvSpPr>
        <p:spPr>
          <a:xfrm>
            <a:off x="640080" y="2011680"/>
            <a:ext cx="2006194" cy="1371600"/>
          </a:xfrm>
          <a:prstGeom prst="roundRect">
            <a:avLst>
              <a:gd name="adj" fmla="val 7333"/>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2231136"/>
            <a:ext cx="2006194" cy="621792"/>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r = 16</a:t>
            </a:r>
            <a:endParaRPr lang="en-US" sz="2600" dirty="0"/>
          </a:p>
        </p:txBody>
      </p:sp>
      <p:sp>
        <p:nvSpPr>
          <p:cNvPr id="7" name="Text 5"/>
          <p:cNvSpPr txBox="1"/>
          <p:nvPr/>
        </p:nvSpPr>
        <p:spPr>
          <a:xfrm>
            <a:off x="640080" y="2862072"/>
            <a:ext cx="2006194" cy="320040"/>
          </a:xfrm>
          <a:prstGeom prst="rect">
            <a:avLst/>
          </a:prstGeom>
          <a:noFill/>
          <a:ln/>
        </p:spPr>
        <p:txBody>
          <a:bodyPr wrap="square" lIns="0" tIns="0" rIns="0" bIns="0" rtlCol="0" anchor="ctr"/>
          <a:lstStyle/>
          <a:p>
            <a:pPr algn="ctr" indent="0" marL="0">
              <a:buNone/>
            </a:pPr>
            <a:r>
              <a:rPr lang="en-US" sz="1150" dirty="0">
                <a:solidFill>
                  <a:srgbClr val="6E6680"/>
                </a:solidFill>
                <a:latin typeface="Calibri" pitchFamily="34" charset="0"/>
                <a:ea typeface="Calibri" pitchFamily="34" charset="-122"/>
                <a:cs typeface="Calibri" pitchFamily="34" charset="-120"/>
              </a:rPr>
              <a:t>LoRA rank</a:t>
            </a:r>
            <a:endParaRPr lang="en-US" sz="1150" dirty="0"/>
          </a:p>
        </p:txBody>
      </p:sp>
      <p:sp>
        <p:nvSpPr>
          <p:cNvPr id="8" name="Shape 6"/>
          <p:cNvSpPr/>
          <p:nvPr/>
        </p:nvSpPr>
        <p:spPr>
          <a:xfrm>
            <a:off x="2865730" y="2011680"/>
            <a:ext cx="2006194" cy="1371600"/>
          </a:xfrm>
          <a:prstGeom prst="roundRect">
            <a:avLst>
              <a:gd name="adj" fmla="val 7333"/>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2865730" y="2231136"/>
            <a:ext cx="2006194" cy="621792"/>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α = 16</a:t>
            </a:r>
            <a:endParaRPr lang="en-US" sz="2600" dirty="0"/>
          </a:p>
        </p:txBody>
      </p:sp>
      <p:sp>
        <p:nvSpPr>
          <p:cNvPr id="10" name="Text 8"/>
          <p:cNvSpPr txBox="1"/>
          <p:nvPr/>
        </p:nvSpPr>
        <p:spPr>
          <a:xfrm>
            <a:off x="2865730" y="2862072"/>
            <a:ext cx="2006194" cy="320040"/>
          </a:xfrm>
          <a:prstGeom prst="rect">
            <a:avLst/>
          </a:prstGeom>
          <a:noFill/>
          <a:ln/>
        </p:spPr>
        <p:txBody>
          <a:bodyPr wrap="square" lIns="0" tIns="0" rIns="0" bIns="0" rtlCol="0" anchor="ctr"/>
          <a:lstStyle/>
          <a:p>
            <a:pPr algn="ctr" indent="0" marL="0">
              <a:buNone/>
            </a:pPr>
            <a:r>
              <a:rPr lang="en-US" sz="1150" dirty="0">
                <a:solidFill>
                  <a:srgbClr val="6E6680"/>
                </a:solidFill>
                <a:latin typeface="Calibri" pitchFamily="34" charset="0"/>
                <a:ea typeface="Calibri" pitchFamily="34" charset="-122"/>
                <a:cs typeface="Calibri" pitchFamily="34" charset="-120"/>
              </a:rPr>
              <a:t>LoRA alpha</a:t>
            </a:r>
            <a:endParaRPr lang="en-US" sz="1150" dirty="0"/>
          </a:p>
        </p:txBody>
      </p:sp>
      <p:sp>
        <p:nvSpPr>
          <p:cNvPr id="11" name="Shape 9"/>
          <p:cNvSpPr/>
          <p:nvPr/>
        </p:nvSpPr>
        <p:spPr>
          <a:xfrm>
            <a:off x="5091379" y="2011680"/>
            <a:ext cx="2006194" cy="1371600"/>
          </a:xfrm>
          <a:prstGeom prst="roundRect">
            <a:avLst>
              <a:gd name="adj" fmla="val 7333"/>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5091379" y="2231136"/>
            <a:ext cx="2006194" cy="621792"/>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1e-4</a:t>
            </a:r>
            <a:endParaRPr lang="en-US" sz="2600" dirty="0"/>
          </a:p>
        </p:txBody>
      </p:sp>
      <p:sp>
        <p:nvSpPr>
          <p:cNvPr id="13" name="Text 11"/>
          <p:cNvSpPr txBox="1"/>
          <p:nvPr/>
        </p:nvSpPr>
        <p:spPr>
          <a:xfrm>
            <a:off x="5091379" y="2862072"/>
            <a:ext cx="2006194" cy="320040"/>
          </a:xfrm>
          <a:prstGeom prst="rect">
            <a:avLst/>
          </a:prstGeom>
          <a:noFill/>
          <a:ln/>
        </p:spPr>
        <p:txBody>
          <a:bodyPr wrap="square" lIns="0" tIns="0" rIns="0" bIns="0" rtlCol="0" anchor="ctr"/>
          <a:lstStyle/>
          <a:p>
            <a:pPr algn="ctr" indent="0" marL="0">
              <a:buNone/>
            </a:pPr>
            <a:r>
              <a:rPr lang="en-US" sz="1150" dirty="0">
                <a:solidFill>
                  <a:srgbClr val="6E6680"/>
                </a:solidFill>
                <a:latin typeface="Calibri" pitchFamily="34" charset="0"/>
                <a:ea typeface="Calibri" pitchFamily="34" charset="-122"/>
                <a:cs typeface="Calibri" pitchFamily="34" charset="-120"/>
              </a:rPr>
              <a:t>Learning rate</a:t>
            </a:r>
            <a:endParaRPr lang="en-US" sz="1150" dirty="0"/>
          </a:p>
        </p:txBody>
      </p:sp>
      <p:sp>
        <p:nvSpPr>
          <p:cNvPr id="14" name="Shape 12"/>
          <p:cNvSpPr/>
          <p:nvPr/>
        </p:nvSpPr>
        <p:spPr>
          <a:xfrm>
            <a:off x="7317029" y="2011680"/>
            <a:ext cx="2006194" cy="1371600"/>
          </a:xfrm>
          <a:prstGeom prst="roundRect">
            <a:avLst>
              <a:gd name="adj" fmla="val 7333"/>
            </a:avLst>
          </a:prstGeom>
          <a:solidFill>
            <a:srgbClr val="FFFFFF"/>
          </a:solidFill>
          <a:ln/>
          <a:effectLst>
            <a:outerShdw sx="100000" sy="100000" kx="0" ky="0" algn="bl" rotWithShape="0" blurRad="165100" dist="38100" dir="5400000">
              <a:srgbClr val="B7A6C9">
                <a:alpha val="26000"/>
              </a:srgbClr>
            </a:outerShdw>
          </a:effectLst>
        </p:spPr>
      </p:sp>
      <p:sp>
        <p:nvSpPr>
          <p:cNvPr id="15" name="Text 13"/>
          <p:cNvSpPr txBox="1"/>
          <p:nvPr/>
        </p:nvSpPr>
        <p:spPr>
          <a:xfrm>
            <a:off x="7317029" y="2231136"/>
            <a:ext cx="2006194" cy="621792"/>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2</a:t>
            </a:r>
            <a:endParaRPr lang="en-US" sz="2600" dirty="0"/>
          </a:p>
        </p:txBody>
      </p:sp>
      <p:sp>
        <p:nvSpPr>
          <p:cNvPr id="16" name="Text 14"/>
          <p:cNvSpPr txBox="1"/>
          <p:nvPr/>
        </p:nvSpPr>
        <p:spPr>
          <a:xfrm>
            <a:off x="7317029" y="2862072"/>
            <a:ext cx="2006194" cy="320040"/>
          </a:xfrm>
          <a:prstGeom prst="rect">
            <a:avLst/>
          </a:prstGeom>
          <a:noFill/>
          <a:ln/>
        </p:spPr>
        <p:txBody>
          <a:bodyPr wrap="square" lIns="0" tIns="0" rIns="0" bIns="0" rtlCol="0" anchor="ctr"/>
          <a:lstStyle/>
          <a:p>
            <a:pPr algn="ctr" indent="0" marL="0">
              <a:buNone/>
            </a:pPr>
            <a:r>
              <a:rPr lang="en-US" sz="1150" dirty="0">
                <a:solidFill>
                  <a:srgbClr val="6E6680"/>
                </a:solidFill>
                <a:latin typeface="Calibri" pitchFamily="34" charset="0"/>
                <a:ea typeface="Calibri" pitchFamily="34" charset="-122"/>
                <a:cs typeface="Calibri" pitchFamily="34" charset="-120"/>
              </a:rPr>
              <a:t>Epochs</a:t>
            </a:r>
            <a:endParaRPr lang="en-US" sz="1150" dirty="0"/>
          </a:p>
        </p:txBody>
      </p:sp>
      <p:sp>
        <p:nvSpPr>
          <p:cNvPr id="17" name="Shape 15"/>
          <p:cNvSpPr/>
          <p:nvPr/>
        </p:nvSpPr>
        <p:spPr>
          <a:xfrm>
            <a:off x="9542678" y="2011680"/>
            <a:ext cx="2006194" cy="1371600"/>
          </a:xfrm>
          <a:prstGeom prst="roundRect">
            <a:avLst>
              <a:gd name="adj" fmla="val 7333"/>
            </a:avLst>
          </a:prstGeom>
          <a:solidFill>
            <a:srgbClr val="FFFFFF"/>
          </a:solidFill>
          <a:ln/>
          <a:effectLst>
            <a:outerShdw sx="100000" sy="100000" kx="0" ky="0" algn="bl" rotWithShape="0" blurRad="165100" dist="38100" dir="5400000">
              <a:srgbClr val="B7A6C9">
                <a:alpha val="26000"/>
              </a:srgbClr>
            </a:outerShdw>
          </a:effectLst>
        </p:spPr>
      </p:sp>
      <p:sp>
        <p:nvSpPr>
          <p:cNvPr id="18" name="Text 16"/>
          <p:cNvSpPr txBox="1"/>
          <p:nvPr/>
        </p:nvSpPr>
        <p:spPr>
          <a:xfrm>
            <a:off x="9542678" y="2231136"/>
            <a:ext cx="2006194" cy="621792"/>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0.05</a:t>
            </a:r>
            <a:endParaRPr lang="en-US" sz="2600" dirty="0"/>
          </a:p>
        </p:txBody>
      </p:sp>
      <p:sp>
        <p:nvSpPr>
          <p:cNvPr id="19" name="Text 17"/>
          <p:cNvSpPr txBox="1"/>
          <p:nvPr/>
        </p:nvSpPr>
        <p:spPr>
          <a:xfrm>
            <a:off x="9542678" y="2862072"/>
            <a:ext cx="2006194" cy="320040"/>
          </a:xfrm>
          <a:prstGeom prst="rect">
            <a:avLst/>
          </a:prstGeom>
          <a:noFill/>
          <a:ln/>
        </p:spPr>
        <p:txBody>
          <a:bodyPr wrap="square" lIns="0" tIns="0" rIns="0" bIns="0" rtlCol="0" anchor="ctr"/>
          <a:lstStyle/>
          <a:p>
            <a:pPr algn="ctr" indent="0" marL="0">
              <a:buNone/>
            </a:pPr>
            <a:r>
              <a:rPr lang="en-US" sz="1150" dirty="0">
                <a:solidFill>
                  <a:srgbClr val="6E6680"/>
                </a:solidFill>
                <a:latin typeface="Calibri" pitchFamily="34" charset="0"/>
                <a:ea typeface="Calibri" pitchFamily="34" charset="-122"/>
                <a:cs typeface="Calibri" pitchFamily="34" charset="-120"/>
              </a:rPr>
              <a:t>Dropout</a:t>
            </a:r>
            <a:endParaRPr lang="en-US" sz="1150" dirty="0"/>
          </a:p>
        </p:txBody>
      </p:sp>
      <p:sp>
        <p:nvSpPr>
          <p:cNvPr id="20" name="Shape 18"/>
          <p:cNvSpPr/>
          <p:nvPr/>
        </p:nvSpPr>
        <p:spPr>
          <a:xfrm>
            <a:off x="640080" y="3611880"/>
            <a:ext cx="5257800" cy="2286000"/>
          </a:xfrm>
          <a:prstGeom prst="roundRect">
            <a:avLst>
              <a:gd name="adj" fmla="val 4400"/>
            </a:avLst>
          </a:prstGeom>
          <a:solidFill>
            <a:srgbClr val="FFFFFF"/>
          </a:solidFill>
          <a:ln/>
          <a:effectLst>
            <a:outerShdw sx="100000" sy="100000" kx="0" ky="0" algn="bl" rotWithShape="0" blurRad="165100" dist="38100" dir="5400000">
              <a:srgbClr val="B7A6C9">
                <a:alpha val="26000"/>
              </a:srgbClr>
            </a:outerShdw>
          </a:effectLst>
        </p:spPr>
      </p:sp>
      <p:sp>
        <p:nvSpPr>
          <p:cNvPr id="21" name="Text 19"/>
          <p:cNvSpPr txBox="1"/>
          <p:nvPr/>
        </p:nvSpPr>
        <p:spPr>
          <a:xfrm>
            <a:off x="914400" y="3822192"/>
            <a:ext cx="4754880" cy="365760"/>
          </a:xfrm>
          <a:prstGeom prst="rect">
            <a:avLst/>
          </a:prstGeom>
          <a:noFill/>
          <a:ln/>
        </p:spPr>
        <p:txBody>
          <a:bodyPr wrap="square" lIns="0" tIns="0" rIns="0" bIns="0" rtlCol="0" anchor="ctr"/>
          <a:lstStyle/>
          <a:p>
            <a:pPr indent="0" marL="0">
              <a:buNone/>
            </a:pPr>
            <a:r>
              <a:rPr lang="en-US" sz="1550" b="1" dirty="0">
                <a:solidFill>
                  <a:srgbClr val="C06A3C"/>
                </a:solidFill>
                <a:latin typeface="Calibri" pitchFamily="34" charset="0"/>
                <a:ea typeface="Calibri" pitchFamily="34" charset="-122"/>
                <a:cs typeface="Calibri" pitchFamily="34" charset="-120"/>
              </a:rPr>
              <a:t>Dataset — 507 Q&amp;A pairs</a:t>
            </a:r>
            <a:endParaRPr lang="en-US" sz="1550" dirty="0"/>
          </a:p>
        </p:txBody>
      </p:sp>
      <p:sp>
        <p:nvSpPr>
          <p:cNvPr id="22" name="Text 20"/>
          <p:cNvSpPr txBox="1"/>
          <p:nvPr/>
        </p:nvSpPr>
        <p:spPr>
          <a:xfrm>
            <a:off x="914400" y="4206240"/>
            <a:ext cx="4754880" cy="1600200"/>
          </a:xfrm>
          <a:prstGeom prst="rect">
            <a:avLst/>
          </a:prstGeom>
          <a:noFill/>
          <a:ln/>
        </p:spPr>
        <p:txBody>
          <a:bodyPr wrap="square" lIns="0" tIns="0" rIns="0" bIns="0" rtlCol="0" anchor="t"/>
          <a:lstStyle/>
          <a:p>
            <a:pPr indent="0" marL="0">
              <a:lnSpc>
                <a:spcPct val="103000"/>
              </a:lnSpc>
              <a:spcAft>
                <a:spcPts val="400"/>
              </a:spcAft>
              <a:buNone/>
            </a:pPr>
            <a:r>
              <a:rPr lang="en-US" sz="1300" b="1" dirty="0">
                <a:solidFill>
                  <a:srgbClr val="3D2352"/>
                </a:solidFill>
                <a:latin typeface="Calibri" pitchFamily="34" charset="0"/>
                <a:ea typeface="Calibri" pitchFamily="34" charset="-122"/>
                <a:cs typeface="Calibri" pitchFamily="34" charset="-120"/>
              </a:rPr>
              <a:t>483 grounded parenting pairs</a:t>
            </a:r>
            <a:endParaRPr lang="en-US" sz="1300" dirty="0"/>
          </a:p>
          <a:p>
            <a:pPr indent="0" marL="0">
              <a:lnSpc>
                <a:spcPct val="103000"/>
              </a:lnSpc>
              <a:spcAft>
                <a:spcPts val="400"/>
              </a:spcAft>
              <a:buNone/>
            </a:pPr>
            <a:r>
              <a:rPr lang="en-US" sz="1150" dirty="0">
                <a:solidFill>
                  <a:srgbClr val="6E6680"/>
                </a:solidFill>
                <a:latin typeface="Calibri" pitchFamily="34" charset="0"/>
                <a:ea typeface="Calibri" pitchFamily="34" charset="-122"/>
                <a:cs typeface="Calibri" pitchFamily="34" charset="-120"/>
              </a:rPr>
              <a:t>mined from the RAG source chunks, Egyptian Arabic</a:t>
            </a:r>
            <a:endParaRPr lang="en-US" sz="1300" dirty="0"/>
          </a:p>
          <a:p>
            <a:pPr indent="0" marL="0">
              <a:lnSpc>
                <a:spcPct val="103000"/>
              </a:lnSpc>
              <a:spcAft>
                <a:spcPts val="400"/>
              </a:spcAft>
              <a:buNone/>
            </a:pPr>
            <a:r>
              <a:rPr lang="en-US" sz="1300" b="1" dirty="0">
                <a:solidFill>
                  <a:srgbClr val="3D2352"/>
                </a:solidFill>
                <a:latin typeface="Calibri" pitchFamily="34" charset="0"/>
                <a:ea typeface="Calibri" pitchFamily="34" charset="-122"/>
                <a:cs typeface="Calibri" pitchFamily="34" charset="-120"/>
              </a:rPr>
              <a:t>24 safety / refusal pairs</a:t>
            </a:r>
            <a:endParaRPr lang="en-US" sz="1300" dirty="0"/>
          </a:p>
          <a:p>
            <a:pPr indent="0" marL="0">
              <a:lnSpc>
                <a:spcPct val="103000"/>
              </a:lnSpc>
              <a:spcAft>
                <a:spcPts val="400"/>
              </a:spcAft>
              <a:buNone/>
            </a:pPr>
            <a:r>
              <a:rPr lang="en-US" sz="1150" dirty="0">
                <a:solidFill>
                  <a:srgbClr val="6E6680"/>
                </a:solidFill>
                <a:latin typeface="Calibri" pitchFamily="34" charset="0"/>
                <a:ea typeface="Calibri" pitchFamily="34" charset="-122"/>
                <a:cs typeface="Calibri" pitchFamily="34" charset="-120"/>
              </a:rPr>
              <a:t>emergencies, dosing, myths, no-diagnosis, out-of-scope</a:t>
            </a:r>
            <a:endParaRPr lang="en-US" sz="1300" dirty="0"/>
          </a:p>
          <a:p>
            <a:pPr indent="0" marL="0">
              <a:lnSpc>
                <a:spcPct val="103000"/>
              </a:lnSpc>
              <a:spcAft>
                <a:spcPts val="400"/>
              </a:spcAft>
              <a:buNone/>
            </a:pPr>
            <a:r>
              <a:rPr lang="en-US" sz="1150" i="1" dirty="0">
                <a:solidFill>
                  <a:srgbClr val="5C4477"/>
                </a:solidFill>
                <a:latin typeface="Calibri" pitchFamily="34" charset="0"/>
                <a:ea typeface="Calibri" pitchFamily="34" charset="-122"/>
                <a:cs typeface="Calibri" pitchFamily="34" charset="-120"/>
              </a:rPr>
              <a:t>482 train  ·  25 val  ·  28 held-out test (0 overlap)</a:t>
            </a:r>
            <a:endParaRPr lang="en-US" sz="1300" dirty="0"/>
          </a:p>
        </p:txBody>
      </p:sp>
      <p:sp>
        <p:nvSpPr>
          <p:cNvPr id="23" name="Shape 21"/>
          <p:cNvSpPr/>
          <p:nvPr/>
        </p:nvSpPr>
        <p:spPr>
          <a:xfrm>
            <a:off x="6263640" y="3611880"/>
            <a:ext cx="5285232" cy="2286000"/>
          </a:xfrm>
          <a:prstGeom prst="roundRect">
            <a:avLst>
              <a:gd name="adj" fmla="val 4400"/>
            </a:avLst>
          </a:prstGeom>
          <a:solidFill>
            <a:srgbClr val="FBF6FB"/>
          </a:solidFill>
          <a:ln/>
          <a:effectLst>
            <a:outerShdw sx="100000" sy="100000" kx="0" ky="0" algn="bl" rotWithShape="0" blurRad="165100" dist="38100" dir="5400000">
              <a:srgbClr val="B7A6C9">
                <a:alpha val="26000"/>
              </a:srgbClr>
            </a:outerShdw>
          </a:effectLst>
        </p:spPr>
      </p:sp>
      <p:sp>
        <p:nvSpPr>
          <p:cNvPr id="24" name="Text 22"/>
          <p:cNvSpPr txBox="1"/>
          <p:nvPr/>
        </p:nvSpPr>
        <p:spPr>
          <a:xfrm>
            <a:off x="6537960" y="3822192"/>
            <a:ext cx="4754880" cy="365760"/>
          </a:xfrm>
          <a:prstGeom prst="rect">
            <a:avLst/>
          </a:prstGeom>
          <a:noFill/>
          <a:ln/>
        </p:spPr>
        <p:txBody>
          <a:bodyPr wrap="square" lIns="0" tIns="0" rIns="0" bIns="0" rtlCol="0" anchor="ctr"/>
          <a:lstStyle/>
          <a:p>
            <a:pPr indent="0" marL="0">
              <a:buNone/>
            </a:pPr>
            <a:r>
              <a:rPr lang="en-US" sz="1550" b="1" dirty="0">
                <a:solidFill>
                  <a:srgbClr val="C06A3C"/>
                </a:solidFill>
                <a:latin typeface="Calibri" pitchFamily="34" charset="0"/>
                <a:ea typeface="Calibri" pitchFamily="34" charset="-122"/>
                <a:cs typeface="Calibri" pitchFamily="34" charset="-120"/>
              </a:rPr>
              <a:t>Built to teach behaviour, not facts</a:t>
            </a:r>
            <a:endParaRPr lang="en-US" sz="1550" dirty="0"/>
          </a:p>
        </p:txBody>
      </p:sp>
      <p:sp>
        <p:nvSpPr>
          <p:cNvPr id="25" name="Text 23"/>
          <p:cNvSpPr txBox="1"/>
          <p:nvPr/>
        </p:nvSpPr>
        <p:spPr>
          <a:xfrm>
            <a:off x="6537960" y="4224528"/>
            <a:ext cx="4800600" cy="1554480"/>
          </a:xfrm>
          <a:prstGeom prst="rect">
            <a:avLst/>
          </a:prstGeom>
          <a:noFill/>
          <a:ln/>
        </p:spPr>
        <p:txBody>
          <a:bodyPr wrap="square" lIns="0" tIns="0" rIns="0" bIns="0" rtlCol="0" anchor="ctr"/>
          <a:lstStyle/>
          <a:p>
            <a:pPr marL="342900" indent="-342900">
              <a:lnSpc>
                <a:spcPct val="103000"/>
              </a:lnSpc>
              <a:spcAft>
                <a:spcPts val="700"/>
              </a:spcAft>
              <a:buSzPct val="100000"/>
              <a:buChar char="•"/>
            </a:pPr>
            <a:r>
              <a:rPr lang="en-US" sz="1250" dirty="0">
                <a:solidFill>
                  <a:srgbClr val="6E6680"/>
                </a:solidFill>
                <a:latin typeface="Calibri" pitchFamily="34" charset="0"/>
                <a:ea typeface="Calibri" pitchFamily="34" charset="-122"/>
                <a:cs typeface="Calibri" pitchFamily="34" charset="-120"/>
              </a:rPr>
              <a:t>Semi-synthetic + human-reviewed for tone</a:t>
            </a:r>
            <a:endParaRPr lang="en-US" sz="1250" dirty="0"/>
          </a:p>
          <a:p>
            <a:pPr marL="342900" indent="-342900">
              <a:lnSpc>
                <a:spcPct val="103000"/>
              </a:lnSpc>
              <a:spcAft>
                <a:spcPts val="700"/>
              </a:spcAft>
              <a:buSzPct val="100000"/>
              <a:buChar char="•"/>
            </a:pPr>
            <a:r>
              <a:rPr lang="en-US" sz="1250" dirty="0">
                <a:solidFill>
                  <a:srgbClr val="6E6680"/>
                </a:solidFill>
                <a:latin typeface="Calibri" pitchFamily="34" charset="0"/>
                <a:ea typeface="Calibri" pitchFamily="34" charset="-122"/>
                <a:cs typeface="Calibri" pitchFamily="34" charset="-120"/>
              </a:rPr>
              <a:t>Warm, non-judgmental, Egyptian-colloquial persona</a:t>
            </a:r>
            <a:endParaRPr lang="en-US" sz="1250" dirty="0"/>
          </a:p>
          <a:p>
            <a:pPr marL="342900" indent="-342900">
              <a:lnSpc>
                <a:spcPct val="103000"/>
              </a:lnSpc>
              <a:spcAft>
                <a:spcPts val="700"/>
              </a:spcAft>
              <a:buSzPct val="100000"/>
              <a:buChar char="•"/>
            </a:pPr>
            <a:r>
              <a:rPr lang="en-US" sz="1250" dirty="0">
                <a:solidFill>
                  <a:srgbClr val="6E6680"/>
                </a:solidFill>
                <a:latin typeface="Calibri" pitchFamily="34" charset="0"/>
                <a:ea typeface="Calibri" pitchFamily="34" charset="-122"/>
                <a:cs typeface="Calibri" pitchFamily="34" charset="-120"/>
              </a:rPr>
              <a:t>Overfit guards: low LR, 2 epochs, dropout 0.05</a:t>
            </a:r>
            <a:endParaRPr lang="en-US" sz="1250" dirty="0"/>
          </a:p>
          <a:p>
            <a:pPr marL="342900" indent="-342900">
              <a:lnSpc>
                <a:spcPct val="103000"/>
              </a:lnSpc>
              <a:spcAft>
                <a:spcPts val="700"/>
              </a:spcAft>
              <a:buSzPct val="100000"/>
              <a:buChar char="•"/>
            </a:pPr>
            <a:r>
              <a:rPr lang="en-US" sz="1250" dirty="0">
                <a:solidFill>
                  <a:srgbClr val="6E6680"/>
                </a:solidFill>
                <a:latin typeface="Calibri" pitchFamily="34" charset="0"/>
                <a:ea typeface="Calibri" pitchFamily="34" charset="-122"/>
                <a:cs typeface="Calibri" pitchFamily="34" charset="-120"/>
              </a:rPr>
              <a:t>train_on_responses_only · keep best by val loss</a:t>
            </a:r>
            <a:endParaRPr lang="en-US" sz="1250" dirty="0"/>
          </a:p>
        </p:txBody>
      </p:sp>
      <p:sp>
        <p:nvSpPr>
          <p:cNvPr id="26" name="Text 24"/>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Adapters train &lt; 1% of params on a free Kaggle T4.</a:t>
            </a:r>
            <a:endParaRPr lang="en-US" sz="1150" dirty="0"/>
          </a:p>
        </p:txBody>
      </p:sp>
      <p:sp>
        <p:nvSpPr>
          <p:cNvPr id="27" name="Text 25"/>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8 / 18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2 · OPTIMIZATION</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Small enough to run on a laptop</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Post-training quantization to GGUF (Q4_K_M) enables CPU-based inference beside the RAG stack.</a:t>
            </a:r>
            <a:endParaRPr lang="en-US" sz="1400" dirty="0"/>
          </a:p>
        </p:txBody>
      </p:sp>
      <p:sp>
        <p:nvSpPr>
          <p:cNvPr id="5" name="Shape 3"/>
          <p:cNvSpPr/>
          <p:nvPr/>
        </p:nvSpPr>
        <p:spPr>
          <a:xfrm>
            <a:off x="640080" y="2057400"/>
            <a:ext cx="3246120" cy="2468880"/>
          </a:xfrm>
          <a:prstGeom prst="roundRect">
            <a:avLst>
              <a:gd name="adj" fmla="val 4074"/>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2286000"/>
            <a:ext cx="3246120" cy="320040"/>
          </a:xfrm>
          <a:prstGeom prst="rect">
            <a:avLst/>
          </a:prstGeom>
          <a:noFill/>
          <a:ln/>
        </p:spPr>
        <p:txBody>
          <a:bodyPr wrap="square" lIns="0" tIns="0" rIns="0" bIns="0" rtlCol="0" anchor="ctr"/>
          <a:lstStyle/>
          <a:p>
            <a:pPr algn="ctr" indent="0" marL="0">
              <a:buNone/>
            </a:pPr>
            <a:r>
              <a:rPr lang="en-US" sz="1200" b="1" spc="200" kern="0" dirty="0">
                <a:solidFill>
                  <a:srgbClr val="9B93A8"/>
                </a:solidFill>
                <a:latin typeface="Calibri" pitchFamily="34" charset="0"/>
                <a:ea typeface="Calibri" pitchFamily="34" charset="-122"/>
                <a:cs typeface="Calibri" pitchFamily="34" charset="-120"/>
              </a:rPr>
              <a:t>BEFORE</a:t>
            </a:r>
            <a:endParaRPr lang="en-US" sz="1200" dirty="0"/>
          </a:p>
        </p:txBody>
      </p:sp>
      <p:sp>
        <p:nvSpPr>
          <p:cNvPr id="7" name="Text 5"/>
          <p:cNvSpPr txBox="1"/>
          <p:nvPr/>
        </p:nvSpPr>
        <p:spPr>
          <a:xfrm>
            <a:off x="640080" y="2651760"/>
            <a:ext cx="3246120" cy="822960"/>
          </a:xfrm>
          <a:prstGeom prst="rect">
            <a:avLst/>
          </a:prstGeom>
          <a:noFill/>
          <a:ln/>
        </p:spPr>
        <p:txBody>
          <a:bodyPr wrap="square" lIns="0" tIns="0" rIns="0" bIns="0" rtlCol="0" anchor="ctr"/>
          <a:lstStyle/>
          <a:p>
            <a:pPr algn="ctr" indent="0" marL="0">
              <a:buNone/>
            </a:pPr>
            <a:r>
              <a:rPr lang="en-US" sz="4400" b="1" dirty="0">
                <a:solidFill>
                  <a:srgbClr val="3D2352"/>
                </a:solidFill>
                <a:latin typeface="Cambria" pitchFamily="34" charset="0"/>
                <a:ea typeface="Cambria" pitchFamily="34" charset="-122"/>
                <a:cs typeface="Cambria" pitchFamily="34" charset="-120"/>
              </a:rPr>
              <a:t>8 GB</a:t>
            </a:r>
            <a:endParaRPr lang="en-US" sz="4400" dirty="0"/>
          </a:p>
        </p:txBody>
      </p:sp>
      <p:sp>
        <p:nvSpPr>
          <p:cNvPr id="8" name="Text 6"/>
          <p:cNvSpPr txBox="1"/>
          <p:nvPr/>
        </p:nvSpPr>
        <p:spPr>
          <a:xfrm>
            <a:off x="640080" y="3566160"/>
            <a:ext cx="3246120" cy="640080"/>
          </a:xfrm>
          <a:prstGeom prst="rect">
            <a:avLst/>
          </a:prstGeom>
          <a:noFill/>
          <a:ln/>
        </p:spPr>
        <p:txBody>
          <a:bodyPr wrap="square" lIns="0" tIns="0" rIns="0" bIns="0" rtlCol="0" anchor="ctr"/>
          <a:lstStyle/>
          <a:p>
            <a:pPr algn="ctr" indent="0" marL="0">
              <a:lnSpc>
                <a:spcPct val="105000"/>
              </a:lnSpc>
              <a:buNone/>
            </a:pPr>
            <a:r>
              <a:rPr lang="en-US" sz="1250" dirty="0">
                <a:solidFill>
                  <a:srgbClr val="6E6680"/>
                </a:solidFill>
                <a:latin typeface="Calibri" pitchFamily="34" charset="0"/>
                <a:ea typeface="Calibri" pitchFamily="34" charset="-122"/>
                <a:cs typeface="Calibri" pitchFamily="34" charset="-120"/>
              </a:rPr>
              <a:t>16-bit model · GPU-oriented</a:t>
            </a:r>
            <a:endParaRPr lang="en-US" sz="1250" dirty="0"/>
          </a:p>
        </p:txBody>
      </p:sp>
      <p:sp>
        <p:nvSpPr>
          <p:cNvPr id="9" name="Text 7"/>
          <p:cNvSpPr txBox="1"/>
          <p:nvPr/>
        </p:nvSpPr>
        <p:spPr>
          <a:xfrm>
            <a:off x="4041648" y="306324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663440" y="2057400"/>
            <a:ext cx="3246120" cy="2468880"/>
          </a:xfrm>
          <a:prstGeom prst="roundRect">
            <a:avLst>
              <a:gd name="adj" fmla="val 4074"/>
            </a:avLst>
          </a:prstGeom>
          <a:solidFill>
            <a:srgbClr val="FBF6FB"/>
          </a:solidFill>
          <a:ln/>
          <a:effectLst>
            <a:outerShdw sx="100000" sy="100000" kx="0" ky="0" algn="bl" rotWithShape="0" blurRad="165100" dist="38100" dir="5400000">
              <a:srgbClr val="B7A6C9">
                <a:alpha val="26000"/>
              </a:srgbClr>
            </a:outerShdw>
          </a:effectLst>
        </p:spPr>
      </p:sp>
      <p:sp>
        <p:nvSpPr>
          <p:cNvPr id="11" name="Text 9"/>
          <p:cNvSpPr txBox="1"/>
          <p:nvPr/>
        </p:nvSpPr>
        <p:spPr>
          <a:xfrm>
            <a:off x="4663440" y="2286000"/>
            <a:ext cx="3246120" cy="320040"/>
          </a:xfrm>
          <a:prstGeom prst="rect">
            <a:avLst/>
          </a:prstGeom>
          <a:noFill/>
          <a:ln/>
        </p:spPr>
        <p:txBody>
          <a:bodyPr wrap="square" lIns="0" tIns="0" rIns="0" bIns="0" rtlCol="0" anchor="ctr"/>
          <a:lstStyle/>
          <a:p>
            <a:pPr algn="ctr" indent="0" marL="0">
              <a:buNone/>
            </a:pPr>
            <a:r>
              <a:rPr lang="en-US" sz="1200" b="1" spc="200" kern="0" dirty="0">
                <a:solidFill>
                  <a:srgbClr val="C06A3C"/>
                </a:solidFill>
                <a:latin typeface="Calibri" pitchFamily="34" charset="0"/>
                <a:ea typeface="Calibri" pitchFamily="34" charset="-122"/>
                <a:cs typeface="Calibri" pitchFamily="34" charset="-120"/>
              </a:rPr>
              <a:t>AFTER</a:t>
            </a:r>
            <a:endParaRPr lang="en-US" sz="1200" dirty="0"/>
          </a:p>
        </p:txBody>
      </p:sp>
      <p:sp>
        <p:nvSpPr>
          <p:cNvPr id="12" name="Text 10"/>
          <p:cNvSpPr txBox="1"/>
          <p:nvPr/>
        </p:nvSpPr>
        <p:spPr>
          <a:xfrm>
            <a:off x="4663440" y="2651760"/>
            <a:ext cx="3246120" cy="822960"/>
          </a:xfrm>
          <a:prstGeom prst="rect">
            <a:avLst/>
          </a:prstGeom>
          <a:noFill/>
          <a:ln/>
        </p:spPr>
        <p:txBody>
          <a:bodyPr wrap="square" lIns="0" tIns="0" rIns="0" bIns="0" rtlCol="0" anchor="ctr"/>
          <a:lstStyle/>
          <a:p>
            <a:pPr algn="ctr" indent="0" marL="0">
              <a:buNone/>
            </a:pPr>
            <a:r>
              <a:rPr lang="en-US" sz="4400" b="1" dirty="0">
                <a:solidFill>
                  <a:srgbClr val="C06A3C"/>
                </a:solidFill>
                <a:latin typeface="Cambria" pitchFamily="34" charset="0"/>
                <a:ea typeface="Cambria" pitchFamily="34" charset="-122"/>
                <a:cs typeface="Cambria" pitchFamily="34" charset="-120"/>
              </a:rPr>
              <a:t>2.5 GB</a:t>
            </a:r>
            <a:endParaRPr lang="en-US" sz="4400" dirty="0"/>
          </a:p>
        </p:txBody>
      </p:sp>
      <p:sp>
        <p:nvSpPr>
          <p:cNvPr id="13" name="Text 11"/>
          <p:cNvSpPr txBox="1"/>
          <p:nvPr/>
        </p:nvSpPr>
        <p:spPr>
          <a:xfrm>
            <a:off x="4663440" y="3566160"/>
            <a:ext cx="3246120" cy="640080"/>
          </a:xfrm>
          <a:prstGeom prst="rect">
            <a:avLst/>
          </a:prstGeom>
          <a:noFill/>
          <a:ln/>
        </p:spPr>
        <p:txBody>
          <a:bodyPr wrap="square" lIns="0" tIns="0" rIns="0" bIns="0" rtlCol="0" anchor="ctr"/>
          <a:lstStyle/>
          <a:p>
            <a:pPr algn="ctr" indent="0" marL="0">
              <a:lnSpc>
                <a:spcPct val="105000"/>
              </a:lnSpc>
              <a:buNone/>
            </a:pPr>
            <a:r>
              <a:rPr lang="en-US" sz="1250" dirty="0">
                <a:solidFill>
                  <a:srgbClr val="6E6680"/>
                </a:solidFill>
                <a:latin typeface="Calibri" pitchFamily="34" charset="0"/>
                <a:ea typeface="Calibri" pitchFamily="34" charset="-122"/>
                <a:cs typeface="Calibri" pitchFamily="34" charset="-120"/>
              </a:rPr>
              <a:t>GGUF Q4_K_M · CPU-capable</a:t>
            </a:r>
            <a:endParaRPr lang="en-US" sz="1250" dirty="0"/>
          </a:p>
        </p:txBody>
      </p:sp>
      <p:sp>
        <p:nvSpPr>
          <p:cNvPr id="14" name="Shape 12"/>
          <p:cNvSpPr/>
          <p:nvPr/>
        </p:nvSpPr>
        <p:spPr>
          <a:xfrm>
            <a:off x="8275320" y="2057400"/>
            <a:ext cx="3273552" cy="749808"/>
          </a:xfrm>
          <a:prstGeom prst="roundRect">
            <a:avLst>
              <a:gd name="adj" fmla="val 13415"/>
            </a:avLst>
          </a:prstGeom>
          <a:solidFill>
            <a:srgbClr val="FFFFFF"/>
          </a:solidFill>
          <a:ln/>
          <a:effectLst>
            <a:outerShdw sx="100000" sy="100000" kx="0" ky="0" algn="bl" rotWithShape="0" blurRad="165100" dist="38100" dir="5400000">
              <a:srgbClr val="B7A6C9">
                <a:alpha val="26000"/>
              </a:srgbClr>
            </a:outerShdw>
          </a:effectLst>
        </p:spPr>
      </p:sp>
      <p:sp>
        <p:nvSpPr>
          <p:cNvPr id="15" name="Text 13"/>
          <p:cNvSpPr txBox="1"/>
          <p:nvPr/>
        </p:nvSpPr>
        <p:spPr>
          <a:xfrm>
            <a:off x="8458200" y="2057400"/>
            <a:ext cx="1051560" cy="749808"/>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~3×</a:t>
            </a:r>
            <a:endParaRPr lang="en-US" sz="2600" dirty="0"/>
          </a:p>
        </p:txBody>
      </p:sp>
      <p:sp>
        <p:nvSpPr>
          <p:cNvPr id="16" name="Text 14"/>
          <p:cNvSpPr txBox="1"/>
          <p:nvPr/>
        </p:nvSpPr>
        <p:spPr>
          <a:xfrm>
            <a:off x="9509760" y="2057400"/>
            <a:ext cx="1874520" cy="749808"/>
          </a:xfrm>
          <a:prstGeom prst="rect">
            <a:avLst/>
          </a:prstGeom>
          <a:noFill/>
          <a:ln/>
        </p:spPr>
        <p:txBody>
          <a:bodyPr wrap="square" lIns="0" tIns="0" rIns="0" bIns="0" rtlCol="0" anchor="ctr"/>
          <a:lstStyle/>
          <a:p>
            <a:pPr indent="0" marL="0">
              <a:lnSpc>
                <a:spcPct val="102000"/>
              </a:lnSpc>
              <a:buNone/>
            </a:pPr>
            <a:r>
              <a:rPr lang="en-US" sz="1200" dirty="0">
                <a:solidFill>
                  <a:srgbClr val="6E6680"/>
                </a:solidFill>
                <a:latin typeface="Calibri" pitchFamily="34" charset="0"/>
                <a:ea typeface="Calibri" pitchFamily="34" charset="-122"/>
                <a:cs typeface="Calibri" pitchFamily="34" charset="-120"/>
              </a:rPr>
              <a:t>smaller footprint</a:t>
            </a:r>
            <a:endParaRPr lang="en-US" sz="1200" dirty="0"/>
          </a:p>
        </p:txBody>
      </p:sp>
      <p:sp>
        <p:nvSpPr>
          <p:cNvPr id="17" name="Shape 15"/>
          <p:cNvSpPr/>
          <p:nvPr/>
        </p:nvSpPr>
        <p:spPr>
          <a:xfrm>
            <a:off x="8275320" y="2916936"/>
            <a:ext cx="3273552" cy="749808"/>
          </a:xfrm>
          <a:prstGeom prst="roundRect">
            <a:avLst>
              <a:gd name="adj" fmla="val 13415"/>
            </a:avLst>
          </a:prstGeom>
          <a:solidFill>
            <a:srgbClr val="FFFFFF"/>
          </a:solidFill>
          <a:ln/>
          <a:effectLst>
            <a:outerShdw sx="100000" sy="100000" kx="0" ky="0" algn="bl" rotWithShape="0" blurRad="165100" dist="38100" dir="5400000">
              <a:srgbClr val="B7A6C9">
                <a:alpha val="26000"/>
              </a:srgbClr>
            </a:outerShdw>
          </a:effectLst>
        </p:spPr>
      </p:sp>
      <p:sp>
        <p:nvSpPr>
          <p:cNvPr id="18" name="Text 16"/>
          <p:cNvSpPr txBox="1"/>
          <p:nvPr/>
        </p:nvSpPr>
        <p:spPr>
          <a:xfrm>
            <a:off x="8458200" y="2916936"/>
            <a:ext cx="1051560" cy="749808"/>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9.2</a:t>
            </a:r>
            <a:endParaRPr lang="en-US" sz="2600" dirty="0"/>
          </a:p>
        </p:txBody>
      </p:sp>
      <p:sp>
        <p:nvSpPr>
          <p:cNvPr id="19" name="Text 17"/>
          <p:cNvSpPr txBox="1"/>
          <p:nvPr/>
        </p:nvSpPr>
        <p:spPr>
          <a:xfrm>
            <a:off x="9509760" y="2916936"/>
            <a:ext cx="1874520" cy="749808"/>
          </a:xfrm>
          <a:prstGeom prst="rect">
            <a:avLst/>
          </a:prstGeom>
          <a:noFill/>
          <a:ln/>
        </p:spPr>
        <p:txBody>
          <a:bodyPr wrap="square" lIns="0" tIns="0" rIns="0" bIns="0" rtlCol="0" anchor="ctr"/>
          <a:lstStyle/>
          <a:p>
            <a:pPr indent="0" marL="0">
              <a:lnSpc>
                <a:spcPct val="102000"/>
              </a:lnSpc>
              <a:buNone/>
            </a:pPr>
            <a:r>
              <a:rPr lang="en-US" sz="1200" dirty="0">
                <a:solidFill>
                  <a:srgbClr val="6E6680"/>
                </a:solidFill>
                <a:latin typeface="Calibri" pitchFamily="34" charset="0"/>
                <a:ea typeface="Calibri" pitchFamily="34" charset="-122"/>
                <a:cs typeface="Calibri" pitchFamily="34" charset="-120"/>
              </a:rPr>
              <a:t>tokens / sec on laptop CPU</a:t>
            </a:r>
            <a:endParaRPr lang="en-US" sz="1200" dirty="0"/>
          </a:p>
        </p:txBody>
      </p:sp>
      <p:sp>
        <p:nvSpPr>
          <p:cNvPr id="20" name="Shape 18"/>
          <p:cNvSpPr/>
          <p:nvPr/>
        </p:nvSpPr>
        <p:spPr>
          <a:xfrm>
            <a:off x="8275320" y="3776472"/>
            <a:ext cx="3273552" cy="749808"/>
          </a:xfrm>
          <a:prstGeom prst="roundRect">
            <a:avLst>
              <a:gd name="adj" fmla="val 13415"/>
            </a:avLst>
          </a:prstGeom>
          <a:solidFill>
            <a:srgbClr val="FFFFFF"/>
          </a:solidFill>
          <a:ln/>
          <a:effectLst>
            <a:outerShdw sx="100000" sy="100000" kx="0" ky="0" algn="bl" rotWithShape="0" blurRad="165100" dist="38100" dir="5400000">
              <a:srgbClr val="B7A6C9">
                <a:alpha val="26000"/>
              </a:srgbClr>
            </a:outerShdw>
          </a:effectLst>
        </p:spPr>
      </p:sp>
      <p:sp>
        <p:nvSpPr>
          <p:cNvPr id="21" name="Text 19"/>
          <p:cNvSpPr txBox="1"/>
          <p:nvPr/>
        </p:nvSpPr>
        <p:spPr>
          <a:xfrm>
            <a:off x="8458200" y="3776472"/>
            <a:ext cx="1051560" cy="749808"/>
          </a:xfrm>
          <a:prstGeom prst="rect">
            <a:avLst/>
          </a:prstGeom>
          <a:noFill/>
          <a:ln/>
        </p:spPr>
        <p:txBody>
          <a:bodyPr wrap="square" lIns="0" tIns="0" rIns="0" bIns="0" rtlCol="0" anchor="ctr"/>
          <a:lstStyle/>
          <a:p>
            <a:pPr algn="ctr" indent="0" marL="0">
              <a:buNone/>
            </a:pPr>
            <a:r>
              <a:rPr lang="en-US" sz="2600" b="1" dirty="0">
                <a:solidFill>
                  <a:srgbClr val="C06A3C"/>
                </a:solidFill>
                <a:latin typeface="Cambria" pitchFamily="34" charset="0"/>
                <a:ea typeface="Cambria" pitchFamily="34" charset="-122"/>
                <a:cs typeface="Cambria" pitchFamily="34" charset="-120"/>
              </a:rPr>
              <a:t>0</a:t>
            </a:r>
            <a:endParaRPr lang="en-US" sz="2600" dirty="0"/>
          </a:p>
        </p:txBody>
      </p:sp>
      <p:sp>
        <p:nvSpPr>
          <p:cNvPr id="22" name="Text 20"/>
          <p:cNvSpPr txBox="1"/>
          <p:nvPr/>
        </p:nvSpPr>
        <p:spPr>
          <a:xfrm>
            <a:off x="9509760" y="3776472"/>
            <a:ext cx="1874520" cy="749808"/>
          </a:xfrm>
          <a:prstGeom prst="rect">
            <a:avLst/>
          </a:prstGeom>
          <a:noFill/>
          <a:ln/>
        </p:spPr>
        <p:txBody>
          <a:bodyPr wrap="square" lIns="0" tIns="0" rIns="0" bIns="0" rtlCol="0" anchor="ctr"/>
          <a:lstStyle/>
          <a:p>
            <a:pPr indent="0" marL="0">
              <a:lnSpc>
                <a:spcPct val="102000"/>
              </a:lnSpc>
              <a:buNone/>
            </a:pPr>
            <a:r>
              <a:rPr lang="en-US" sz="1200" dirty="0">
                <a:solidFill>
                  <a:srgbClr val="6E6680"/>
                </a:solidFill>
                <a:latin typeface="Calibri" pitchFamily="34" charset="0"/>
                <a:ea typeface="Calibri" pitchFamily="34" charset="-122"/>
                <a:cs typeface="Calibri" pitchFamily="34" charset="-120"/>
              </a:rPr>
              <a:t>GPU required at serving time</a:t>
            </a:r>
            <a:endParaRPr lang="en-US" sz="1200" dirty="0"/>
          </a:p>
        </p:txBody>
      </p:sp>
      <p:sp>
        <p:nvSpPr>
          <p:cNvPr id="23" name="Text 21"/>
          <p:cNvSpPr txBox="1"/>
          <p:nvPr/>
        </p:nvSpPr>
        <p:spPr>
          <a:xfrm>
            <a:off x="640080" y="4892040"/>
            <a:ext cx="10908792" cy="548640"/>
          </a:xfrm>
          <a:prstGeom prst="rect">
            <a:avLst/>
          </a:prstGeom>
          <a:noFill/>
          <a:ln/>
        </p:spPr>
        <p:txBody>
          <a:bodyPr wrap="square" lIns="0" tIns="0" rIns="0" bIns="0" rtlCol="0" anchor="ctr"/>
          <a:lstStyle/>
          <a:p>
            <a:pPr algn="ctr" indent="0" marL="0">
              <a:buNone/>
            </a:pPr>
            <a:r>
              <a:rPr lang="en-US" sz="1350" i="1" dirty="0">
                <a:solidFill>
                  <a:srgbClr val="5C4477"/>
                </a:solidFill>
                <a:latin typeface="Calibri" pitchFamily="34" charset="0"/>
                <a:ea typeface="Calibri" pitchFamily="34" charset="-122"/>
                <a:cs typeface="Calibri" pitchFamily="34" charset="-120"/>
              </a:rPr>
              <a:t>Quantization makes the fine-tuned model practical for local, private deployment.</a:t>
            </a:r>
            <a:endParaRPr lang="en-US" sz="1350" dirty="0"/>
          </a:p>
        </p:txBody>
      </p:sp>
      <p:sp>
        <p:nvSpPr>
          <p:cNvPr id="24" name="Text 22"/>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Same behaviour, one-third the size — runs where a GPU can't.</a:t>
            </a:r>
            <a:endParaRPr lang="en-US" sz="1150" dirty="0"/>
          </a:p>
        </p:txBody>
      </p:sp>
      <p:sp>
        <p:nvSpPr>
          <p:cNvPr id="25" name="Text 23"/>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9 / 18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PROMPT ENGINEERING · DEFENSE-IN-DEPTH</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Router → Generator → Verifier</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Three independent safety checks — the fine-tuned model is not the only line of defense.</a:t>
            </a:r>
            <a:endParaRPr lang="en-US" sz="1400" dirty="0"/>
          </a:p>
        </p:txBody>
      </p:sp>
      <p:sp>
        <p:nvSpPr>
          <p:cNvPr id="5" name="Shape 3"/>
          <p:cNvSpPr/>
          <p:nvPr/>
        </p:nvSpPr>
        <p:spPr>
          <a:xfrm>
            <a:off x="640080" y="2103120"/>
            <a:ext cx="3456432" cy="2606040"/>
          </a:xfrm>
          <a:prstGeom prst="roundRect">
            <a:avLst>
              <a:gd name="adj" fmla="val 3860"/>
            </a:avLst>
          </a:prstGeom>
          <a:solidFill>
            <a:srgbClr val="FFFFFF"/>
          </a:solidFill>
          <a:ln/>
          <a:effectLst>
            <a:outerShdw sx="100000" sy="100000" kx="0" ky="0" algn="bl" rotWithShape="0" blurRad="165100" dist="38100" dir="5400000">
              <a:srgbClr val="B7A6C9">
                <a:alpha val="26000"/>
              </a:srgbClr>
            </a:outerShdw>
          </a:effectLst>
        </p:spPr>
      </p:sp>
      <p:sp>
        <p:nvSpPr>
          <p:cNvPr id="6" name="Shape 4"/>
          <p:cNvSpPr/>
          <p:nvPr/>
        </p:nvSpPr>
        <p:spPr>
          <a:xfrm>
            <a:off x="941832" y="2377440"/>
            <a:ext cx="512064" cy="512064"/>
          </a:xfrm>
          <a:prstGeom prst="ellipse">
            <a:avLst/>
          </a:prstGeom>
          <a:solidFill>
            <a:srgbClr val="FFFFFF"/>
          </a:solidFill>
          <a:ln w="22225">
            <a:solidFill>
              <a:srgbClr val="D9824F"/>
            </a:solidFill>
            <a:prstDash val="solid"/>
          </a:ln>
        </p:spPr>
      </p:sp>
      <p:sp>
        <p:nvSpPr>
          <p:cNvPr id="7" name="Text 5"/>
          <p:cNvSpPr txBox="1"/>
          <p:nvPr/>
        </p:nvSpPr>
        <p:spPr>
          <a:xfrm>
            <a:off x="941832" y="2377440"/>
            <a:ext cx="512064" cy="512064"/>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414016"/>
            <a:ext cx="2359152" cy="457200"/>
          </a:xfrm>
          <a:prstGeom prst="rect">
            <a:avLst/>
          </a:prstGeom>
          <a:noFill/>
          <a:ln/>
        </p:spPr>
        <p:txBody>
          <a:bodyPr wrap="square" lIns="0" tIns="0" rIns="0" bIns="0" rtlCol="0" anchor="ctr"/>
          <a:lstStyle/>
          <a:p>
            <a:pPr indent="0" marL="0">
              <a:buNone/>
            </a:pPr>
            <a:r>
              <a:rPr lang="en-US" sz="2000" b="1" dirty="0">
                <a:solidFill>
                  <a:srgbClr val="3D2352"/>
                </a:solidFill>
                <a:latin typeface="Cambria" pitchFamily="34" charset="0"/>
                <a:ea typeface="Cambria" pitchFamily="34" charset="-122"/>
                <a:cs typeface="Cambria" pitchFamily="34" charset="-120"/>
              </a:rPr>
              <a:t>Router</a:t>
            </a:r>
            <a:endParaRPr lang="en-US" sz="2000" dirty="0"/>
          </a:p>
        </p:txBody>
      </p:sp>
      <p:sp>
        <p:nvSpPr>
          <p:cNvPr id="9" name="Text 7"/>
          <p:cNvSpPr txBox="1"/>
          <p:nvPr/>
        </p:nvSpPr>
        <p:spPr>
          <a:xfrm>
            <a:off x="969264" y="3063240"/>
            <a:ext cx="2816352" cy="365760"/>
          </a:xfrm>
          <a:prstGeom prst="rect">
            <a:avLst/>
          </a:prstGeom>
          <a:noFill/>
          <a:ln/>
        </p:spPr>
        <p:txBody>
          <a:bodyPr wrap="square" lIns="0" tIns="0" rIns="0" bIns="0" rtlCol="0" anchor="ctr"/>
          <a:lstStyle/>
          <a:p>
            <a:pPr indent="0" marL="0">
              <a:buNone/>
            </a:pPr>
            <a:r>
              <a:rPr lang="en-US" sz="1250" b="1" dirty="0">
                <a:solidFill>
                  <a:srgbClr val="C06A3C"/>
                </a:solidFill>
                <a:latin typeface="Calibri" pitchFamily="34" charset="0"/>
                <a:ea typeface="Calibri" pitchFamily="34" charset="-122"/>
                <a:cs typeface="Calibri" pitchFamily="34" charset="-120"/>
              </a:rPr>
              <a:t>Zero-shot classification</a:t>
            </a:r>
            <a:endParaRPr lang="en-US" sz="1250" dirty="0"/>
          </a:p>
        </p:txBody>
      </p:sp>
      <p:sp>
        <p:nvSpPr>
          <p:cNvPr id="10" name="Text 8"/>
          <p:cNvSpPr txBox="1"/>
          <p:nvPr/>
        </p:nvSpPr>
        <p:spPr>
          <a:xfrm>
            <a:off x="969264" y="3474720"/>
            <a:ext cx="2798064" cy="1097280"/>
          </a:xfrm>
          <a:prstGeom prst="rect">
            <a:avLst/>
          </a:prstGeom>
          <a:noFill/>
          <a:ln/>
        </p:spPr>
        <p:txBody>
          <a:bodyPr wrap="square" lIns="0" tIns="0" rIns="0" bIns="0" rtlCol="0" anchor="ctr"/>
          <a:lstStyle/>
          <a:p>
            <a:pPr indent="0" marL="0">
              <a:lnSpc>
                <a:spcPct val="110000"/>
              </a:lnSpc>
              <a:buNone/>
            </a:pPr>
            <a:r>
              <a:rPr lang="en-US" sz="1200" dirty="0">
                <a:solidFill>
                  <a:srgbClr val="6E6680"/>
                </a:solidFill>
                <a:latin typeface="Calibri" pitchFamily="34" charset="0"/>
                <a:ea typeface="Calibri" pitchFamily="34" charset="-122"/>
                <a:cs typeface="Calibri" pitchFamily="34" charset="-120"/>
              </a:rPr>
              <a:t>Tags BEHAVIORAL / MEDICAL / MIXED / OUT_OF_SCOPE before anything runs — and skips retrieval and generation entirely for medical or out-of-scope questions.</a:t>
            </a:r>
            <a:endParaRPr lang="en-US" sz="1200" dirty="0"/>
          </a:p>
        </p:txBody>
      </p:sp>
      <p:sp>
        <p:nvSpPr>
          <p:cNvPr id="11" name="Text 9"/>
          <p:cNvSpPr txBox="1"/>
          <p:nvPr/>
        </p:nvSpPr>
        <p:spPr>
          <a:xfrm>
            <a:off x="4000500" y="317754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361688" y="2103120"/>
            <a:ext cx="3456432" cy="2606040"/>
          </a:xfrm>
          <a:prstGeom prst="roundRect">
            <a:avLst>
              <a:gd name="adj" fmla="val 3860"/>
            </a:avLst>
          </a:prstGeom>
          <a:solidFill>
            <a:srgbClr val="FFFFFF"/>
          </a:solidFill>
          <a:ln/>
          <a:effectLst>
            <a:outerShdw sx="100000" sy="100000" kx="0" ky="0" algn="bl" rotWithShape="0" blurRad="165100" dist="38100" dir="5400000">
              <a:srgbClr val="B7A6C9">
                <a:alpha val="26000"/>
              </a:srgbClr>
            </a:outerShdw>
          </a:effectLst>
        </p:spPr>
      </p:sp>
      <p:sp>
        <p:nvSpPr>
          <p:cNvPr id="13" name="Shape 11"/>
          <p:cNvSpPr/>
          <p:nvPr/>
        </p:nvSpPr>
        <p:spPr>
          <a:xfrm>
            <a:off x="4663440" y="2377440"/>
            <a:ext cx="512064" cy="512064"/>
          </a:xfrm>
          <a:prstGeom prst="ellipse">
            <a:avLst/>
          </a:prstGeom>
          <a:solidFill>
            <a:srgbClr val="FFFFFF"/>
          </a:solidFill>
          <a:ln w="22225">
            <a:solidFill>
              <a:srgbClr val="D9824F"/>
            </a:solidFill>
            <a:prstDash val="solid"/>
          </a:ln>
        </p:spPr>
      </p:sp>
      <p:sp>
        <p:nvSpPr>
          <p:cNvPr id="14" name="Text 12"/>
          <p:cNvSpPr txBox="1"/>
          <p:nvPr/>
        </p:nvSpPr>
        <p:spPr>
          <a:xfrm>
            <a:off x="4663440" y="2377440"/>
            <a:ext cx="512064" cy="512064"/>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5321808" y="2414016"/>
            <a:ext cx="2359152" cy="457200"/>
          </a:xfrm>
          <a:prstGeom prst="rect">
            <a:avLst/>
          </a:prstGeom>
          <a:noFill/>
          <a:ln/>
        </p:spPr>
        <p:txBody>
          <a:bodyPr wrap="square" lIns="0" tIns="0" rIns="0" bIns="0" rtlCol="0" anchor="ctr"/>
          <a:lstStyle/>
          <a:p>
            <a:pPr indent="0" marL="0">
              <a:buNone/>
            </a:pPr>
            <a:r>
              <a:rPr lang="en-US" sz="2000" b="1" dirty="0">
                <a:solidFill>
                  <a:srgbClr val="3D2352"/>
                </a:solidFill>
                <a:latin typeface="Cambria" pitchFamily="34" charset="0"/>
                <a:ea typeface="Cambria" pitchFamily="34" charset="-122"/>
                <a:cs typeface="Cambria" pitchFamily="34" charset="-120"/>
              </a:rPr>
              <a:t>Generator</a:t>
            </a:r>
            <a:endParaRPr lang="en-US" sz="2000" dirty="0"/>
          </a:p>
        </p:txBody>
      </p:sp>
      <p:sp>
        <p:nvSpPr>
          <p:cNvPr id="16" name="Text 14"/>
          <p:cNvSpPr txBox="1"/>
          <p:nvPr/>
        </p:nvSpPr>
        <p:spPr>
          <a:xfrm>
            <a:off x="4690872" y="3063240"/>
            <a:ext cx="2816352" cy="365760"/>
          </a:xfrm>
          <a:prstGeom prst="rect">
            <a:avLst/>
          </a:prstGeom>
          <a:noFill/>
          <a:ln/>
        </p:spPr>
        <p:txBody>
          <a:bodyPr wrap="square" lIns="0" tIns="0" rIns="0" bIns="0" rtlCol="0" anchor="ctr"/>
          <a:lstStyle/>
          <a:p>
            <a:pPr indent="0" marL="0">
              <a:buNone/>
            </a:pPr>
            <a:r>
              <a:rPr lang="en-US" sz="1250" b="1" dirty="0">
                <a:solidFill>
                  <a:srgbClr val="C06A3C"/>
                </a:solidFill>
                <a:latin typeface="Calibri" pitchFamily="34" charset="0"/>
                <a:ea typeface="Calibri" pitchFamily="34" charset="-122"/>
                <a:cs typeface="Calibri" pitchFamily="34" charset="-120"/>
              </a:rPr>
              <a:t>Role + Few-shot + Chain-of-thought</a:t>
            </a:r>
            <a:endParaRPr lang="en-US" sz="1250" dirty="0"/>
          </a:p>
        </p:txBody>
      </p:sp>
      <p:sp>
        <p:nvSpPr>
          <p:cNvPr id="17" name="Text 15"/>
          <p:cNvSpPr txBox="1"/>
          <p:nvPr/>
        </p:nvSpPr>
        <p:spPr>
          <a:xfrm>
            <a:off x="4690872" y="3474720"/>
            <a:ext cx="2798064" cy="1097280"/>
          </a:xfrm>
          <a:prstGeom prst="rect">
            <a:avLst/>
          </a:prstGeom>
          <a:noFill/>
          <a:ln/>
        </p:spPr>
        <p:txBody>
          <a:bodyPr wrap="square" lIns="0" tIns="0" rIns="0" bIns="0" rtlCol="0" anchor="ctr"/>
          <a:lstStyle/>
          <a:p>
            <a:pPr indent="0" marL="0">
              <a:lnSpc>
                <a:spcPct val="110000"/>
              </a:lnSpc>
              <a:buNone/>
            </a:pPr>
            <a:r>
              <a:rPr lang="en-US" sz="1200" dirty="0">
                <a:solidFill>
                  <a:srgbClr val="6E6680"/>
                </a:solidFill>
                <a:latin typeface="Calibri" pitchFamily="34" charset="0"/>
                <a:ea typeface="Calibri" pitchFamily="34" charset="-122"/>
                <a:cs typeface="Calibri" pitchFamily="34" charset="-120"/>
              </a:rPr>
              <a:t>A silent 5-step reasoning check (relevance, age-fit, safety) runs before the model writes. Only the final answer is ever shown to the user.</a:t>
            </a:r>
            <a:endParaRPr lang="en-US" sz="1200" dirty="0"/>
          </a:p>
        </p:txBody>
      </p:sp>
      <p:sp>
        <p:nvSpPr>
          <p:cNvPr id="18" name="Text 16"/>
          <p:cNvSpPr txBox="1"/>
          <p:nvPr/>
        </p:nvSpPr>
        <p:spPr>
          <a:xfrm>
            <a:off x="7722108" y="317754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8083296" y="2103120"/>
            <a:ext cx="3456432" cy="2606040"/>
          </a:xfrm>
          <a:prstGeom prst="roundRect">
            <a:avLst>
              <a:gd name="adj" fmla="val 3860"/>
            </a:avLst>
          </a:prstGeom>
          <a:solidFill>
            <a:srgbClr val="FFFFFF"/>
          </a:solidFill>
          <a:ln/>
          <a:effectLst>
            <a:outerShdw sx="100000" sy="100000" kx="0" ky="0" algn="bl" rotWithShape="0" blurRad="165100" dist="38100" dir="5400000">
              <a:srgbClr val="B7A6C9">
                <a:alpha val="26000"/>
              </a:srgbClr>
            </a:outerShdw>
          </a:effectLst>
        </p:spPr>
      </p:sp>
      <p:sp>
        <p:nvSpPr>
          <p:cNvPr id="20" name="Shape 18"/>
          <p:cNvSpPr/>
          <p:nvPr/>
        </p:nvSpPr>
        <p:spPr>
          <a:xfrm>
            <a:off x="8385048" y="2377440"/>
            <a:ext cx="512064" cy="512064"/>
          </a:xfrm>
          <a:prstGeom prst="ellipse">
            <a:avLst/>
          </a:prstGeom>
          <a:solidFill>
            <a:srgbClr val="FFFFFF"/>
          </a:solidFill>
          <a:ln w="22225">
            <a:solidFill>
              <a:srgbClr val="D9824F"/>
            </a:solidFill>
            <a:prstDash val="solid"/>
          </a:ln>
        </p:spPr>
      </p:sp>
      <p:sp>
        <p:nvSpPr>
          <p:cNvPr id="21" name="Text 19"/>
          <p:cNvSpPr txBox="1"/>
          <p:nvPr/>
        </p:nvSpPr>
        <p:spPr>
          <a:xfrm>
            <a:off x="8385048" y="2377440"/>
            <a:ext cx="512064" cy="512064"/>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3</a:t>
            </a:r>
            <a:endParaRPr lang="en-US" sz="1800" dirty="0"/>
          </a:p>
        </p:txBody>
      </p:sp>
      <p:sp>
        <p:nvSpPr>
          <p:cNvPr id="22" name="Text 20"/>
          <p:cNvSpPr txBox="1"/>
          <p:nvPr/>
        </p:nvSpPr>
        <p:spPr>
          <a:xfrm>
            <a:off x="9043416" y="2414016"/>
            <a:ext cx="2359152" cy="457200"/>
          </a:xfrm>
          <a:prstGeom prst="rect">
            <a:avLst/>
          </a:prstGeom>
          <a:noFill/>
          <a:ln/>
        </p:spPr>
        <p:txBody>
          <a:bodyPr wrap="square" lIns="0" tIns="0" rIns="0" bIns="0" rtlCol="0" anchor="ctr"/>
          <a:lstStyle/>
          <a:p>
            <a:pPr indent="0" marL="0">
              <a:buNone/>
            </a:pPr>
            <a:r>
              <a:rPr lang="en-US" sz="2000" b="1" dirty="0">
                <a:solidFill>
                  <a:srgbClr val="3D2352"/>
                </a:solidFill>
                <a:latin typeface="Cambria" pitchFamily="34" charset="0"/>
                <a:ea typeface="Cambria" pitchFamily="34" charset="-122"/>
                <a:cs typeface="Cambria" pitchFamily="34" charset="-120"/>
              </a:rPr>
              <a:t>Verifier</a:t>
            </a:r>
            <a:endParaRPr lang="en-US" sz="2000" dirty="0"/>
          </a:p>
        </p:txBody>
      </p:sp>
      <p:sp>
        <p:nvSpPr>
          <p:cNvPr id="23" name="Text 21"/>
          <p:cNvSpPr txBox="1"/>
          <p:nvPr/>
        </p:nvSpPr>
        <p:spPr>
          <a:xfrm>
            <a:off x="8412480" y="3063240"/>
            <a:ext cx="2816352" cy="365760"/>
          </a:xfrm>
          <a:prstGeom prst="rect">
            <a:avLst/>
          </a:prstGeom>
          <a:noFill/>
          <a:ln/>
        </p:spPr>
        <p:txBody>
          <a:bodyPr wrap="square" lIns="0" tIns="0" rIns="0" bIns="0" rtlCol="0" anchor="ctr"/>
          <a:lstStyle/>
          <a:p>
            <a:pPr indent="0" marL="0">
              <a:buNone/>
            </a:pPr>
            <a:r>
              <a:rPr lang="en-US" sz="1250" b="1" dirty="0">
                <a:solidFill>
                  <a:srgbClr val="C06A3C"/>
                </a:solidFill>
                <a:latin typeface="Calibri" pitchFamily="34" charset="0"/>
                <a:ea typeface="Calibri" pitchFamily="34" charset="-122"/>
                <a:cs typeface="Calibri" pitchFamily="34" charset="-120"/>
              </a:rPr>
              <a:t>Chain-of-verification</a:t>
            </a:r>
            <a:endParaRPr lang="en-US" sz="1250" dirty="0"/>
          </a:p>
        </p:txBody>
      </p:sp>
      <p:sp>
        <p:nvSpPr>
          <p:cNvPr id="24" name="Text 22"/>
          <p:cNvSpPr txBox="1"/>
          <p:nvPr/>
        </p:nvSpPr>
        <p:spPr>
          <a:xfrm>
            <a:off x="8412480" y="3474720"/>
            <a:ext cx="2798064" cy="1097280"/>
          </a:xfrm>
          <a:prstGeom prst="rect">
            <a:avLst/>
          </a:prstGeom>
          <a:noFill/>
          <a:ln/>
        </p:spPr>
        <p:txBody>
          <a:bodyPr wrap="square" lIns="0" tIns="0" rIns="0" bIns="0" rtlCol="0" anchor="ctr"/>
          <a:lstStyle/>
          <a:p>
            <a:pPr indent="0" marL="0">
              <a:lnSpc>
                <a:spcPct val="110000"/>
              </a:lnSpc>
              <a:buNone/>
            </a:pPr>
            <a:r>
              <a:rPr lang="en-US" sz="1200" dirty="0">
                <a:solidFill>
                  <a:srgbClr val="6E6680"/>
                </a:solidFill>
                <a:latin typeface="Calibri" pitchFamily="34" charset="0"/>
                <a:ea typeface="Calibri" pitchFamily="34" charset="-122"/>
                <a:cs typeface="Calibri" pitchFamily="34" charset="-120"/>
              </a:rPr>
              <a:t>An independent second pass — not the same call reflecting on itself — checks grounding and medical safety before the answer ships.</a:t>
            </a:r>
            <a:endParaRPr lang="en-US" sz="1200" dirty="0"/>
          </a:p>
        </p:txBody>
      </p:sp>
      <p:sp>
        <p:nvSpPr>
          <p:cNvPr id="25" name="Shape 23"/>
          <p:cNvSpPr/>
          <p:nvPr/>
        </p:nvSpPr>
        <p:spPr>
          <a:xfrm>
            <a:off x="640080" y="4937760"/>
            <a:ext cx="10908792" cy="932688"/>
          </a:xfrm>
          <a:prstGeom prst="roundRect">
            <a:avLst>
              <a:gd name="adj" fmla="val 10784"/>
            </a:avLst>
          </a:prstGeom>
          <a:solidFill>
            <a:srgbClr val="F7EEE9"/>
          </a:solidFill>
          <a:ln/>
          <a:effectLst>
            <a:outerShdw sx="100000" sy="100000" kx="0" ky="0" algn="bl" rotWithShape="0" blurRad="165100" dist="38100" dir="5400000">
              <a:srgbClr val="B7A6C9">
                <a:alpha val="26000"/>
              </a:srgbClr>
            </a:outerShdw>
          </a:effectLst>
        </p:spPr>
      </p:sp>
      <p:sp>
        <p:nvSpPr>
          <p:cNvPr id="26" name="Text 24"/>
          <p:cNvSpPr txBox="1"/>
          <p:nvPr/>
        </p:nvSpPr>
        <p:spPr>
          <a:xfrm>
            <a:off x="914400" y="5029200"/>
            <a:ext cx="10332720" cy="749808"/>
          </a:xfrm>
          <a:prstGeom prst="rect">
            <a:avLst/>
          </a:prstGeom>
          <a:noFill/>
          <a:ln/>
        </p:spPr>
        <p:txBody>
          <a:bodyPr wrap="square" lIns="0" tIns="0" rIns="0" bIns="0" rtlCol="0" anchor="ctr"/>
          <a:lstStyle/>
          <a:p>
            <a:pPr indent="0" marL="0">
              <a:lnSpc>
                <a:spcPct val="106000"/>
              </a:lnSpc>
              <a:buNone/>
            </a:pPr>
            <a:r>
              <a:rPr lang="en-US" sz="1350" b="1" dirty="0">
                <a:solidFill>
                  <a:srgbClr val="C06A3C"/>
                </a:solidFill>
                <a:latin typeface="Calibri" pitchFamily="34" charset="0"/>
                <a:ea typeface="Calibri" pitchFamily="34" charset="-122"/>
                <a:cs typeface="Calibri" pitchFamily="34" charset="-120"/>
              </a:rPr>
              <a:t>Defense-in-depth.  </a:t>
            </a:r>
            <a:pPr indent="0" marL="0">
              <a:lnSpc>
                <a:spcPct val="106000"/>
              </a:lnSpc>
              <a:buNone/>
            </a:pPr>
            <a:r>
              <a:rPr lang="en-US" sz="1250" dirty="0">
                <a:solidFill>
                  <a:srgbClr val="6E6680"/>
                </a:solidFill>
                <a:latin typeface="Calibri" pitchFamily="34" charset="0"/>
                <a:ea typeface="Calibri" pitchFamily="34" charset="-122"/>
                <a:cs typeface="Calibri" pitchFamily="34" charset="-120"/>
              </a:rPr>
              <a:t>The fine-tuned model already carries safety training (24 of 507 pairs). The router and verifier are two independent checks layered on top — each catches what the other might miss.</a:t>
            </a:r>
            <a:endParaRPr lang="en-US" sz="1350" dirty="0"/>
          </a:p>
        </p:txBody>
      </p:sp>
      <p:sp>
        <p:nvSpPr>
          <p:cNvPr id="27" name="Text 25"/>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The safety gate lives here — before retrieval, before generation.</a:t>
            </a:r>
            <a:endParaRPr lang="en-US" sz="1150" dirty="0"/>
          </a:p>
        </p:txBody>
      </p:sp>
      <p:sp>
        <p:nvSpPr>
          <p:cNvPr id="28" name="Text 26"/>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10 / 18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PROMPT ENGINEERING · TECHNIQUES</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Six named techniques, each a distinct job</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Chosen for what each one does — not stacked for variety.</a:t>
            </a:r>
            <a:endParaRPr lang="en-US" sz="1400" dirty="0"/>
          </a:p>
        </p:txBody>
      </p:sp>
      <p:sp>
        <p:nvSpPr>
          <p:cNvPr id="5" name="Shape 3"/>
          <p:cNvSpPr/>
          <p:nvPr/>
        </p:nvSpPr>
        <p:spPr>
          <a:xfrm>
            <a:off x="640080" y="1828800"/>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6" name="Shape 4"/>
          <p:cNvSpPr/>
          <p:nvPr/>
        </p:nvSpPr>
        <p:spPr>
          <a:xfrm>
            <a:off x="896112" y="2231136"/>
            <a:ext cx="475488" cy="475488"/>
          </a:xfrm>
          <a:prstGeom prst="ellipse">
            <a:avLst/>
          </a:prstGeom>
          <a:solidFill>
            <a:srgbClr val="FFFFFF"/>
          </a:solidFill>
          <a:ln w="22225">
            <a:solidFill>
              <a:srgbClr val="D9824F"/>
            </a:solidFill>
            <a:prstDash val="solid"/>
          </a:ln>
        </p:spPr>
      </p:sp>
      <p:sp>
        <p:nvSpPr>
          <p:cNvPr id="7" name="Text 5"/>
          <p:cNvSpPr txBox="1"/>
          <p:nvPr/>
        </p:nvSpPr>
        <p:spPr>
          <a:xfrm>
            <a:off x="896112" y="2231136"/>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600200" y="1975104"/>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Role / persona prompting</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Defines the assistant's identity and warm tone before anything else.</a:t>
            </a:r>
            <a:endParaRPr lang="en-US" sz="1400" dirty="0"/>
          </a:p>
        </p:txBody>
      </p:sp>
      <p:sp>
        <p:nvSpPr>
          <p:cNvPr id="9" name="Shape 7"/>
          <p:cNvSpPr/>
          <p:nvPr/>
        </p:nvSpPr>
        <p:spPr>
          <a:xfrm>
            <a:off x="6263640" y="1828800"/>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10" name="Shape 8"/>
          <p:cNvSpPr/>
          <p:nvPr/>
        </p:nvSpPr>
        <p:spPr>
          <a:xfrm>
            <a:off x="6519672" y="2231136"/>
            <a:ext cx="475488" cy="475488"/>
          </a:xfrm>
          <a:prstGeom prst="ellipse">
            <a:avLst/>
          </a:prstGeom>
          <a:solidFill>
            <a:srgbClr val="FFFFFF"/>
          </a:solidFill>
          <a:ln w="22225">
            <a:solidFill>
              <a:srgbClr val="D9824F"/>
            </a:solidFill>
            <a:prstDash val="solid"/>
          </a:ln>
        </p:spPr>
      </p:sp>
      <p:sp>
        <p:nvSpPr>
          <p:cNvPr id="11" name="Text 9"/>
          <p:cNvSpPr txBox="1"/>
          <p:nvPr/>
        </p:nvSpPr>
        <p:spPr>
          <a:xfrm>
            <a:off x="6519672" y="2231136"/>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223760" y="1975104"/>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Zero-shot classification</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The router tags intent with no examples needed — fast, cheap triage.</a:t>
            </a:r>
            <a:endParaRPr lang="en-US" sz="1400" dirty="0"/>
          </a:p>
        </p:txBody>
      </p:sp>
      <p:sp>
        <p:nvSpPr>
          <p:cNvPr id="13" name="Shape 11"/>
          <p:cNvSpPr/>
          <p:nvPr/>
        </p:nvSpPr>
        <p:spPr>
          <a:xfrm>
            <a:off x="640080" y="3218688"/>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14" name="Shape 12"/>
          <p:cNvSpPr/>
          <p:nvPr/>
        </p:nvSpPr>
        <p:spPr>
          <a:xfrm>
            <a:off x="896112" y="3621024"/>
            <a:ext cx="475488" cy="475488"/>
          </a:xfrm>
          <a:prstGeom prst="ellipse">
            <a:avLst/>
          </a:prstGeom>
          <a:solidFill>
            <a:srgbClr val="FFFFFF"/>
          </a:solidFill>
          <a:ln w="22225">
            <a:solidFill>
              <a:srgbClr val="D9824F"/>
            </a:solidFill>
            <a:prstDash val="solid"/>
          </a:ln>
        </p:spPr>
      </p:sp>
      <p:sp>
        <p:nvSpPr>
          <p:cNvPr id="15" name="Text 13"/>
          <p:cNvSpPr txBox="1"/>
          <p:nvPr/>
        </p:nvSpPr>
        <p:spPr>
          <a:xfrm>
            <a:off x="896112" y="3621024"/>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600200" y="3364992"/>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Few-shot examples</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Three short worked examples demonstrate response shape, not just describe it.</a:t>
            </a:r>
            <a:endParaRPr lang="en-US" sz="1400" dirty="0"/>
          </a:p>
        </p:txBody>
      </p:sp>
      <p:sp>
        <p:nvSpPr>
          <p:cNvPr id="17" name="Shape 15"/>
          <p:cNvSpPr/>
          <p:nvPr/>
        </p:nvSpPr>
        <p:spPr>
          <a:xfrm>
            <a:off x="6263640" y="3218688"/>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18" name="Shape 16"/>
          <p:cNvSpPr/>
          <p:nvPr/>
        </p:nvSpPr>
        <p:spPr>
          <a:xfrm>
            <a:off x="6519672" y="3621024"/>
            <a:ext cx="475488" cy="475488"/>
          </a:xfrm>
          <a:prstGeom prst="ellipse">
            <a:avLst/>
          </a:prstGeom>
          <a:solidFill>
            <a:srgbClr val="FFFFFF"/>
          </a:solidFill>
          <a:ln w="22225">
            <a:solidFill>
              <a:srgbClr val="D9824F"/>
            </a:solidFill>
            <a:prstDash val="solid"/>
          </a:ln>
        </p:spPr>
      </p:sp>
      <p:sp>
        <p:nvSpPr>
          <p:cNvPr id="19" name="Text 17"/>
          <p:cNvSpPr txBox="1"/>
          <p:nvPr/>
        </p:nvSpPr>
        <p:spPr>
          <a:xfrm>
            <a:off x="6519672" y="3621024"/>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7223760" y="3364992"/>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Chain-of-thought</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Silent reasoning on relevance, age-fit, and safety — hidden from the output.</a:t>
            </a:r>
            <a:endParaRPr lang="en-US" sz="1400" dirty="0"/>
          </a:p>
        </p:txBody>
      </p:sp>
      <p:sp>
        <p:nvSpPr>
          <p:cNvPr id="21" name="Shape 19"/>
          <p:cNvSpPr/>
          <p:nvPr/>
        </p:nvSpPr>
        <p:spPr>
          <a:xfrm>
            <a:off x="640080" y="4608576"/>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22" name="Shape 20"/>
          <p:cNvSpPr/>
          <p:nvPr/>
        </p:nvSpPr>
        <p:spPr>
          <a:xfrm>
            <a:off x="896112" y="5010912"/>
            <a:ext cx="475488" cy="475488"/>
          </a:xfrm>
          <a:prstGeom prst="ellipse">
            <a:avLst/>
          </a:prstGeom>
          <a:solidFill>
            <a:srgbClr val="FFFFFF"/>
          </a:solidFill>
          <a:ln w="22225">
            <a:solidFill>
              <a:srgbClr val="D9824F"/>
            </a:solidFill>
            <a:prstDash val="solid"/>
          </a:ln>
        </p:spPr>
      </p:sp>
      <p:sp>
        <p:nvSpPr>
          <p:cNvPr id="23" name="Text 21"/>
          <p:cNvSpPr txBox="1"/>
          <p:nvPr/>
        </p:nvSpPr>
        <p:spPr>
          <a:xfrm>
            <a:off x="896112" y="5010912"/>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600200" y="4754880"/>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Retrieval-grounding</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Answers restricted to retrieved context; admits when it's insufficient.</a:t>
            </a:r>
            <a:endParaRPr lang="en-US" sz="1400" dirty="0"/>
          </a:p>
        </p:txBody>
      </p:sp>
      <p:sp>
        <p:nvSpPr>
          <p:cNvPr id="25" name="Shape 23"/>
          <p:cNvSpPr/>
          <p:nvPr/>
        </p:nvSpPr>
        <p:spPr>
          <a:xfrm>
            <a:off x="6263640" y="4608576"/>
            <a:ext cx="528523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26" name="Shape 24"/>
          <p:cNvSpPr/>
          <p:nvPr/>
        </p:nvSpPr>
        <p:spPr>
          <a:xfrm>
            <a:off x="6519672" y="5010912"/>
            <a:ext cx="475488" cy="475488"/>
          </a:xfrm>
          <a:prstGeom prst="ellipse">
            <a:avLst/>
          </a:prstGeom>
          <a:solidFill>
            <a:srgbClr val="FFFFFF"/>
          </a:solidFill>
          <a:ln w="22225">
            <a:solidFill>
              <a:srgbClr val="D9824F"/>
            </a:solidFill>
            <a:prstDash val="solid"/>
          </a:ln>
        </p:spPr>
      </p:sp>
      <p:sp>
        <p:nvSpPr>
          <p:cNvPr id="27" name="Text 25"/>
          <p:cNvSpPr txBox="1"/>
          <p:nvPr/>
        </p:nvSpPr>
        <p:spPr>
          <a:xfrm>
            <a:off x="6519672" y="5010912"/>
            <a:ext cx="475488" cy="475488"/>
          </a:xfrm>
          <a:prstGeom prst="rect">
            <a:avLst/>
          </a:prstGeom>
          <a:noFill/>
          <a:ln/>
        </p:spPr>
        <p:txBody>
          <a:bodyPr wrap="square" lIns="0" tIns="0" rIns="0" bIns="0" rtlCol="0" anchor="ctr"/>
          <a:lstStyle/>
          <a:p>
            <a:pPr algn="ctr" indent="0" marL="0">
              <a:buNone/>
            </a:pPr>
            <a:r>
              <a:rPr lang="en-US" sz="1600" b="1" dirty="0">
                <a:solidFill>
                  <a:srgbClr val="C06A3C"/>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7223760" y="4754880"/>
            <a:ext cx="4142232" cy="100584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Chain-of-verification</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A second, independent LLM call checks the draft before it ships.</a:t>
            </a:r>
            <a:endParaRPr lang="en-US" sz="1400" dirty="0"/>
          </a:p>
        </p:txBody>
      </p:sp>
      <p:sp>
        <p:nvSpPr>
          <p:cNvPr id="29" name="Text 27"/>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The model was tuned against the exact base persona these build on.</a:t>
            </a:r>
            <a:endParaRPr lang="en-US" sz="1150" dirty="0"/>
          </a:p>
        </p:txBody>
      </p:sp>
      <p:sp>
        <p:nvSpPr>
          <p:cNvPr id="30" name="Text 28"/>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11 / 18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RELIABILITY SAFEGUARDS</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Built-in safety &amp; accuracy rules</a:t>
            </a:r>
            <a:endParaRPr lang="en-US" sz="3000" dirty="0"/>
          </a:p>
        </p:txBody>
      </p:sp>
      <p:sp>
        <p:nvSpPr>
          <p:cNvPr id="4" name="Shape 2"/>
          <p:cNvSpPr/>
          <p:nvPr/>
        </p:nvSpPr>
        <p:spPr>
          <a:xfrm>
            <a:off x="640080" y="1874520"/>
            <a:ext cx="5285232" cy="1874520"/>
          </a:xfrm>
          <a:prstGeom prst="roundRect">
            <a:avLst>
              <a:gd name="adj" fmla="val 5366"/>
            </a:avLst>
          </a:prstGeom>
          <a:solidFill>
            <a:srgbClr val="FFFFFF"/>
          </a:solidFill>
          <a:ln/>
          <a:effectLst>
            <a:outerShdw sx="100000" sy="100000" kx="0" ky="0" algn="bl" rotWithShape="0" blurRad="165100" dist="38100" dir="5400000">
              <a:srgbClr val="B7A6C9">
                <a:alpha val="26000"/>
              </a:srgbClr>
            </a:outerShdw>
          </a:effectLst>
        </p:spPr>
      </p:sp>
      <p:sp>
        <p:nvSpPr>
          <p:cNvPr id="5" name="Shape 3"/>
          <p:cNvSpPr/>
          <p:nvPr/>
        </p:nvSpPr>
        <p:spPr>
          <a:xfrm>
            <a:off x="932688" y="2194560"/>
            <a:ext cx="603504" cy="603504"/>
          </a:xfrm>
          <a:prstGeom prst="ellipse">
            <a:avLst/>
          </a:prstGeom>
          <a:solidFill>
            <a:srgbClr val="ECE4F6"/>
          </a:solidFill>
          <a:ln/>
        </p:spPr>
      </p:sp>
      <p:sp>
        <p:nvSpPr>
          <p:cNvPr id="6" name="Text 4"/>
          <p:cNvSpPr txBox="1"/>
          <p:nvPr/>
        </p:nvSpPr>
        <p:spPr>
          <a:xfrm>
            <a:off x="932688" y="2194560"/>
            <a:ext cx="603504" cy="603504"/>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1737360" y="2203704"/>
            <a:ext cx="397764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Age-aware responses</a:t>
            </a:r>
            <a:endParaRPr lang="en-US" sz="1600" dirty="0"/>
          </a:p>
        </p:txBody>
      </p:sp>
      <p:sp>
        <p:nvSpPr>
          <p:cNvPr id="8" name="Text 6"/>
          <p:cNvSpPr txBox="1"/>
          <p:nvPr/>
        </p:nvSpPr>
        <p:spPr>
          <a:xfrm>
            <a:off x="1737360" y="2697480"/>
            <a:ext cx="4023360" cy="82296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Answers are tailored to the specific age of the child in the question.</a:t>
            </a:r>
            <a:endParaRPr lang="en-US" sz="1250" dirty="0"/>
          </a:p>
        </p:txBody>
      </p:sp>
      <p:sp>
        <p:nvSpPr>
          <p:cNvPr id="9" name="Shape 7"/>
          <p:cNvSpPr/>
          <p:nvPr/>
        </p:nvSpPr>
        <p:spPr>
          <a:xfrm>
            <a:off x="6263640" y="1874520"/>
            <a:ext cx="5285232" cy="1874520"/>
          </a:xfrm>
          <a:prstGeom prst="roundRect">
            <a:avLst>
              <a:gd name="adj" fmla="val 5366"/>
            </a:avLst>
          </a:prstGeom>
          <a:solidFill>
            <a:srgbClr val="FFFFFF"/>
          </a:solidFill>
          <a:ln/>
          <a:effectLst>
            <a:outerShdw sx="100000" sy="100000" kx="0" ky="0" algn="bl" rotWithShape="0" blurRad="165100" dist="38100" dir="5400000">
              <a:srgbClr val="B7A6C9">
                <a:alpha val="26000"/>
              </a:srgbClr>
            </a:outerShdw>
          </a:effectLst>
        </p:spPr>
      </p:sp>
      <p:sp>
        <p:nvSpPr>
          <p:cNvPr id="10" name="Shape 8"/>
          <p:cNvSpPr/>
          <p:nvPr/>
        </p:nvSpPr>
        <p:spPr>
          <a:xfrm>
            <a:off x="6556248" y="2194560"/>
            <a:ext cx="603504" cy="603504"/>
          </a:xfrm>
          <a:prstGeom prst="ellipse">
            <a:avLst/>
          </a:prstGeom>
          <a:solidFill>
            <a:srgbClr val="ECE4F6"/>
          </a:solidFill>
          <a:ln/>
        </p:spPr>
      </p:sp>
      <p:sp>
        <p:nvSpPr>
          <p:cNvPr id="11" name="Text 9"/>
          <p:cNvSpPr txBox="1"/>
          <p:nvPr/>
        </p:nvSpPr>
        <p:spPr>
          <a:xfrm>
            <a:off x="6556248" y="2194560"/>
            <a:ext cx="603504" cy="603504"/>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7360920" y="2203704"/>
            <a:ext cx="397764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Evidence vs. opinion</a:t>
            </a:r>
            <a:endParaRPr lang="en-US" sz="1600" dirty="0"/>
          </a:p>
        </p:txBody>
      </p:sp>
      <p:sp>
        <p:nvSpPr>
          <p:cNvPr id="13" name="Text 11"/>
          <p:cNvSpPr txBox="1"/>
          <p:nvPr/>
        </p:nvSpPr>
        <p:spPr>
          <a:xfrm>
            <a:off x="7360920" y="2697480"/>
            <a:ext cx="4023360" cy="82296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Explicitly distinguishes scientific evidence from general opinion.</a:t>
            </a:r>
            <a:endParaRPr lang="en-US" sz="1250" dirty="0"/>
          </a:p>
        </p:txBody>
      </p:sp>
      <p:sp>
        <p:nvSpPr>
          <p:cNvPr id="14" name="Shape 12"/>
          <p:cNvSpPr/>
          <p:nvPr/>
        </p:nvSpPr>
        <p:spPr>
          <a:xfrm>
            <a:off x="640080" y="3977640"/>
            <a:ext cx="5285232" cy="1874520"/>
          </a:xfrm>
          <a:prstGeom prst="roundRect">
            <a:avLst>
              <a:gd name="adj" fmla="val 5366"/>
            </a:avLst>
          </a:prstGeom>
          <a:solidFill>
            <a:srgbClr val="FFFFFF"/>
          </a:solidFill>
          <a:ln/>
          <a:effectLst>
            <a:outerShdw sx="100000" sy="100000" kx="0" ky="0" algn="bl" rotWithShape="0" blurRad="165100" dist="38100" dir="5400000">
              <a:srgbClr val="B7A6C9">
                <a:alpha val="26000"/>
              </a:srgbClr>
            </a:outerShdw>
          </a:effectLst>
        </p:spPr>
      </p:sp>
      <p:sp>
        <p:nvSpPr>
          <p:cNvPr id="15" name="Shape 13"/>
          <p:cNvSpPr/>
          <p:nvPr/>
        </p:nvSpPr>
        <p:spPr>
          <a:xfrm>
            <a:off x="932688" y="4297680"/>
            <a:ext cx="603504" cy="603504"/>
          </a:xfrm>
          <a:prstGeom prst="ellipse">
            <a:avLst/>
          </a:prstGeom>
          <a:solidFill>
            <a:srgbClr val="ECE4F6"/>
          </a:solidFill>
          <a:ln/>
        </p:spPr>
      </p:sp>
      <p:sp>
        <p:nvSpPr>
          <p:cNvPr id="16" name="Text 14"/>
          <p:cNvSpPr txBox="1"/>
          <p:nvPr/>
        </p:nvSpPr>
        <p:spPr>
          <a:xfrm>
            <a:off x="932688" y="4297680"/>
            <a:ext cx="603504" cy="603504"/>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737360" y="4306824"/>
            <a:ext cx="397764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Medical redirection</a:t>
            </a:r>
            <a:endParaRPr lang="en-US" sz="1600" dirty="0"/>
          </a:p>
        </p:txBody>
      </p:sp>
      <p:sp>
        <p:nvSpPr>
          <p:cNvPr id="18" name="Text 16"/>
          <p:cNvSpPr txBox="1"/>
          <p:nvPr/>
        </p:nvSpPr>
        <p:spPr>
          <a:xfrm>
            <a:off x="1737360" y="4800600"/>
            <a:ext cx="4023360" cy="82296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Redirects medical questions to a professional instead of answering directly.</a:t>
            </a:r>
            <a:endParaRPr lang="en-US" sz="1250" dirty="0"/>
          </a:p>
        </p:txBody>
      </p:sp>
      <p:sp>
        <p:nvSpPr>
          <p:cNvPr id="19" name="Shape 17"/>
          <p:cNvSpPr/>
          <p:nvPr/>
        </p:nvSpPr>
        <p:spPr>
          <a:xfrm>
            <a:off x="6263640" y="3977640"/>
            <a:ext cx="5285232" cy="1874520"/>
          </a:xfrm>
          <a:prstGeom prst="roundRect">
            <a:avLst>
              <a:gd name="adj" fmla="val 5366"/>
            </a:avLst>
          </a:prstGeom>
          <a:solidFill>
            <a:srgbClr val="FFFFFF"/>
          </a:solidFill>
          <a:ln/>
          <a:effectLst>
            <a:outerShdw sx="100000" sy="100000" kx="0" ky="0" algn="bl" rotWithShape="0" blurRad="165100" dist="38100" dir="5400000">
              <a:srgbClr val="B7A6C9">
                <a:alpha val="26000"/>
              </a:srgbClr>
            </a:outerShdw>
          </a:effectLst>
        </p:spPr>
      </p:sp>
      <p:sp>
        <p:nvSpPr>
          <p:cNvPr id="20" name="Shape 18"/>
          <p:cNvSpPr/>
          <p:nvPr/>
        </p:nvSpPr>
        <p:spPr>
          <a:xfrm>
            <a:off x="6556248" y="4297680"/>
            <a:ext cx="603504" cy="603504"/>
          </a:xfrm>
          <a:prstGeom prst="ellipse">
            <a:avLst/>
          </a:prstGeom>
          <a:solidFill>
            <a:srgbClr val="ECE4F6"/>
          </a:solidFill>
          <a:ln/>
        </p:spPr>
      </p:sp>
      <p:sp>
        <p:nvSpPr>
          <p:cNvPr id="21" name="Text 19"/>
          <p:cNvSpPr txBox="1"/>
          <p:nvPr/>
        </p:nvSpPr>
        <p:spPr>
          <a:xfrm>
            <a:off x="6556248" y="4297680"/>
            <a:ext cx="603504" cy="603504"/>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7360920" y="4306824"/>
            <a:ext cx="397764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No hallucination</a:t>
            </a:r>
            <a:endParaRPr lang="en-US" sz="1600" dirty="0"/>
          </a:p>
        </p:txBody>
      </p:sp>
      <p:sp>
        <p:nvSpPr>
          <p:cNvPr id="23" name="Text 21"/>
          <p:cNvSpPr txBox="1"/>
          <p:nvPr/>
        </p:nvSpPr>
        <p:spPr>
          <a:xfrm>
            <a:off x="7360920" y="4800600"/>
            <a:ext cx="4023360" cy="822960"/>
          </a:xfrm>
          <a:prstGeom prst="rect">
            <a:avLst/>
          </a:prstGeom>
          <a:noFill/>
          <a:ln/>
        </p:spPr>
        <p:txBody>
          <a:bodyPr wrap="square" lIns="0" tIns="0" rIns="0" bIns="0" rtlCol="0" anchor="ctr"/>
          <a:lstStyle/>
          <a:p>
            <a:pPr indent="0" marL="0">
              <a:lnSpc>
                <a:spcPct val="110000"/>
              </a:lnSpc>
              <a:buNone/>
            </a:pPr>
            <a:r>
              <a:rPr lang="en-US" sz="1250" dirty="0">
                <a:solidFill>
                  <a:srgbClr val="6E6680"/>
                </a:solidFill>
                <a:latin typeface="Calibri" pitchFamily="34" charset="0"/>
                <a:ea typeface="Calibri" pitchFamily="34" charset="-122"/>
                <a:cs typeface="Calibri" pitchFamily="34" charset="-120"/>
              </a:rPr>
              <a:t>Acknowledges out loud when the retrieved context is insufficient.</a:t>
            </a:r>
            <a:endParaRPr lang="en-US" sz="1250" dirty="0"/>
          </a:p>
        </p:txBody>
      </p:sp>
      <p:sp>
        <p:nvSpPr>
          <p:cNvPr id="24" name="Text 22"/>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Safety isn't a prompt line — it's enforced deterministically before generation.</a:t>
            </a:r>
            <a:endParaRPr lang="en-US" sz="1150" dirty="0"/>
          </a:p>
        </p:txBody>
      </p:sp>
      <p:sp>
        <p:nvSpPr>
          <p:cNvPr id="25" name="Text 23"/>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12 / 18</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PROMPT ENGINEERING · REAL-WORLD TESTING</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Every fix came from real data</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Run against the real fine-tuned model and real UNICEF sources — not assumptions.</a:t>
            </a:r>
            <a:endParaRPr lang="en-US" sz="1400" dirty="0"/>
          </a:p>
        </p:txBody>
      </p:sp>
      <p:sp>
        <p:nvSpPr>
          <p:cNvPr id="5" name="Shape 3"/>
          <p:cNvSpPr/>
          <p:nvPr/>
        </p:nvSpPr>
        <p:spPr>
          <a:xfrm>
            <a:off x="640080" y="1874520"/>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822960" y="1874520"/>
            <a:ext cx="1417320" cy="914400"/>
          </a:xfrm>
          <a:prstGeom prst="rect">
            <a:avLst/>
          </a:prstGeom>
          <a:noFill/>
          <a:ln/>
        </p:spPr>
        <p:txBody>
          <a:bodyPr wrap="square" lIns="0" tIns="0" rIns="0" bIns="0" rtlCol="0" anchor="ctr"/>
          <a:lstStyle/>
          <a:p>
            <a:pPr algn="ctr" indent="0" marL="0">
              <a:buNone/>
            </a:pPr>
            <a:r>
              <a:rPr lang="en-US" sz="3200" b="1" dirty="0">
                <a:solidFill>
                  <a:srgbClr val="C06A3C"/>
                </a:solidFill>
                <a:latin typeface="Cambria" pitchFamily="34" charset="0"/>
                <a:ea typeface="Cambria" pitchFamily="34" charset="-122"/>
                <a:cs typeface="Cambria" pitchFamily="34" charset="-120"/>
              </a:rPr>
              <a:t>5</a:t>
            </a:r>
            <a:endParaRPr lang="en-US" sz="3200" dirty="0"/>
          </a:p>
        </p:txBody>
      </p:sp>
      <p:sp>
        <p:nvSpPr>
          <p:cNvPr id="7" name="Text 5"/>
          <p:cNvSpPr txBox="1"/>
          <p:nvPr/>
        </p:nvSpPr>
        <p:spPr>
          <a:xfrm>
            <a:off x="2240280" y="1874520"/>
            <a:ext cx="1783080" cy="914400"/>
          </a:xfrm>
          <a:prstGeom prst="rect">
            <a:avLst/>
          </a:prstGeom>
          <a:noFill/>
          <a:ln/>
        </p:spPr>
        <p:txBody>
          <a:bodyPr wrap="square" lIns="0" tIns="0" rIns="0" bIns="0" rtlCol="0" anchor="ctr"/>
          <a:lstStyle/>
          <a:p>
            <a:pPr indent="0" marL="0">
              <a:lnSpc>
                <a:spcPct val="103000"/>
              </a:lnSpc>
              <a:buNone/>
            </a:pPr>
            <a:r>
              <a:rPr lang="en-US" sz="1200" dirty="0">
                <a:solidFill>
                  <a:srgbClr val="6E6680"/>
                </a:solidFill>
                <a:latin typeface="Calibri" pitchFamily="34" charset="0"/>
                <a:ea typeface="Calibri" pitchFamily="34" charset="-122"/>
                <a:cs typeface="Calibri" pitchFamily="34" charset="-120"/>
              </a:rPr>
              <a:t>test categories validated</a:t>
            </a:r>
            <a:endParaRPr lang="en-US" sz="1200" dirty="0"/>
          </a:p>
        </p:txBody>
      </p:sp>
      <p:sp>
        <p:nvSpPr>
          <p:cNvPr id="8" name="Shape 6"/>
          <p:cNvSpPr/>
          <p:nvPr/>
        </p:nvSpPr>
        <p:spPr>
          <a:xfrm>
            <a:off x="4334256" y="1874520"/>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4517136" y="1874520"/>
            <a:ext cx="1417320" cy="914400"/>
          </a:xfrm>
          <a:prstGeom prst="rect">
            <a:avLst/>
          </a:prstGeom>
          <a:noFill/>
          <a:ln/>
        </p:spPr>
        <p:txBody>
          <a:bodyPr wrap="square" lIns="0" tIns="0" rIns="0" bIns="0" rtlCol="0" anchor="ctr"/>
          <a:lstStyle/>
          <a:p>
            <a:pPr algn="ctr" indent="0" marL="0">
              <a:buNone/>
            </a:pPr>
            <a:r>
              <a:rPr lang="en-US" sz="3200" b="1" dirty="0">
                <a:solidFill>
                  <a:srgbClr val="C06A3C"/>
                </a:solidFill>
                <a:latin typeface="Cambria" pitchFamily="34" charset="0"/>
                <a:ea typeface="Cambria" pitchFamily="34" charset="-122"/>
                <a:cs typeface="Cambria" pitchFamily="34" charset="-120"/>
              </a:rPr>
              <a:t>3</a:t>
            </a:r>
            <a:endParaRPr lang="en-US" sz="3200" dirty="0"/>
          </a:p>
        </p:txBody>
      </p:sp>
      <p:sp>
        <p:nvSpPr>
          <p:cNvPr id="10" name="Text 8"/>
          <p:cNvSpPr txBox="1"/>
          <p:nvPr/>
        </p:nvSpPr>
        <p:spPr>
          <a:xfrm>
            <a:off x="5934456" y="1874520"/>
            <a:ext cx="1783080" cy="914400"/>
          </a:xfrm>
          <a:prstGeom prst="rect">
            <a:avLst/>
          </a:prstGeom>
          <a:noFill/>
          <a:ln/>
        </p:spPr>
        <p:txBody>
          <a:bodyPr wrap="square" lIns="0" tIns="0" rIns="0" bIns="0" rtlCol="0" anchor="ctr"/>
          <a:lstStyle/>
          <a:p>
            <a:pPr indent="0" marL="0">
              <a:lnSpc>
                <a:spcPct val="103000"/>
              </a:lnSpc>
              <a:buNone/>
            </a:pPr>
            <a:r>
              <a:rPr lang="en-US" sz="1200" dirty="0">
                <a:solidFill>
                  <a:srgbClr val="6E6680"/>
                </a:solidFill>
                <a:latin typeface="Calibri" pitchFamily="34" charset="0"/>
                <a:ea typeface="Calibri" pitchFamily="34" charset="-122"/>
                <a:cs typeface="Calibri" pitchFamily="34" charset="-120"/>
              </a:rPr>
              <a:t>real bugs found &amp; fixed</a:t>
            </a:r>
            <a:endParaRPr lang="en-US" sz="1200" dirty="0"/>
          </a:p>
        </p:txBody>
      </p:sp>
      <p:sp>
        <p:nvSpPr>
          <p:cNvPr id="11" name="Shape 9"/>
          <p:cNvSpPr/>
          <p:nvPr/>
        </p:nvSpPr>
        <p:spPr>
          <a:xfrm>
            <a:off x="8028432" y="1874520"/>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8211312" y="1874520"/>
            <a:ext cx="1417320" cy="914400"/>
          </a:xfrm>
          <a:prstGeom prst="rect">
            <a:avLst/>
          </a:prstGeom>
          <a:noFill/>
          <a:ln/>
        </p:spPr>
        <p:txBody>
          <a:bodyPr wrap="square" lIns="0" tIns="0" rIns="0" bIns="0" rtlCol="0" anchor="ctr"/>
          <a:lstStyle/>
          <a:p>
            <a:pPr algn="ctr" indent="0" marL="0">
              <a:buNone/>
            </a:pPr>
            <a:r>
              <a:rPr lang="en-US" sz="2200" b="1" dirty="0">
                <a:solidFill>
                  <a:srgbClr val="C06A3C"/>
                </a:solidFill>
                <a:latin typeface="Cambria" pitchFamily="34" charset="0"/>
                <a:ea typeface="Cambria" pitchFamily="34" charset="-122"/>
                <a:cs typeface="Cambria" pitchFamily="34" charset="-120"/>
              </a:rPr>
              <a:t>10m → 5s</a:t>
            </a:r>
            <a:endParaRPr lang="en-US" sz="2200" dirty="0"/>
          </a:p>
        </p:txBody>
      </p:sp>
      <p:sp>
        <p:nvSpPr>
          <p:cNvPr id="13" name="Text 11"/>
          <p:cNvSpPr txBox="1"/>
          <p:nvPr/>
        </p:nvSpPr>
        <p:spPr>
          <a:xfrm>
            <a:off x="9628632" y="1874520"/>
            <a:ext cx="1783080" cy="914400"/>
          </a:xfrm>
          <a:prstGeom prst="rect">
            <a:avLst/>
          </a:prstGeom>
          <a:noFill/>
          <a:ln/>
        </p:spPr>
        <p:txBody>
          <a:bodyPr wrap="square" lIns="0" tIns="0" rIns="0" bIns="0" rtlCol="0" anchor="ctr"/>
          <a:lstStyle/>
          <a:p>
            <a:pPr indent="0" marL="0">
              <a:lnSpc>
                <a:spcPct val="103000"/>
              </a:lnSpc>
              <a:buNone/>
            </a:pPr>
            <a:r>
              <a:rPr lang="en-US" sz="1200" dirty="0">
                <a:solidFill>
                  <a:srgbClr val="6E6680"/>
                </a:solidFill>
                <a:latin typeface="Calibri" pitchFamily="34" charset="0"/>
                <a:ea typeface="Calibri" pitchFamily="34" charset="-122"/>
                <a:cs typeface="Calibri" pitchFamily="34" charset="-120"/>
              </a:rPr>
              <a:t>generation time, CPU</a:t>
            </a:r>
            <a:endParaRPr lang="en-US" sz="1200" dirty="0"/>
          </a:p>
        </p:txBody>
      </p:sp>
      <p:sp>
        <p:nvSpPr>
          <p:cNvPr id="14" name="Shape 12"/>
          <p:cNvSpPr/>
          <p:nvPr/>
        </p:nvSpPr>
        <p:spPr>
          <a:xfrm>
            <a:off x="640080" y="2971800"/>
            <a:ext cx="10908792" cy="1170432"/>
          </a:xfrm>
          <a:prstGeom prst="roundRect">
            <a:avLst>
              <a:gd name="adj" fmla="val 8594"/>
            </a:avLst>
          </a:prstGeom>
          <a:solidFill>
            <a:srgbClr val="FBF6FB"/>
          </a:solidFill>
          <a:ln/>
          <a:effectLst>
            <a:outerShdw sx="100000" sy="100000" kx="0" ky="0" algn="bl" rotWithShape="0" blurRad="165100" dist="38100" dir="5400000">
              <a:srgbClr val="B7A6C9">
                <a:alpha val="26000"/>
              </a:srgbClr>
            </a:outerShdw>
          </a:effectLst>
        </p:spPr>
      </p:sp>
      <p:sp>
        <p:nvSpPr>
          <p:cNvPr id="15" name="Shape 13"/>
          <p:cNvSpPr/>
          <p:nvPr/>
        </p:nvSpPr>
        <p:spPr>
          <a:xfrm>
            <a:off x="914400" y="3264408"/>
            <a:ext cx="548640" cy="548640"/>
          </a:xfrm>
          <a:prstGeom prst="ellipse">
            <a:avLst/>
          </a:prstGeom>
          <a:solidFill>
            <a:srgbClr val="ECE4F6"/>
          </a:solidFill>
          <a:ln/>
        </p:spPr>
      </p:sp>
      <p:sp>
        <p:nvSpPr>
          <p:cNvPr id="16" name="Text 14"/>
          <p:cNvSpPr txBox="1"/>
          <p:nvPr/>
        </p:nvSpPr>
        <p:spPr>
          <a:xfrm>
            <a:off x="914400" y="3264408"/>
            <a:ext cx="548640" cy="548640"/>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691640" y="3099816"/>
            <a:ext cx="9601200" cy="914400"/>
          </a:xfrm>
          <a:prstGeom prst="rect">
            <a:avLst/>
          </a:prstGeom>
          <a:noFill/>
          <a:ln/>
        </p:spPr>
        <p:txBody>
          <a:bodyPr wrap="square" lIns="0" tIns="0" rIns="0" bIns="0" rtlCol="0" anchor="ctr"/>
          <a:lstStyle/>
          <a:p>
            <a:pPr indent="0" marL="0">
              <a:lnSpc>
                <a:spcPct val="105000"/>
              </a:lnSpc>
              <a:spcBef>
                <a:spcPts val="300"/>
              </a:spcBef>
              <a:buNone/>
            </a:pPr>
            <a:r>
              <a:rPr lang="en-US" sz="1350" b="1" dirty="0">
                <a:solidFill>
                  <a:srgbClr val="3D2352"/>
                </a:solidFill>
                <a:latin typeface="Calibri" pitchFamily="34" charset="0"/>
                <a:ea typeface="Calibri" pitchFamily="34" charset="-122"/>
                <a:cs typeface="Calibri" pitchFamily="34" charset="-120"/>
              </a:rPr>
              <a:t>Router misfired without examples</a:t>
            </a:r>
            <a:endParaRPr lang="en-US" sz="1350" dirty="0"/>
          </a:p>
          <a:p>
            <a:pPr indent="0" marL="0">
              <a:lnSpc>
                <a:spcPct val="105000"/>
              </a:lnSpc>
              <a:spcBef>
                <a:spcPts val="300"/>
              </a:spcBef>
              <a:buNone/>
            </a:pPr>
            <a:r>
              <a:rPr lang="en-US" sz="1150" dirty="0">
                <a:solidFill>
                  <a:srgbClr val="6E6680"/>
                </a:solidFill>
                <a:latin typeface="Calibri" pitchFamily="34" charset="0"/>
                <a:ea typeface="Calibri" pitchFamily="34" charset="-122"/>
                <a:cs typeface="Calibri" pitchFamily="34" charset="-120"/>
              </a:rPr>
              <a:t>Before: a ball-sharing question was tagged MEDICAL.  </a:t>
            </a:r>
            <a:pPr indent="0" marL="0">
              <a:lnSpc>
                <a:spcPct val="105000"/>
              </a:lnSpc>
              <a:spcBef>
                <a:spcPts val="300"/>
              </a:spcBef>
              <a:buNone/>
            </a:pPr>
            <a:r>
              <a:rPr lang="en-US" sz="1150" b="1" dirty="0">
                <a:solidFill>
                  <a:srgbClr val="3E7C59"/>
                </a:solidFill>
                <a:latin typeface="Calibri" pitchFamily="34" charset="0"/>
                <a:ea typeface="Calibri" pitchFamily="34" charset="-122"/>
                <a:cs typeface="Calibri" pitchFamily="34" charset="-120"/>
              </a:rPr>
              <a:t>After: added 5 few-shot examples → correctly tagged BEHAVIORAL.</a:t>
            </a:r>
            <a:endParaRPr lang="en-US" sz="1350" dirty="0"/>
          </a:p>
        </p:txBody>
      </p:sp>
      <p:sp>
        <p:nvSpPr>
          <p:cNvPr id="18" name="Shape 16"/>
          <p:cNvSpPr/>
          <p:nvPr/>
        </p:nvSpPr>
        <p:spPr>
          <a:xfrm>
            <a:off x="640080" y="4251960"/>
            <a:ext cx="10908792" cy="1170432"/>
          </a:xfrm>
          <a:prstGeom prst="roundRect">
            <a:avLst>
              <a:gd name="adj" fmla="val 8594"/>
            </a:avLst>
          </a:prstGeom>
          <a:solidFill>
            <a:srgbClr val="FBF6FB"/>
          </a:solidFill>
          <a:ln/>
          <a:effectLst>
            <a:outerShdw sx="100000" sy="100000" kx="0" ky="0" algn="bl" rotWithShape="0" blurRad="165100" dist="38100" dir="5400000">
              <a:srgbClr val="B7A6C9">
                <a:alpha val="26000"/>
              </a:srgbClr>
            </a:outerShdw>
          </a:effectLst>
        </p:spPr>
      </p:sp>
      <p:sp>
        <p:nvSpPr>
          <p:cNvPr id="19" name="Shape 17"/>
          <p:cNvSpPr/>
          <p:nvPr/>
        </p:nvSpPr>
        <p:spPr>
          <a:xfrm>
            <a:off x="914400" y="4544568"/>
            <a:ext cx="548640" cy="548640"/>
          </a:xfrm>
          <a:prstGeom prst="ellipse">
            <a:avLst/>
          </a:prstGeom>
          <a:solidFill>
            <a:srgbClr val="ECE4F6"/>
          </a:solidFill>
          <a:ln/>
        </p:spPr>
      </p:sp>
      <p:sp>
        <p:nvSpPr>
          <p:cNvPr id="20" name="Text 18"/>
          <p:cNvSpPr txBox="1"/>
          <p:nvPr/>
        </p:nvSpPr>
        <p:spPr>
          <a:xfrm>
            <a:off x="914400" y="4544568"/>
            <a:ext cx="548640" cy="548640"/>
          </a:xfrm>
          <a:prstGeom prst="rect">
            <a:avLst/>
          </a:prstGeom>
          <a:noFill/>
          <a:ln/>
        </p:spPr>
        <p:txBody>
          <a:bodyPr wrap="square" lIns="0" tIns="0" rIns="0" bIns="0" rtlCol="0" anchor="ctr"/>
          <a:lstStyle/>
          <a:p>
            <a:pPr algn="ctr" indent="0" marL="0">
              <a:buNone/>
            </a:pPr>
            <a:r>
              <a:rPr lang="en-US" sz="1600" b="1" dirty="0">
                <a:solidFill>
                  <a:srgbClr val="3D2352"/>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691640" y="4379976"/>
            <a:ext cx="9601200" cy="914400"/>
          </a:xfrm>
          <a:prstGeom prst="rect">
            <a:avLst/>
          </a:prstGeom>
          <a:noFill/>
          <a:ln/>
        </p:spPr>
        <p:txBody>
          <a:bodyPr wrap="square" lIns="0" tIns="0" rIns="0" bIns="0" rtlCol="0" anchor="ctr"/>
          <a:lstStyle/>
          <a:p>
            <a:pPr indent="0" marL="0">
              <a:lnSpc>
                <a:spcPct val="105000"/>
              </a:lnSpc>
              <a:spcBef>
                <a:spcPts val="300"/>
              </a:spcBef>
              <a:buNone/>
            </a:pPr>
            <a:r>
              <a:rPr lang="en-US" sz="1350" b="1" dirty="0">
                <a:solidFill>
                  <a:srgbClr val="3D2352"/>
                </a:solidFill>
                <a:latin typeface="Calibri" pitchFamily="34" charset="0"/>
                <a:ea typeface="Calibri" pitchFamily="34" charset="-122"/>
                <a:cs typeface="Calibri" pitchFamily="34" charset="-120"/>
              </a:rPr>
              <a:t>Keyword retrieval pulled irrelevant chunks</a:t>
            </a:r>
            <a:endParaRPr lang="en-US" sz="1350" dirty="0"/>
          </a:p>
          <a:p>
            <a:pPr indent="0" marL="0">
              <a:lnSpc>
                <a:spcPct val="105000"/>
              </a:lnSpc>
              <a:spcBef>
                <a:spcPts val="300"/>
              </a:spcBef>
              <a:buNone/>
            </a:pPr>
            <a:r>
              <a:rPr lang="en-US" sz="1150" dirty="0">
                <a:solidFill>
                  <a:srgbClr val="6E6680"/>
                </a:solidFill>
                <a:latin typeface="Calibri" pitchFamily="34" charset="0"/>
                <a:ea typeface="Calibri" pitchFamily="34" charset="-122"/>
                <a:cs typeface="Calibri" pitchFamily="34" charset="-120"/>
              </a:rPr>
              <a:t>Before: a screen-time question retrieved chunks about chores → incoherent answer.  </a:t>
            </a:r>
            <a:pPr indent="0" marL="0">
              <a:lnSpc>
                <a:spcPct val="105000"/>
              </a:lnSpc>
              <a:spcBef>
                <a:spcPts val="300"/>
              </a:spcBef>
              <a:buNone/>
            </a:pPr>
            <a:r>
              <a:rPr lang="en-US" sz="1150" b="1" dirty="0">
                <a:solidFill>
                  <a:srgbClr val="3E7C59"/>
                </a:solidFill>
                <a:latin typeface="Calibri" pitchFamily="34" charset="0"/>
                <a:ea typeface="Calibri" pitchFamily="34" charset="-122"/>
                <a:cs typeface="Calibri" pitchFamily="34" charset="-120"/>
              </a:rPr>
              <a:t>After: stopword filtering + overlap threshold → honest fallback, not hallucination.</a:t>
            </a:r>
            <a:endParaRPr lang="en-US" sz="1350" dirty="0"/>
          </a:p>
        </p:txBody>
      </p:sp>
      <p:sp>
        <p:nvSpPr>
          <p:cNvPr id="22" name="Shape 20"/>
          <p:cNvSpPr/>
          <p:nvPr/>
        </p:nvSpPr>
        <p:spPr>
          <a:xfrm>
            <a:off x="640080" y="5532120"/>
            <a:ext cx="3520440" cy="566928"/>
          </a:xfrm>
          <a:prstGeom prst="roundRect">
            <a:avLst>
              <a:gd name="adj" fmla="val 14516"/>
            </a:avLst>
          </a:prstGeom>
          <a:solidFill>
            <a:srgbClr val="FFFFFF"/>
          </a:solidFill>
          <a:ln/>
          <a:effectLst>
            <a:outerShdw sx="100000" sy="100000" kx="0" ky="0" algn="bl" rotWithShape="0" blurRad="88900" dist="25400" dir="5400000">
              <a:srgbClr val="C4B6D2">
                <a:alpha val="20000"/>
              </a:srgbClr>
            </a:outerShdw>
          </a:effectLst>
        </p:spPr>
      </p:sp>
      <p:sp>
        <p:nvSpPr>
          <p:cNvPr id="23" name="Text 21"/>
          <p:cNvSpPr txBox="1"/>
          <p:nvPr/>
        </p:nvSpPr>
        <p:spPr>
          <a:xfrm>
            <a:off x="777240" y="5532120"/>
            <a:ext cx="3246120" cy="566928"/>
          </a:xfrm>
          <a:prstGeom prst="rect">
            <a:avLst/>
          </a:prstGeom>
          <a:noFill/>
          <a:ln/>
        </p:spPr>
        <p:txBody>
          <a:bodyPr wrap="square" lIns="0" tIns="0" rIns="0" bIns="0" rtlCol="0" anchor="ctr"/>
          <a:lstStyle/>
          <a:p>
            <a:pPr indent="0" marL="0">
              <a:buNone/>
            </a:pPr>
            <a:r>
              <a:rPr lang="en-US" sz="1050" b="1" dirty="0">
                <a:solidFill>
                  <a:srgbClr val="C06A3C"/>
                </a:solidFill>
                <a:latin typeface="Calibri" pitchFamily="34" charset="0"/>
                <a:ea typeface="Calibri" pitchFamily="34" charset="-122"/>
                <a:cs typeface="Calibri" pitchFamily="34" charset="-120"/>
              </a:rPr>
              <a:t>BEHAVIORAL  </a:t>
            </a:r>
            <a:pPr indent="0" marL="0">
              <a:buNone/>
            </a:pPr>
            <a:r>
              <a:rPr lang="en-US" sz="1000" dirty="0">
                <a:solidFill>
                  <a:srgbClr val="6E6680"/>
                </a:solidFill>
                <a:latin typeface="Calibri" pitchFamily="34" charset="0"/>
                <a:ea typeface="Calibri" pitchFamily="34" charset="-122"/>
                <a:cs typeface="Calibri" pitchFamily="34" charset="-120"/>
              </a:rPr>
              <a:t>طفلي بيضرب أخوه… → grounded answer</a:t>
            </a:r>
            <a:endParaRPr lang="en-US" sz="1050" dirty="0"/>
          </a:p>
        </p:txBody>
      </p:sp>
      <p:sp>
        <p:nvSpPr>
          <p:cNvPr id="24" name="Shape 22"/>
          <p:cNvSpPr/>
          <p:nvPr/>
        </p:nvSpPr>
        <p:spPr>
          <a:xfrm>
            <a:off x="4334256" y="5532120"/>
            <a:ext cx="3520440" cy="566928"/>
          </a:xfrm>
          <a:prstGeom prst="roundRect">
            <a:avLst>
              <a:gd name="adj" fmla="val 14516"/>
            </a:avLst>
          </a:prstGeom>
          <a:solidFill>
            <a:srgbClr val="FFFFFF"/>
          </a:solidFill>
          <a:ln/>
          <a:effectLst>
            <a:outerShdw sx="100000" sy="100000" kx="0" ky="0" algn="bl" rotWithShape="0" blurRad="88900" dist="25400" dir="5400000">
              <a:srgbClr val="C4B6D2">
                <a:alpha val="20000"/>
              </a:srgbClr>
            </a:outerShdw>
          </a:effectLst>
        </p:spPr>
      </p:sp>
      <p:sp>
        <p:nvSpPr>
          <p:cNvPr id="25" name="Text 23"/>
          <p:cNvSpPr txBox="1"/>
          <p:nvPr/>
        </p:nvSpPr>
        <p:spPr>
          <a:xfrm>
            <a:off x="4471416" y="5532120"/>
            <a:ext cx="3246120" cy="566928"/>
          </a:xfrm>
          <a:prstGeom prst="rect">
            <a:avLst/>
          </a:prstGeom>
          <a:noFill/>
          <a:ln/>
        </p:spPr>
        <p:txBody>
          <a:bodyPr wrap="square" lIns="0" tIns="0" rIns="0" bIns="0" rtlCol="0" anchor="ctr"/>
          <a:lstStyle/>
          <a:p>
            <a:pPr indent="0" marL="0">
              <a:buNone/>
            </a:pPr>
            <a:r>
              <a:rPr lang="en-US" sz="1050" b="1" dirty="0">
                <a:solidFill>
                  <a:srgbClr val="C06A3C"/>
                </a:solidFill>
                <a:latin typeface="Calibri" pitchFamily="34" charset="0"/>
                <a:ea typeface="Calibri" pitchFamily="34" charset="-122"/>
                <a:cs typeface="Calibri" pitchFamily="34" charset="-120"/>
              </a:rPr>
              <a:t>MEDICAL  </a:t>
            </a:r>
            <a:pPr indent="0" marL="0">
              <a:buNone/>
            </a:pPr>
            <a:r>
              <a:rPr lang="en-US" sz="1000" dirty="0">
                <a:solidFill>
                  <a:srgbClr val="6E6680"/>
                </a:solidFill>
                <a:latin typeface="Calibri" pitchFamily="34" charset="0"/>
                <a:ea typeface="Calibri" pitchFamily="34" charset="-122"/>
                <a:cs typeface="Calibri" pitchFamily="34" charset="-120"/>
              </a:rPr>
              <a:t>عنده حرارة من يومين… → clean redirect</a:t>
            </a:r>
            <a:endParaRPr lang="en-US" sz="1050" dirty="0"/>
          </a:p>
        </p:txBody>
      </p:sp>
      <p:sp>
        <p:nvSpPr>
          <p:cNvPr id="26" name="Shape 24"/>
          <p:cNvSpPr/>
          <p:nvPr/>
        </p:nvSpPr>
        <p:spPr>
          <a:xfrm>
            <a:off x="8028432" y="5532120"/>
            <a:ext cx="3520440" cy="566928"/>
          </a:xfrm>
          <a:prstGeom prst="roundRect">
            <a:avLst>
              <a:gd name="adj" fmla="val 14516"/>
            </a:avLst>
          </a:prstGeom>
          <a:solidFill>
            <a:srgbClr val="FFFFFF"/>
          </a:solidFill>
          <a:ln/>
          <a:effectLst>
            <a:outerShdw sx="100000" sy="100000" kx="0" ky="0" algn="bl" rotWithShape="0" blurRad="88900" dist="25400" dir="5400000">
              <a:srgbClr val="C4B6D2">
                <a:alpha val="20000"/>
              </a:srgbClr>
            </a:outerShdw>
          </a:effectLst>
        </p:spPr>
      </p:sp>
      <p:sp>
        <p:nvSpPr>
          <p:cNvPr id="27" name="Text 25"/>
          <p:cNvSpPr txBox="1"/>
          <p:nvPr/>
        </p:nvSpPr>
        <p:spPr>
          <a:xfrm>
            <a:off x="8165592" y="5532120"/>
            <a:ext cx="3246120" cy="566928"/>
          </a:xfrm>
          <a:prstGeom prst="rect">
            <a:avLst/>
          </a:prstGeom>
          <a:noFill/>
          <a:ln/>
        </p:spPr>
        <p:txBody>
          <a:bodyPr wrap="square" lIns="0" tIns="0" rIns="0" bIns="0" rtlCol="0" anchor="ctr"/>
          <a:lstStyle/>
          <a:p>
            <a:pPr indent="0" marL="0">
              <a:buNone/>
            </a:pPr>
            <a:r>
              <a:rPr lang="en-US" sz="1050" b="1" dirty="0">
                <a:solidFill>
                  <a:srgbClr val="C06A3C"/>
                </a:solidFill>
                <a:latin typeface="Calibri" pitchFamily="34" charset="0"/>
                <a:ea typeface="Calibri" pitchFamily="34" charset="-122"/>
                <a:cs typeface="Calibri" pitchFamily="34" charset="-120"/>
              </a:rPr>
              <a:t>OUT_OF_SCOPE  </a:t>
            </a:r>
            <a:pPr indent="0" marL="0">
              <a:buNone/>
            </a:pPr>
            <a:r>
              <a:rPr lang="en-US" sz="1000" dirty="0">
                <a:solidFill>
                  <a:srgbClr val="6E6680"/>
                </a:solidFill>
                <a:latin typeface="Calibri" pitchFamily="34" charset="0"/>
                <a:ea typeface="Calibri" pitchFamily="34" charset="-122"/>
                <a:cs typeface="Calibri" pitchFamily="34" charset="-120"/>
              </a:rPr>
              <a:t>خطاب استقالة → politely declined</a:t>
            </a:r>
            <a:endParaRPr lang="en-US" sz="1050" dirty="0"/>
          </a:p>
        </p:txBody>
      </p:sp>
      <p:sp>
        <p:nvSpPr>
          <p:cNvPr id="28" name="Text 26"/>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13 / 18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APP LAYER · FRONTEND</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Egyptian-Arabic chat interface</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A working React chat UI, built RTL-first for the actual language of the product.</a:t>
            </a:r>
            <a:endParaRPr lang="en-US" sz="1400" dirty="0"/>
          </a:p>
        </p:txBody>
      </p:sp>
      <p:sp>
        <p:nvSpPr>
          <p:cNvPr id="5" name="Shape 3"/>
          <p:cNvSpPr/>
          <p:nvPr/>
        </p:nvSpPr>
        <p:spPr>
          <a:xfrm>
            <a:off x="640080" y="1874520"/>
            <a:ext cx="3429000" cy="3977640"/>
          </a:xfrm>
          <a:prstGeom prst="roundRect">
            <a:avLst>
              <a:gd name="adj" fmla="val 2933"/>
            </a:avLst>
          </a:prstGeom>
          <a:solidFill>
            <a:srgbClr val="FFFFFF"/>
          </a:solidFill>
          <a:ln/>
          <a:effectLst>
            <a:outerShdw sx="100000" sy="100000" kx="0" ky="0" algn="bl" rotWithShape="0" blurRad="165100" dist="38100" dir="5400000">
              <a:srgbClr val="B7A6C9">
                <a:alpha val="26000"/>
              </a:srgbClr>
            </a:outerShdw>
          </a:effectLst>
        </p:spPr>
      </p:sp>
      <p:sp>
        <p:nvSpPr>
          <p:cNvPr id="6" name="Shape 4"/>
          <p:cNvSpPr/>
          <p:nvPr/>
        </p:nvSpPr>
        <p:spPr>
          <a:xfrm>
            <a:off x="896112" y="2130552"/>
            <a:ext cx="2916936" cy="502920"/>
          </a:xfrm>
          <a:prstGeom prst="roundRect">
            <a:avLst>
              <a:gd name="adj" fmla="val 14545"/>
            </a:avLst>
          </a:prstGeom>
          <a:solidFill>
            <a:srgbClr val="F4EEFA"/>
          </a:solidFill>
          <a:ln/>
        </p:spPr>
      </p:sp>
      <p:sp>
        <p:nvSpPr>
          <p:cNvPr id="7" name="Text 5"/>
          <p:cNvSpPr txBox="1"/>
          <p:nvPr/>
        </p:nvSpPr>
        <p:spPr>
          <a:xfrm>
            <a:off x="896112" y="2130552"/>
            <a:ext cx="2916936" cy="502920"/>
          </a:xfrm>
          <a:prstGeom prst="rect">
            <a:avLst/>
          </a:prstGeom>
          <a:noFill/>
          <a:ln/>
        </p:spPr>
        <p:txBody>
          <a:bodyPr wrap="square" lIns="762" tIns="762" rIns="762" bIns="762" rtlCol="0" anchor="ctr"/>
          <a:lstStyle/>
          <a:p>
            <a:pPr algn="r" indent="0" marL="0">
              <a:buNone/>
            </a:pPr>
            <a:r>
              <a:rPr lang="en-US" sz="1150" b="1" dirty="0">
                <a:solidFill>
                  <a:srgbClr val="3D2352"/>
                </a:solidFill>
                <a:latin typeface="Calibri" pitchFamily="34" charset="0"/>
                <a:ea typeface="Calibri" pitchFamily="34" charset="-122"/>
                <a:cs typeface="Calibri" pitchFamily="34" charset="-120"/>
              </a:rPr>
              <a:t>ParentWise  ·  مساعد الأهل</a:t>
            </a:r>
            <a:endParaRPr lang="en-US" sz="1150" dirty="0"/>
          </a:p>
        </p:txBody>
      </p:sp>
      <p:sp>
        <p:nvSpPr>
          <p:cNvPr id="8" name="Shape 6"/>
          <p:cNvSpPr/>
          <p:nvPr/>
        </p:nvSpPr>
        <p:spPr>
          <a:xfrm>
            <a:off x="896112" y="2788920"/>
            <a:ext cx="2423160" cy="868680"/>
          </a:xfrm>
          <a:prstGeom prst="roundRect">
            <a:avLst>
              <a:gd name="adj" fmla="val 10526"/>
            </a:avLst>
          </a:prstGeom>
          <a:solidFill>
            <a:srgbClr val="ECE4F6"/>
          </a:solidFill>
          <a:ln/>
        </p:spPr>
      </p:sp>
      <p:sp>
        <p:nvSpPr>
          <p:cNvPr id="9" name="Text 7"/>
          <p:cNvSpPr txBox="1"/>
          <p:nvPr/>
        </p:nvSpPr>
        <p:spPr>
          <a:xfrm>
            <a:off x="950976" y="2825496"/>
            <a:ext cx="2313432" cy="795528"/>
          </a:xfrm>
          <a:prstGeom prst="rect">
            <a:avLst/>
          </a:prstGeom>
          <a:noFill/>
          <a:ln/>
        </p:spPr>
        <p:txBody>
          <a:bodyPr wrap="square" lIns="508" tIns="508" rIns="508" bIns="508" rtlCol="0" anchor="ctr"/>
          <a:lstStyle/>
          <a:p>
            <a:pPr algn="r" indent="0" marL="0">
              <a:buNone/>
            </a:pPr>
            <a:r>
              <a:rPr lang="en-US" sz="1050" dirty="0">
                <a:solidFill>
                  <a:srgbClr val="3D2352"/>
                </a:solidFill>
                <a:latin typeface="Calibri" pitchFamily="34" charset="0"/>
                <a:ea typeface="Calibri" pitchFamily="34" charset="-122"/>
                <a:cs typeface="Calibri" pitchFamily="34" charset="-120"/>
              </a:rPr>
              <a:t>ده موقف شائع جدًا، وده مش معناه إنك بتعملي حاجة غلط…</a:t>
            </a:r>
            <a:endParaRPr lang="en-US" sz="1050" dirty="0"/>
          </a:p>
        </p:txBody>
      </p:sp>
      <p:sp>
        <p:nvSpPr>
          <p:cNvPr id="10" name="Shape 8"/>
          <p:cNvSpPr/>
          <p:nvPr/>
        </p:nvSpPr>
        <p:spPr>
          <a:xfrm>
            <a:off x="1508760" y="3840480"/>
            <a:ext cx="2304288" cy="731520"/>
          </a:xfrm>
          <a:prstGeom prst="roundRect">
            <a:avLst>
              <a:gd name="adj" fmla="val 12500"/>
            </a:avLst>
          </a:prstGeom>
          <a:solidFill>
            <a:srgbClr val="F6E2D6"/>
          </a:solidFill>
          <a:ln/>
        </p:spPr>
      </p:sp>
      <p:sp>
        <p:nvSpPr>
          <p:cNvPr id="11" name="Text 9"/>
          <p:cNvSpPr txBox="1"/>
          <p:nvPr/>
        </p:nvSpPr>
        <p:spPr>
          <a:xfrm>
            <a:off x="1554480" y="3867912"/>
            <a:ext cx="2212848" cy="676656"/>
          </a:xfrm>
          <a:prstGeom prst="rect">
            <a:avLst/>
          </a:prstGeom>
          <a:noFill/>
          <a:ln/>
        </p:spPr>
        <p:txBody>
          <a:bodyPr wrap="square" lIns="508" tIns="508" rIns="508" bIns="508" rtlCol="0" anchor="ctr"/>
          <a:lstStyle/>
          <a:p>
            <a:pPr algn="r" indent="0" marL="0">
              <a:buNone/>
            </a:pPr>
            <a:r>
              <a:rPr lang="en-US" sz="1050" dirty="0">
                <a:solidFill>
                  <a:srgbClr val="C06A3C"/>
                </a:solidFill>
                <a:latin typeface="Calibri" pitchFamily="34" charset="0"/>
                <a:ea typeface="Calibri" pitchFamily="34" charset="-122"/>
                <a:cs typeface="Calibri" pitchFamily="34" charset="-120"/>
              </a:rPr>
              <a:t>طفلي بيضرب أخوه لما يتعصب، أعمل إيه؟</a:t>
            </a:r>
            <a:endParaRPr lang="en-US" sz="1050" dirty="0"/>
          </a:p>
        </p:txBody>
      </p:sp>
      <p:sp>
        <p:nvSpPr>
          <p:cNvPr id="12" name="Shape 10"/>
          <p:cNvSpPr/>
          <p:nvPr/>
        </p:nvSpPr>
        <p:spPr>
          <a:xfrm>
            <a:off x="896112" y="5074920"/>
            <a:ext cx="2916936" cy="548640"/>
          </a:xfrm>
          <a:prstGeom prst="roundRect">
            <a:avLst>
              <a:gd name="adj" fmla="val 50000"/>
            </a:avLst>
          </a:prstGeom>
          <a:solidFill>
            <a:srgbClr val="F4EEFA"/>
          </a:solidFill>
          <a:ln/>
        </p:spPr>
      </p:sp>
      <p:sp>
        <p:nvSpPr>
          <p:cNvPr id="13" name="Shape 11"/>
          <p:cNvSpPr/>
          <p:nvPr/>
        </p:nvSpPr>
        <p:spPr>
          <a:xfrm>
            <a:off x="969264" y="5148072"/>
            <a:ext cx="402336" cy="402336"/>
          </a:xfrm>
          <a:prstGeom prst="ellipse">
            <a:avLst/>
          </a:prstGeom>
          <a:solidFill>
            <a:srgbClr val="D9824F"/>
          </a:solidFill>
          <a:ln/>
        </p:spPr>
      </p:sp>
      <p:sp>
        <p:nvSpPr>
          <p:cNvPr id="14" name="Text 12"/>
          <p:cNvSpPr txBox="1"/>
          <p:nvPr/>
        </p:nvSpPr>
        <p:spPr>
          <a:xfrm>
            <a:off x="969264" y="5148072"/>
            <a:ext cx="402336"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1426464" y="5074920"/>
            <a:ext cx="2331720" cy="548640"/>
          </a:xfrm>
          <a:prstGeom prst="rect">
            <a:avLst/>
          </a:prstGeom>
          <a:noFill/>
          <a:ln/>
        </p:spPr>
        <p:txBody>
          <a:bodyPr wrap="square" lIns="508" tIns="508" rIns="508" bIns="508" rtlCol="0" anchor="ctr"/>
          <a:lstStyle/>
          <a:p>
            <a:pPr algn="r" indent="0" marL="0">
              <a:buNone/>
            </a:pPr>
            <a:r>
              <a:rPr lang="en-US" sz="950" dirty="0">
                <a:solidFill>
                  <a:srgbClr val="9B93A8"/>
                </a:solidFill>
                <a:latin typeface="Calibri" pitchFamily="34" charset="0"/>
                <a:ea typeface="Calibri" pitchFamily="34" charset="-122"/>
                <a:cs typeface="Calibri" pitchFamily="34" charset="-120"/>
              </a:rPr>
              <a:t>اكتب سؤالك، أو استخدم الميكروفون…</a:t>
            </a:r>
            <a:endParaRPr lang="en-US" sz="950" dirty="0"/>
          </a:p>
        </p:txBody>
      </p:sp>
      <p:sp>
        <p:nvSpPr>
          <p:cNvPr id="16" name="Shape 14"/>
          <p:cNvSpPr/>
          <p:nvPr/>
        </p:nvSpPr>
        <p:spPr>
          <a:xfrm>
            <a:off x="4434840" y="1874520"/>
            <a:ext cx="7114032"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17" name="Shape 15"/>
          <p:cNvSpPr/>
          <p:nvPr/>
        </p:nvSpPr>
        <p:spPr>
          <a:xfrm>
            <a:off x="4663440" y="2148840"/>
            <a:ext cx="502920" cy="502920"/>
          </a:xfrm>
          <a:prstGeom prst="ellipse">
            <a:avLst/>
          </a:prstGeom>
          <a:solidFill>
            <a:srgbClr val="FFFFFF"/>
          </a:solidFill>
          <a:ln w="22225">
            <a:solidFill>
              <a:srgbClr val="D9824F"/>
            </a:solidFill>
            <a:prstDash val="solid"/>
          </a:ln>
        </p:spPr>
      </p:sp>
      <p:sp>
        <p:nvSpPr>
          <p:cNvPr id="18" name="Text 16"/>
          <p:cNvSpPr txBox="1"/>
          <p:nvPr/>
        </p:nvSpPr>
        <p:spPr>
          <a:xfrm>
            <a:off x="4663440" y="2148840"/>
            <a:ext cx="502920" cy="50292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a:t>
            </a:r>
            <a:endParaRPr lang="en-US" sz="1800" dirty="0"/>
          </a:p>
        </p:txBody>
      </p:sp>
      <p:sp>
        <p:nvSpPr>
          <p:cNvPr id="19" name="Text 17"/>
          <p:cNvSpPr txBox="1"/>
          <p:nvPr/>
        </p:nvSpPr>
        <p:spPr>
          <a:xfrm>
            <a:off x="5349240" y="2002536"/>
            <a:ext cx="6035040" cy="82296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RTL layout, Egyptian dialect throughout</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Sidebar, message alignment, and every UI string built for Arabic from the start.</a:t>
            </a:r>
            <a:endParaRPr lang="en-US" sz="1400" dirty="0"/>
          </a:p>
        </p:txBody>
      </p:sp>
      <p:sp>
        <p:nvSpPr>
          <p:cNvPr id="20" name="Shape 18"/>
          <p:cNvSpPr/>
          <p:nvPr/>
        </p:nvSpPr>
        <p:spPr>
          <a:xfrm>
            <a:off x="4434840" y="3017520"/>
            <a:ext cx="7114032"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21" name="Shape 19"/>
          <p:cNvSpPr/>
          <p:nvPr/>
        </p:nvSpPr>
        <p:spPr>
          <a:xfrm>
            <a:off x="4663440" y="3291840"/>
            <a:ext cx="502920" cy="502920"/>
          </a:xfrm>
          <a:prstGeom prst="ellipse">
            <a:avLst/>
          </a:prstGeom>
          <a:solidFill>
            <a:srgbClr val="FFFFFF"/>
          </a:solidFill>
          <a:ln w="22225">
            <a:solidFill>
              <a:srgbClr val="D9824F"/>
            </a:solidFill>
            <a:prstDash val="solid"/>
          </a:ln>
        </p:spPr>
      </p:sp>
      <p:sp>
        <p:nvSpPr>
          <p:cNvPr id="22" name="Text 20"/>
          <p:cNvSpPr txBox="1"/>
          <p:nvPr/>
        </p:nvSpPr>
        <p:spPr>
          <a:xfrm>
            <a:off x="4663440" y="3291840"/>
            <a:ext cx="502920" cy="50292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2</a:t>
            </a:r>
            <a:endParaRPr lang="en-US" sz="1800" dirty="0"/>
          </a:p>
        </p:txBody>
      </p:sp>
      <p:sp>
        <p:nvSpPr>
          <p:cNvPr id="23" name="Text 21"/>
          <p:cNvSpPr txBox="1"/>
          <p:nvPr/>
        </p:nvSpPr>
        <p:spPr>
          <a:xfrm>
            <a:off x="5349240" y="3145536"/>
            <a:ext cx="6035040" cy="82296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Voice recording via MediaRecorder</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Real browser mic capture with a live “listening…” state, ready for the STT endpoint.</a:t>
            </a:r>
            <a:endParaRPr lang="en-US" sz="1400" dirty="0"/>
          </a:p>
        </p:txBody>
      </p:sp>
      <p:sp>
        <p:nvSpPr>
          <p:cNvPr id="24" name="Shape 22"/>
          <p:cNvSpPr/>
          <p:nvPr/>
        </p:nvSpPr>
        <p:spPr>
          <a:xfrm>
            <a:off x="4434840" y="4160520"/>
            <a:ext cx="7114032" cy="1051560"/>
          </a:xfrm>
          <a:prstGeom prst="roundRect">
            <a:avLst>
              <a:gd name="adj" fmla="val 9565"/>
            </a:avLst>
          </a:prstGeom>
          <a:solidFill>
            <a:srgbClr val="FFFFFF"/>
          </a:solidFill>
          <a:ln/>
          <a:effectLst>
            <a:outerShdw sx="100000" sy="100000" kx="0" ky="0" algn="bl" rotWithShape="0" blurRad="165100" dist="38100" dir="5400000">
              <a:srgbClr val="B7A6C9">
                <a:alpha val="26000"/>
              </a:srgbClr>
            </a:outerShdw>
          </a:effectLst>
        </p:spPr>
      </p:sp>
      <p:sp>
        <p:nvSpPr>
          <p:cNvPr id="25" name="Shape 23"/>
          <p:cNvSpPr/>
          <p:nvPr/>
        </p:nvSpPr>
        <p:spPr>
          <a:xfrm>
            <a:off x="4663440" y="4434840"/>
            <a:ext cx="502920" cy="502920"/>
          </a:xfrm>
          <a:prstGeom prst="ellipse">
            <a:avLst/>
          </a:prstGeom>
          <a:solidFill>
            <a:srgbClr val="FFFFFF"/>
          </a:solidFill>
          <a:ln w="22225">
            <a:solidFill>
              <a:srgbClr val="D9824F"/>
            </a:solidFill>
            <a:prstDash val="solid"/>
          </a:ln>
        </p:spPr>
      </p:sp>
      <p:sp>
        <p:nvSpPr>
          <p:cNvPr id="26" name="Text 24"/>
          <p:cNvSpPr txBox="1"/>
          <p:nvPr/>
        </p:nvSpPr>
        <p:spPr>
          <a:xfrm>
            <a:off x="4663440" y="4434840"/>
            <a:ext cx="502920" cy="50292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3</a:t>
            </a:r>
            <a:endParaRPr lang="en-US" sz="1800" dirty="0"/>
          </a:p>
        </p:txBody>
      </p:sp>
      <p:sp>
        <p:nvSpPr>
          <p:cNvPr id="27" name="Text 25"/>
          <p:cNvSpPr txBox="1"/>
          <p:nvPr/>
        </p:nvSpPr>
        <p:spPr>
          <a:xfrm>
            <a:off x="5349240" y="4288536"/>
            <a:ext cx="6035040" cy="822960"/>
          </a:xfrm>
          <a:prstGeom prst="rect">
            <a:avLst/>
          </a:prstGeom>
          <a:noFill/>
          <a:ln/>
        </p:spPr>
        <p:txBody>
          <a:bodyPr wrap="square" lIns="0" tIns="0" rIns="0" bIns="0" rtlCol="0" anchor="ctr"/>
          <a:lstStyle/>
          <a:p>
            <a:pPr indent="0" marL="0">
              <a:lnSpc>
                <a:spcPct val="103000"/>
              </a:lnSpc>
              <a:spcBef>
                <a:spcPts val="300"/>
              </a:spcBef>
              <a:buNone/>
            </a:pPr>
            <a:r>
              <a:rPr lang="en-US" sz="1400" b="1" dirty="0">
                <a:solidFill>
                  <a:srgbClr val="3D2352"/>
                </a:solidFill>
                <a:latin typeface="Calibri" pitchFamily="34" charset="0"/>
                <a:ea typeface="Calibri" pitchFamily="34" charset="-122"/>
                <a:cs typeface="Calibri" pitchFamily="34" charset="-120"/>
              </a:rPr>
              <a:t>Mock-to-real backend swap point</a:t>
            </a:r>
            <a:endParaRPr lang="en-US" sz="1400" dirty="0"/>
          </a:p>
          <a:p>
            <a:pPr indent="0" marL="0">
              <a:lnSpc>
                <a:spcPct val="103000"/>
              </a:lnSpc>
              <a:spcBef>
                <a:spcPts val="300"/>
              </a:spcBef>
              <a:buNone/>
            </a:pPr>
            <a:r>
              <a:rPr lang="en-US" sz="1150" dirty="0">
                <a:solidFill>
                  <a:srgbClr val="6E6680"/>
                </a:solidFill>
                <a:latin typeface="Calibri" pitchFamily="34" charset="0"/>
                <a:ea typeface="Calibri" pitchFamily="34" charset="-122"/>
                <a:cs typeface="Calibri" pitchFamily="34" charset="-120"/>
              </a:rPr>
              <a:t>Two isolated functions (chat, transcription) so wiring the real API touches no UI code.</a:t>
            </a:r>
            <a:endParaRPr lang="en-US" sz="1400" dirty="0"/>
          </a:p>
        </p:txBody>
      </p:sp>
      <p:sp>
        <p:nvSpPr>
          <p:cNvPr id="28" name="Shape 26"/>
          <p:cNvSpPr/>
          <p:nvPr/>
        </p:nvSpPr>
        <p:spPr>
          <a:xfrm>
            <a:off x="4434840" y="5394960"/>
            <a:ext cx="950976" cy="457200"/>
          </a:xfrm>
          <a:prstGeom prst="roundRect">
            <a:avLst>
              <a:gd name="adj" fmla="val 50000"/>
            </a:avLst>
          </a:prstGeom>
          <a:solidFill>
            <a:srgbClr val="FBF6FB"/>
          </a:solidFill>
          <a:ln/>
          <a:effectLst>
            <a:outerShdw sx="100000" sy="100000" kx="0" ky="0" algn="bl" rotWithShape="0" blurRad="165100" dist="38100" dir="5400000">
              <a:srgbClr val="B7A6C9">
                <a:alpha val="26000"/>
              </a:srgbClr>
            </a:outerShdw>
          </a:effectLst>
        </p:spPr>
      </p:sp>
      <p:sp>
        <p:nvSpPr>
          <p:cNvPr id="29" name="Text 27"/>
          <p:cNvSpPr txBox="1"/>
          <p:nvPr/>
        </p:nvSpPr>
        <p:spPr>
          <a:xfrm>
            <a:off x="4434840" y="5394960"/>
            <a:ext cx="950976" cy="457200"/>
          </a:xfrm>
          <a:prstGeom prst="rect">
            <a:avLst/>
          </a:prstGeom>
          <a:noFill/>
          <a:ln/>
        </p:spPr>
        <p:txBody>
          <a:bodyPr wrap="square" lIns="0" tIns="0" rIns="0" bIns="0" rtlCol="0" anchor="ctr"/>
          <a:lstStyle/>
          <a:p>
            <a:pPr algn="ctr" indent="0" marL="0">
              <a:buNone/>
            </a:pPr>
            <a:r>
              <a:rPr lang="en-US" sz="1150" b="1" dirty="0">
                <a:solidFill>
                  <a:srgbClr val="C06A3C"/>
                </a:solidFill>
                <a:latin typeface="Calibri" pitchFamily="34" charset="0"/>
                <a:ea typeface="Calibri" pitchFamily="34" charset="-122"/>
                <a:cs typeface="Calibri" pitchFamily="34" charset="-120"/>
              </a:rPr>
              <a:t>React</a:t>
            </a:r>
            <a:endParaRPr lang="en-US" sz="1150" dirty="0"/>
          </a:p>
        </p:txBody>
      </p:sp>
      <p:sp>
        <p:nvSpPr>
          <p:cNvPr id="30" name="Shape 28"/>
          <p:cNvSpPr/>
          <p:nvPr/>
        </p:nvSpPr>
        <p:spPr>
          <a:xfrm>
            <a:off x="5614416" y="5394960"/>
            <a:ext cx="2136038" cy="457200"/>
          </a:xfrm>
          <a:prstGeom prst="roundRect">
            <a:avLst>
              <a:gd name="adj" fmla="val 50000"/>
            </a:avLst>
          </a:prstGeom>
          <a:solidFill>
            <a:srgbClr val="FBF6FB"/>
          </a:solidFill>
          <a:ln/>
          <a:effectLst>
            <a:outerShdw sx="100000" sy="100000" kx="0" ky="0" algn="bl" rotWithShape="0" blurRad="165100" dist="38100" dir="5400000">
              <a:srgbClr val="B7A6C9">
                <a:alpha val="26000"/>
              </a:srgbClr>
            </a:outerShdw>
          </a:effectLst>
        </p:spPr>
      </p:sp>
      <p:sp>
        <p:nvSpPr>
          <p:cNvPr id="31" name="Text 29"/>
          <p:cNvSpPr txBox="1"/>
          <p:nvPr/>
        </p:nvSpPr>
        <p:spPr>
          <a:xfrm>
            <a:off x="5614416" y="5394960"/>
            <a:ext cx="2136038" cy="457200"/>
          </a:xfrm>
          <a:prstGeom prst="rect">
            <a:avLst/>
          </a:prstGeom>
          <a:noFill/>
          <a:ln/>
        </p:spPr>
        <p:txBody>
          <a:bodyPr wrap="square" lIns="0" tIns="0" rIns="0" bIns="0" rtlCol="0" anchor="ctr"/>
          <a:lstStyle/>
          <a:p>
            <a:pPr algn="ctr" indent="0" marL="0">
              <a:buNone/>
            </a:pPr>
            <a:r>
              <a:rPr lang="en-US" sz="1150" b="1" dirty="0">
                <a:solidFill>
                  <a:srgbClr val="C06A3C"/>
                </a:solidFill>
                <a:latin typeface="Calibri" pitchFamily="34" charset="0"/>
                <a:ea typeface="Calibri" pitchFamily="34" charset="-122"/>
                <a:cs typeface="Calibri" pitchFamily="34" charset="-120"/>
              </a:rPr>
              <a:t>MediaRecorder API</a:t>
            </a:r>
            <a:endParaRPr lang="en-US" sz="1150" dirty="0"/>
          </a:p>
        </p:txBody>
      </p:sp>
      <p:sp>
        <p:nvSpPr>
          <p:cNvPr id="32" name="Shape 30"/>
          <p:cNvSpPr/>
          <p:nvPr/>
        </p:nvSpPr>
        <p:spPr>
          <a:xfrm>
            <a:off x="7979054" y="5394960"/>
            <a:ext cx="2136038" cy="457200"/>
          </a:xfrm>
          <a:prstGeom prst="roundRect">
            <a:avLst>
              <a:gd name="adj" fmla="val 50000"/>
            </a:avLst>
          </a:prstGeom>
          <a:solidFill>
            <a:srgbClr val="FBF6FB"/>
          </a:solidFill>
          <a:ln/>
          <a:effectLst>
            <a:outerShdw sx="100000" sy="100000" kx="0" ky="0" algn="bl" rotWithShape="0" blurRad="165100" dist="38100" dir="5400000">
              <a:srgbClr val="B7A6C9">
                <a:alpha val="26000"/>
              </a:srgbClr>
            </a:outerShdw>
          </a:effectLst>
        </p:spPr>
      </p:sp>
      <p:sp>
        <p:nvSpPr>
          <p:cNvPr id="33" name="Text 31"/>
          <p:cNvSpPr txBox="1"/>
          <p:nvPr/>
        </p:nvSpPr>
        <p:spPr>
          <a:xfrm>
            <a:off x="7979054" y="5394960"/>
            <a:ext cx="2136038" cy="457200"/>
          </a:xfrm>
          <a:prstGeom prst="rect">
            <a:avLst/>
          </a:prstGeom>
          <a:noFill/>
          <a:ln/>
        </p:spPr>
        <p:txBody>
          <a:bodyPr wrap="square" lIns="0" tIns="0" rIns="0" bIns="0" rtlCol="0" anchor="ctr"/>
          <a:lstStyle/>
          <a:p>
            <a:pPr algn="ctr" indent="0" marL="0">
              <a:buNone/>
            </a:pPr>
            <a:r>
              <a:rPr lang="en-US" sz="1150" b="1" dirty="0">
                <a:solidFill>
                  <a:srgbClr val="C06A3C"/>
                </a:solidFill>
                <a:latin typeface="Calibri" pitchFamily="34" charset="0"/>
                <a:ea typeface="Calibri" pitchFamily="34" charset="-122"/>
                <a:cs typeface="Calibri" pitchFamily="34" charset="-120"/>
              </a:rPr>
              <a:t>RTL design tokens</a:t>
            </a:r>
            <a:endParaRPr lang="en-US" sz="1150" dirty="0"/>
          </a:p>
        </p:txBody>
      </p:sp>
      <p:sp>
        <p:nvSpPr>
          <p:cNvPr id="34" name="Text 32"/>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Built RTL-first — the interface speaks the user's language, literally.</a:t>
            </a:r>
            <a:endParaRPr lang="en-US" sz="1150" dirty="0"/>
          </a:p>
        </p:txBody>
      </p:sp>
      <p:sp>
        <p:nvSpPr>
          <p:cNvPr id="35" name="Text 33"/>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14 / 18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COMPONENT 3 · VOICE SERVICE</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Speech-to-Text &amp; Text-to-Speech</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Hands-free: parents ask while their hands are full — no typing required.</a:t>
            </a:r>
            <a:endParaRPr lang="en-US" sz="1400" dirty="0"/>
          </a:p>
        </p:txBody>
      </p:sp>
      <p:sp>
        <p:nvSpPr>
          <p:cNvPr id="5" name="Shape 3"/>
          <p:cNvSpPr/>
          <p:nvPr/>
        </p:nvSpPr>
        <p:spPr>
          <a:xfrm>
            <a:off x="640080" y="1874520"/>
            <a:ext cx="1090879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6" name="Shape 4"/>
          <p:cNvSpPr/>
          <p:nvPr/>
        </p:nvSpPr>
        <p:spPr>
          <a:xfrm>
            <a:off x="914400" y="2258568"/>
            <a:ext cx="548640" cy="548640"/>
          </a:xfrm>
          <a:prstGeom prst="ellipse">
            <a:avLst/>
          </a:prstGeom>
          <a:solidFill>
            <a:srgbClr val="FFFFFF"/>
          </a:solidFill>
          <a:ln w="22225">
            <a:solidFill>
              <a:srgbClr val="D9824F"/>
            </a:solidFill>
            <a:prstDash val="solid"/>
          </a:ln>
        </p:spPr>
      </p:sp>
      <p:sp>
        <p:nvSpPr>
          <p:cNvPr id="7" name="Text 5"/>
          <p:cNvSpPr txBox="1"/>
          <p:nvPr/>
        </p:nvSpPr>
        <p:spPr>
          <a:xfrm>
            <a:off x="914400" y="2258568"/>
            <a:ext cx="548640" cy="54864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737360" y="2093976"/>
            <a:ext cx="365760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Speech-to-Text (STT)</a:t>
            </a:r>
            <a:endParaRPr lang="en-US" sz="1600" dirty="0"/>
          </a:p>
        </p:txBody>
      </p:sp>
      <p:sp>
        <p:nvSpPr>
          <p:cNvPr id="9" name="Text 7"/>
          <p:cNvSpPr txBox="1"/>
          <p:nvPr/>
        </p:nvSpPr>
        <p:spPr>
          <a:xfrm>
            <a:off x="1737360" y="2532888"/>
            <a:ext cx="9509760" cy="502920"/>
          </a:xfrm>
          <a:prstGeom prst="rect">
            <a:avLst/>
          </a:prstGeom>
          <a:noFill/>
          <a:ln/>
        </p:spPr>
        <p:txBody>
          <a:bodyPr wrap="square" lIns="0" tIns="0" rIns="0" bIns="0" rtlCol="0" anchor="ctr"/>
          <a:lstStyle/>
          <a:p>
            <a:pPr indent="0" marL="0">
              <a:lnSpc>
                <a:spcPct val="105000"/>
              </a:lnSpc>
              <a:buNone/>
            </a:pPr>
            <a:r>
              <a:rPr lang="en-US" sz="1250" dirty="0">
                <a:solidFill>
                  <a:srgbClr val="6E6680"/>
                </a:solidFill>
                <a:latin typeface="Calibri" pitchFamily="34" charset="0"/>
                <a:ea typeface="Calibri" pitchFamily="34" charset="-122"/>
                <a:cs typeface="Calibri" pitchFamily="34" charset="-120"/>
              </a:rPr>
              <a:t>faster-whisper (small), Arabic-forced, VAD tuned to 1500 ms — turns the spoken question into text for the RAG pipeline.</a:t>
            </a:r>
            <a:endParaRPr lang="en-US" sz="1250" dirty="0"/>
          </a:p>
        </p:txBody>
      </p:sp>
      <p:sp>
        <p:nvSpPr>
          <p:cNvPr id="10" name="Shape 8"/>
          <p:cNvSpPr/>
          <p:nvPr/>
        </p:nvSpPr>
        <p:spPr>
          <a:xfrm>
            <a:off x="640080" y="3291840"/>
            <a:ext cx="1090879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11" name="Shape 9"/>
          <p:cNvSpPr/>
          <p:nvPr/>
        </p:nvSpPr>
        <p:spPr>
          <a:xfrm>
            <a:off x="914400" y="3675888"/>
            <a:ext cx="548640" cy="548640"/>
          </a:xfrm>
          <a:prstGeom prst="ellipse">
            <a:avLst/>
          </a:prstGeom>
          <a:solidFill>
            <a:srgbClr val="FFFFFF"/>
          </a:solidFill>
          <a:ln w="22225">
            <a:solidFill>
              <a:srgbClr val="D9824F"/>
            </a:solidFill>
            <a:prstDash val="solid"/>
          </a:ln>
        </p:spPr>
      </p:sp>
      <p:sp>
        <p:nvSpPr>
          <p:cNvPr id="12" name="Text 10"/>
          <p:cNvSpPr txBox="1"/>
          <p:nvPr/>
        </p:nvSpPr>
        <p:spPr>
          <a:xfrm>
            <a:off x="914400" y="3675888"/>
            <a:ext cx="548640" cy="54864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737360" y="3511296"/>
            <a:ext cx="365760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Text-to-Speech (TTS)</a:t>
            </a:r>
            <a:endParaRPr lang="en-US" sz="1600" dirty="0"/>
          </a:p>
        </p:txBody>
      </p:sp>
      <p:sp>
        <p:nvSpPr>
          <p:cNvPr id="14" name="Text 12"/>
          <p:cNvSpPr txBox="1"/>
          <p:nvPr/>
        </p:nvSpPr>
        <p:spPr>
          <a:xfrm>
            <a:off x="1737360" y="3950208"/>
            <a:ext cx="9509760" cy="502920"/>
          </a:xfrm>
          <a:prstGeom prst="rect">
            <a:avLst/>
          </a:prstGeom>
          <a:noFill/>
          <a:ln/>
        </p:spPr>
        <p:txBody>
          <a:bodyPr wrap="square" lIns="0" tIns="0" rIns="0" bIns="0" rtlCol="0" anchor="ctr"/>
          <a:lstStyle/>
          <a:p>
            <a:pPr indent="0" marL="0">
              <a:lnSpc>
                <a:spcPct val="105000"/>
              </a:lnSpc>
              <a:buNone/>
            </a:pPr>
            <a:r>
              <a:rPr lang="en-US" sz="1250" dirty="0">
                <a:solidFill>
                  <a:srgbClr val="6E6680"/>
                </a:solidFill>
                <a:latin typeface="Calibri" pitchFamily="34" charset="0"/>
                <a:ea typeface="Calibri" pitchFamily="34" charset="-122"/>
                <a:cs typeface="Calibri" pitchFamily="34" charset="-120"/>
              </a:rPr>
              <a:t>NAMAA Egyptian-Arabic voice via a hosted Space — turns the written answer back into natural spoken audio.</a:t>
            </a:r>
            <a:endParaRPr lang="en-US" sz="1250" dirty="0"/>
          </a:p>
        </p:txBody>
      </p:sp>
      <p:sp>
        <p:nvSpPr>
          <p:cNvPr id="15" name="Shape 13"/>
          <p:cNvSpPr/>
          <p:nvPr/>
        </p:nvSpPr>
        <p:spPr>
          <a:xfrm>
            <a:off x="640080" y="4709160"/>
            <a:ext cx="10908792" cy="1280160"/>
          </a:xfrm>
          <a:prstGeom prst="roundRect">
            <a:avLst>
              <a:gd name="adj" fmla="val 7857"/>
            </a:avLst>
          </a:prstGeom>
          <a:solidFill>
            <a:srgbClr val="FFFFFF"/>
          </a:solidFill>
          <a:ln/>
          <a:effectLst>
            <a:outerShdw sx="100000" sy="100000" kx="0" ky="0" algn="bl" rotWithShape="0" blurRad="165100" dist="38100" dir="5400000">
              <a:srgbClr val="B7A6C9">
                <a:alpha val="26000"/>
              </a:srgbClr>
            </a:outerShdw>
          </a:effectLst>
        </p:spPr>
      </p:sp>
      <p:sp>
        <p:nvSpPr>
          <p:cNvPr id="16" name="Shape 14"/>
          <p:cNvSpPr/>
          <p:nvPr/>
        </p:nvSpPr>
        <p:spPr>
          <a:xfrm>
            <a:off x="914400" y="5093208"/>
            <a:ext cx="548640" cy="548640"/>
          </a:xfrm>
          <a:prstGeom prst="ellipse">
            <a:avLst/>
          </a:prstGeom>
          <a:solidFill>
            <a:srgbClr val="FFFFFF"/>
          </a:solidFill>
          <a:ln w="22225">
            <a:solidFill>
              <a:srgbClr val="D9824F"/>
            </a:solidFill>
            <a:prstDash val="solid"/>
          </a:ln>
        </p:spPr>
      </p:sp>
      <p:sp>
        <p:nvSpPr>
          <p:cNvPr id="17" name="Text 15"/>
          <p:cNvSpPr txBox="1"/>
          <p:nvPr/>
        </p:nvSpPr>
        <p:spPr>
          <a:xfrm>
            <a:off x="914400" y="5093208"/>
            <a:ext cx="548640" cy="548640"/>
          </a:xfrm>
          <a:prstGeom prst="rect">
            <a:avLst/>
          </a:prstGeom>
          <a:noFill/>
          <a:ln/>
        </p:spPr>
        <p:txBody>
          <a:bodyPr wrap="square" lIns="0" tIns="0" rIns="0" bIns="0" rtlCol="0" anchor="ctr"/>
          <a:lstStyle/>
          <a:p>
            <a:pPr algn="ctr" indent="0" marL="0">
              <a:buNone/>
            </a:pPr>
            <a:r>
              <a:rPr lang="en-US" sz="1800" b="1" dirty="0">
                <a:solidFill>
                  <a:srgbClr val="C06A3C"/>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737360" y="4928616"/>
            <a:ext cx="3657600" cy="457200"/>
          </a:xfrm>
          <a:prstGeom prst="rect">
            <a:avLst/>
          </a:prstGeom>
          <a:noFill/>
          <a:ln/>
        </p:spPr>
        <p:txBody>
          <a:bodyPr wrap="square" lIns="0" tIns="0" rIns="0" bIns="0" rtlCol="0" anchor="ctr"/>
          <a:lstStyle/>
          <a:p>
            <a:pPr indent="0" marL="0">
              <a:buNone/>
            </a:pPr>
            <a:r>
              <a:rPr lang="en-US" sz="1600" b="1" dirty="0">
                <a:solidFill>
                  <a:srgbClr val="3D2352"/>
                </a:solidFill>
                <a:latin typeface="Calibri" pitchFamily="34" charset="0"/>
                <a:ea typeface="Calibri" pitchFamily="34" charset="-122"/>
                <a:cs typeface="Calibri" pitchFamily="34" charset="-120"/>
              </a:rPr>
              <a:t>Fully integrated</a:t>
            </a:r>
            <a:endParaRPr lang="en-US" sz="1600" dirty="0"/>
          </a:p>
        </p:txBody>
      </p:sp>
      <p:sp>
        <p:nvSpPr>
          <p:cNvPr id="19" name="Text 17"/>
          <p:cNvSpPr txBox="1"/>
          <p:nvPr/>
        </p:nvSpPr>
        <p:spPr>
          <a:xfrm>
            <a:off x="1737360" y="5367528"/>
            <a:ext cx="9509760" cy="502920"/>
          </a:xfrm>
          <a:prstGeom prst="rect">
            <a:avLst/>
          </a:prstGeom>
          <a:noFill/>
          <a:ln/>
        </p:spPr>
        <p:txBody>
          <a:bodyPr wrap="square" lIns="0" tIns="0" rIns="0" bIns="0" rtlCol="0" anchor="ctr"/>
          <a:lstStyle/>
          <a:p>
            <a:pPr indent="0" marL="0">
              <a:lnSpc>
                <a:spcPct val="105000"/>
              </a:lnSpc>
              <a:buNone/>
            </a:pPr>
            <a:r>
              <a:rPr lang="en-US" sz="1250" dirty="0">
                <a:solidFill>
                  <a:srgbClr val="6E6680"/>
                </a:solidFill>
                <a:latin typeface="Calibri" pitchFamily="34" charset="0"/>
                <a:ea typeface="Calibri" pitchFamily="34" charset="-122"/>
                <a:cs typeface="Calibri" pitchFamily="34" charset="-120"/>
              </a:rPr>
              <a:t>A standalone FastAPI service wired end-to-end into the RAG + fine-tuned model pipeline over HTTP.</a:t>
            </a:r>
            <a:endParaRPr lang="en-US" sz="1250" dirty="0"/>
          </a:p>
        </p:txBody>
      </p:sp>
      <p:sp>
        <p:nvSpPr>
          <p:cNvPr id="20" name="Text 18"/>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STT is core scope; TTS delivered as a bonus — Egyptian voice in and out.</a:t>
            </a:r>
            <a:endParaRPr lang="en-US" sz="1150" dirty="0"/>
          </a:p>
        </p:txBody>
      </p:sp>
      <p:sp>
        <p:nvSpPr>
          <p:cNvPr id="21" name="Text 19"/>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15 / 18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VOICE SERVICE · RESULT</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From voice to voice — a working pipeline</a:t>
            </a:r>
            <a:endParaRPr lang="en-US" sz="3000" dirty="0"/>
          </a:p>
        </p:txBody>
      </p:sp>
      <p:sp>
        <p:nvSpPr>
          <p:cNvPr id="4" name="Shape 2"/>
          <p:cNvSpPr/>
          <p:nvPr/>
        </p:nvSpPr>
        <p:spPr>
          <a:xfrm>
            <a:off x="868680" y="2194560"/>
            <a:ext cx="3310128" cy="1828800"/>
          </a:xfrm>
          <a:prstGeom prst="roundRect">
            <a:avLst>
              <a:gd name="adj" fmla="val 5500"/>
            </a:avLst>
          </a:prstGeom>
          <a:solidFill>
            <a:srgbClr val="FFFFFF"/>
          </a:solidFill>
          <a:ln/>
          <a:effectLst>
            <a:outerShdw sx="100000" sy="100000" kx="0" ky="0" algn="bl" rotWithShape="0" blurRad="165100" dist="38100" dir="5400000">
              <a:srgbClr val="B7A6C9">
                <a:alpha val="26000"/>
              </a:srgbClr>
            </a:outerShdw>
          </a:effectLst>
        </p:spPr>
      </p:sp>
      <p:sp>
        <p:nvSpPr>
          <p:cNvPr id="5" name="Text 3"/>
          <p:cNvSpPr txBox="1"/>
          <p:nvPr/>
        </p:nvSpPr>
        <p:spPr>
          <a:xfrm>
            <a:off x="1051560" y="2743200"/>
            <a:ext cx="2944368" cy="640080"/>
          </a:xfrm>
          <a:prstGeom prst="rect">
            <a:avLst/>
          </a:prstGeom>
          <a:noFill/>
          <a:ln/>
        </p:spPr>
        <p:txBody>
          <a:bodyPr wrap="square" lIns="0" tIns="0" rIns="0" bIns="0" rtlCol="0" anchor="ctr"/>
          <a:lstStyle/>
          <a:p>
            <a:pPr algn="ctr" indent="0" marL="0">
              <a:lnSpc>
                <a:spcPct val="100000"/>
              </a:lnSpc>
              <a:buNone/>
            </a:pPr>
            <a:r>
              <a:rPr lang="en-US" sz="1700" b="1" dirty="0">
                <a:solidFill>
                  <a:srgbClr val="3D2352"/>
                </a:solidFill>
                <a:latin typeface="Calibri" pitchFamily="34" charset="0"/>
                <a:ea typeface="Calibri" pitchFamily="34" charset="-122"/>
                <a:cs typeface="Calibri" pitchFamily="34" charset="-120"/>
              </a:rPr>
              <a:t>Voice Input</a:t>
            </a:r>
            <a:endParaRPr lang="en-US" sz="1700" dirty="0"/>
          </a:p>
        </p:txBody>
      </p:sp>
      <p:sp>
        <p:nvSpPr>
          <p:cNvPr id="6" name="Text 4"/>
          <p:cNvSpPr txBox="1"/>
          <p:nvPr/>
        </p:nvSpPr>
        <p:spPr>
          <a:xfrm>
            <a:off x="1051560" y="3337560"/>
            <a:ext cx="2944368" cy="365760"/>
          </a:xfrm>
          <a:prstGeom prst="rect">
            <a:avLst/>
          </a:prstGeom>
          <a:noFill/>
          <a:ln/>
        </p:spPr>
        <p:txBody>
          <a:bodyPr wrap="square" lIns="0" tIns="0" rIns="0" bIns="0" rtlCol="0" anchor="ctr"/>
          <a:lstStyle/>
          <a:p>
            <a:pPr algn="ctr" indent="0" marL="0">
              <a:buNone/>
            </a:pPr>
            <a:r>
              <a:rPr lang="en-US" sz="1300" dirty="0">
                <a:solidFill>
                  <a:srgbClr val="C06A3C"/>
                </a:solidFill>
                <a:latin typeface="Calibri" pitchFamily="34" charset="0"/>
                <a:ea typeface="Calibri" pitchFamily="34" charset="-122"/>
                <a:cs typeface="Calibri" pitchFamily="34" charset="-120"/>
              </a:rPr>
              <a:t>(STT)</a:t>
            </a:r>
            <a:endParaRPr lang="en-US" sz="1300" dirty="0"/>
          </a:p>
        </p:txBody>
      </p:sp>
      <p:sp>
        <p:nvSpPr>
          <p:cNvPr id="7" name="Text 5"/>
          <p:cNvSpPr txBox="1"/>
          <p:nvPr/>
        </p:nvSpPr>
        <p:spPr>
          <a:xfrm>
            <a:off x="4201668" y="288036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4681728" y="2194560"/>
            <a:ext cx="3310128" cy="1828800"/>
          </a:xfrm>
          <a:prstGeom prst="roundRect">
            <a:avLst>
              <a:gd name="adj" fmla="val 5500"/>
            </a:avLst>
          </a:prstGeom>
          <a:solidFill>
            <a:srgbClr val="FBF6FB"/>
          </a:solidFill>
          <a:ln/>
          <a:effectLst>
            <a:outerShdw sx="100000" sy="100000" kx="0" ky="0" algn="bl" rotWithShape="0" blurRad="165100" dist="38100" dir="5400000">
              <a:srgbClr val="B7A6C9">
                <a:alpha val="26000"/>
              </a:srgbClr>
            </a:outerShdw>
          </a:effectLst>
        </p:spPr>
      </p:sp>
      <p:sp>
        <p:nvSpPr>
          <p:cNvPr id="9" name="Text 7"/>
          <p:cNvSpPr txBox="1"/>
          <p:nvPr/>
        </p:nvSpPr>
        <p:spPr>
          <a:xfrm>
            <a:off x="4864608" y="2743200"/>
            <a:ext cx="2944368" cy="640080"/>
          </a:xfrm>
          <a:prstGeom prst="rect">
            <a:avLst/>
          </a:prstGeom>
          <a:noFill/>
          <a:ln/>
        </p:spPr>
        <p:txBody>
          <a:bodyPr wrap="square" lIns="0" tIns="0" rIns="0" bIns="0" rtlCol="0" anchor="ctr"/>
          <a:lstStyle/>
          <a:p>
            <a:pPr algn="ctr" indent="0" marL="0">
              <a:lnSpc>
                <a:spcPct val="100000"/>
              </a:lnSpc>
              <a:buNone/>
            </a:pPr>
            <a:r>
              <a:rPr lang="en-US" sz="1700" b="1" dirty="0">
                <a:solidFill>
                  <a:srgbClr val="3D2352"/>
                </a:solidFill>
                <a:latin typeface="Calibri" pitchFamily="34" charset="0"/>
                <a:ea typeface="Calibri" pitchFamily="34" charset="-122"/>
                <a:cs typeface="Calibri" pitchFamily="34" charset="-120"/>
              </a:rPr>
              <a:t>RAG + Fine-Tuned Model</a:t>
            </a:r>
            <a:endParaRPr lang="en-US" sz="1700" dirty="0"/>
          </a:p>
        </p:txBody>
      </p:sp>
      <p:sp>
        <p:nvSpPr>
          <p:cNvPr id="10" name="Text 8"/>
          <p:cNvSpPr txBox="1"/>
          <p:nvPr/>
        </p:nvSpPr>
        <p:spPr>
          <a:xfrm>
            <a:off x="4864608" y="3337560"/>
            <a:ext cx="2944368" cy="365760"/>
          </a:xfrm>
          <a:prstGeom prst="rect">
            <a:avLst/>
          </a:prstGeom>
          <a:noFill/>
          <a:ln/>
        </p:spPr>
        <p:txBody>
          <a:bodyPr wrap="square" lIns="0" tIns="0" rIns="0" bIns="0" rtlCol="0" anchor="ctr"/>
          <a:lstStyle/>
          <a:p>
            <a:pPr algn="ctr" indent="0" marL="0">
              <a:buNone/>
            </a:pPr>
            <a:r>
              <a:rPr lang="en-US" sz="1300" dirty="0">
                <a:solidFill>
                  <a:srgbClr val="C06A3C"/>
                </a:solidFill>
                <a:latin typeface="Calibri" pitchFamily="34" charset="0"/>
                <a:ea typeface="Calibri" pitchFamily="34" charset="-122"/>
                <a:cs typeface="Calibri" pitchFamily="34" charset="-120"/>
              </a:rPr>
              <a:t>(Nile-Chat-4B)</a:t>
            </a:r>
            <a:endParaRPr lang="en-US" sz="1300" dirty="0"/>
          </a:p>
        </p:txBody>
      </p:sp>
      <p:sp>
        <p:nvSpPr>
          <p:cNvPr id="11" name="Text 9"/>
          <p:cNvSpPr txBox="1"/>
          <p:nvPr/>
        </p:nvSpPr>
        <p:spPr>
          <a:xfrm>
            <a:off x="8014716" y="2880360"/>
            <a:ext cx="457200" cy="457200"/>
          </a:xfrm>
          <a:prstGeom prst="rect">
            <a:avLst/>
          </a:prstGeom>
          <a:noFill/>
          <a:ln/>
        </p:spPr>
        <p:txBody>
          <a:bodyPr wrap="square" lIns="0" tIns="0" rIns="0" bIns="0" rtlCol="0" anchor="ctr"/>
          <a:lstStyle/>
          <a:p>
            <a:pPr algn="ctr" indent="0" marL="0">
              <a:buNone/>
            </a:pPr>
            <a:r>
              <a:rPr lang="en-US" sz="2200" b="1" dirty="0">
                <a:solidFill>
                  <a:srgbClr val="D9824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8494776" y="2194560"/>
            <a:ext cx="3310128" cy="1828800"/>
          </a:xfrm>
          <a:prstGeom prst="roundRect">
            <a:avLst>
              <a:gd name="adj" fmla="val 5500"/>
            </a:avLst>
          </a:prstGeom>
          <a:solidFill>
            <a:srgbClr val="FFFFFF"/>
          </a:solidFill>
          <a:ln/>
          <a:effectLst>
            <a:outerShdw sx="100000" sy="100000" kx="0" ky="0" algn="bl" rotWithShape="0" blurRad="165100" dist="38100" dir="5400000">
              <a:srgbClr val="B7A6C9">
                <a:alpha val="26000"/>
              </a:srgbClr>
            </a:outerShdw>
          </a:effectLst>
        </p:spPr>
      </p:sp>
      <p:sp>
        <p:nvSpPr>
          <p:cNvPr id="13" name="Text 11"/>
          <p:cNvSpPr txBox="1"/>
          <p:nvPr/>
        </p:nvSpPr>
        <p:spPr>
          <a:xfrm>
            <a:off x="8677656" y="2743200"/>
            <a:ext cx="2944368" cy="640080"/>
          </a:xfrm>
          <a:prstGeom prst="rect">
            <a:avLst/>
          </a:prstGeom>
          <a:noFill/>
          <a:ln/>
        </p:spPr>
        <p:txBody>
          <a:bodyPr wrap="square" lIns="0" tIns="0" rIns="0" bIns="0" rtlCol="0" anchor="ctr"/>
          <a:lstStyle/>
          <a:p>
            <a:pPr algn="ctr" indent="0" marL="0">
              <a:lnSpc>
                <a:spcPct val="100000"/>
              </a:lnSpc>
              <a:buNone/>
            </a:pPr>
            <a:r>
              <a:rPr lang="en-US" sz="1700" b="1" dirty="0">
                <a:solidFill>
                  <a:srgbClr val="3D2352"/>
                </a:solidFill>
                <a:latin typeface="Calibri" pitchFamily="34" charset="0"/>
                <a:ea typeface="Calibri" pitchFamily="34" charset="-122"/>
                <a:cs typeface="Calibri" pitchFamily="34" charset="-120"/>
              </a:rPr>
              <a:t>Voice Output</a:t>
            </a:r>
            <a:endParaRPr lang="en-US" sz="1700" dirty="0"/>
          </a:p>
        </p:txBody>
      </p:sp>
      <p:sp>
        <p:nvSpPr>
          <p:cNvPr id="14" name="Text 12"/>
          <p:cNvSpPr txBox="1"/>
          <p:nvPr/>
        </p:nvSpPr>
        <p:spPr>
          <a:xfrm>
            <a:off x="8677656" y="3337560"/>
            <a:ext cx="2944368" cy="365760"/>
          </a:xfrm>
          <a:prstGeom prst="rect">
            <a:avLst/>
          </a:prstGeom>
          <a:noFill/>
          <a:ln/>
        </p:spPr>
        <p:txBody>
          <a:bodyPr wrap="square" lIns="0" tIns="0" rIns="0" bIns="0" rtlCol="0" anchor="ctr"/>
          <a:lstStyle/>
          <a:p>
            <a:pPr algn="ctr" indent="0" marL="0">
              <a:buNone/>
            </a:pPr>
            <a:r>
              <a:rPr lang="en-US" sz="1300" dirty="0">
                <a:solidFill>
                  <a:srgbClr val="C06A3C"/>
                </a:solidFill>
                <a:latin typeface="Calibri" pitchFamily="34" charset="0"/>
                <a:ea typeface="Calibri" pitchFamily="34" charset="-122"/>
                <a:cs typeface="Calibri" pitchFamily="34" charset="-120"/>
              </a:rPr>
              <a:t>(TTS)</a:t>
            </a:r>
            <a:endParaRPr lang="en-US" sz="1300" dirty="0"/>
          </a:p>
        </p:txBody>
      </p:sp>
      <p:sp>
        <p:nvSpPr>
          <p:cNvPr id="15" name="Shape 13"/>
          <p:cNvSpPr/>
          <p:nvPr/>
        </p:nvSpPr>
        <p:spPr>
          <a:xfrm>
            <a:off x="868680" y="4526280"/>
            <a:ext cx="10451592" cy="1051560"/>
          </a:xfrm>
          <a:prstGeom prst="roundRect">
            <a:avLst>
              <a:gd name="adj" fmla="val 9565"/>
            </a:avLst>
          </a:prstGeom>
          <a:solidFill>
            <a:srgbClr val="F7EEE9"/>
          </a:solidFill>
          <a:ln/>
          <a:effectLst>
            <a:outerShdw sx="100000" sy="100000" kx="0" ky="0" algn="bl" rotWithShape="0" blurRad="165100" dist="38100" dir="5400000">
              <a:srgbClr val="B7A6C9">
                <a:alpha val="26000"/>
              </a:srgbClr>
            </a:outerShdw>
          </a:effectLst>
        </p:spPr>
      </p:sp>
      <p:sp>
        <p:nvSpPr>
          <p:cNvPr id="16" name="Text 14"/>
          <p:cNvSpPr txBox="1"/>
          <p:nvPr/>
        </p:nvSpPr>
        <p:spPr>
          <a:xfrm>
            <a:off x="1097280" y="4526280"/>
            <a:ext cx="10058400" cy="1051560"/>
          </a:xfrm>
          <a:prstGeom prst="rect">
            <a:avLst/>
          </a:prstGeom>
          <a:noFill/>
          <a:ln/>
        </p:spPr>
        <p:txBody>
          <a:bodyPr wrap="square" lIns="0" tIns="0" rIns="0" bIns="0" rtlCol="0" anchor="ctr"/>
          <a:lstStyle/>
          <a:p>
            <a:pPr algn="ctr" indent="0" marL="0">
              <a:buNone/>
            </a:pPr>
            <a:r>
              <a:rPr lang="en-US" sz="1600" b="1" dirty="0">
                <a:solidFill>
                  <a:srgbClr val="C06A3C"/>
                </a:solidFill>
                <a:latin typeface="Calibri" pitchFamily="34" charset="0"/>
                <a:ea typeface="Calibri" pitchFamily="34" charset="-122"/>
                <a:cs typeface="Calibri" pitchFamily="34" charset="-120"/>
              </a:rPr>
              <a:t>✓  </a:t>
            </a:r>
            <a:pPr algn="ctr" indent="0" marL="0">
              <a:buNone/>
            </a:pPr>
            <a:r>
              <a:rPr lang="en-US" sz="1500" b="1" dirty="0">
                <a:solidFill>
                  <a:srgbClr val="3D2352"/>
                </a:solidFill>
                <a:latin typeface="Calibri" pitchFamily="34" charset="0"/>
                <a:ea typeface="Calibri" pitchFamily="34" charset="-122"/>
                <a:cs typeface="Calibri" pitchFamily="34" charset="-120"/>
              </a:rPr>
              <a:t>Live demo tested and working — the full voice-to-voice pipeline runs end-to-end.</a:t>
            </a:r>
            <a:endParaRPr lang="en-US" sz="1600" dirty="0"/>
          </a:p>
        </p:txBody>
      </p:sp>
      <p:sp>
        <p:nvSpPr>
          <p:cNvPr id="17" name="Text 15"/>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A parent speaks in Egyptian Arabic and hears an answer back.</a:t>
            </a:r>
            <a:endParaRPr lang="en-US" sz="1150" dirty="0"/>
          </a:p>
        </p:txBody>
      </p:sp>
      <p:sp>
        <p:nvSpPr>
          <p:cNvPr id="18" name="Text 16"/>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16 / 18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EVALUATION · FINDINGS</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An honest read of the evaluation</a:t>
            </a:r>
            <a:endParaRPr lang="en-US" sz="3000" dirty="0"/>
          </a:p>
        </p:txBody>
      </p:sp>
      <p:sp>
        <p:nvSpPr>
          <p:cNvPr id="4" name="Text 2"/>
          <p:cNvSpPr txBox="1"/>
          <p:nvPr/>
        </p:nvSpPr>
        <p:spPr>
          <a:xfrm>
            <a:off x="640080" y="1371600"/>
            <a:ext cx="10607040" cy="457200"/>
          </a:xfrm>
          <a:prstGeom prst="rect">
            <a:avLst/>
          </a:prstGeom>
          <a:noFill/>
          <a:ln/>
        </p:spPr>
        <p:txBody>
          <a:bodyPr wrap="square" lIns="0" tIns="0" rIns="0" bIns="0" rtlCol="0" anchor="ctr"/>
          <a:lstStyle/>
          <a:p>
            <a:pPr algn="l" indent="0" marL="0">
              <a:buNone/>
            </a:pPr>
            <a:r>
              <a:rPr lang="en-US" sz="1400" dirty="0">
                <a:solidFill>
                  <a:srgbClr val="6E6680"/>
                </a:solidFill>
                <a:latin typeface="Calibri" pitchFamily="34" charset="0"/>
                <a:ea typeface="Calibri" pitchFamily="34" charset="-122"/>
                <a:cs typeface="Calibri" pitchFamily="34" charset="-120"/>
              </a:rPr>
              <a:t>28-question held-out test · rubric-graded on the quantized GGUF model (greedy).</a:t>
            </a:r>
            <a:endParaRPr lang="en-US" sz="1400" dirty="0"/>
          </a:p>
        </p:txBody>
      </p:sp>
      <p:sp>
        <p:nvSpPr>
          <p:cNvPr id="5" name="Shape 3"/>
          <p:cNvSpPr/>
          <p:nvPr/>
        </p:nvSpPr>
        <p:spPr>
          <a:xfrm>
            <a:off x="640080" y="1810512"/>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6" name="Text 4"/>
          <p:cNvSpPr txBox="1"/>
          <p:nvPr/>
        </p:nvSpPr>
        <p:spPr>
          <a:xfrm>
            <a:off x="640080" y="1938528"/>
            <a:ext cx="3520440" cy="45720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67%</a:t>
            </a:r>
            <a:endParaRPr lang="en-US" sz="3000" dirty="0"/>
          </a:p>
        </p:txBody>
      </p:sp>
      <p:sp>
        <p:nvSpPr>
          <p:cNvPr id="7" name="Text 5"/>
          <p:cNvSpPr txBox="1"/>
          <p:nvPr/>
        </p:nvSpPr>
        <p:spPr>
          <a:xfrm>
            <a:off x="749808" y="2322576"/>
            <a:ext cx="3300984" cy="384048"/>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OVERALL PASS RATE</a:t>
            </a:r>
            <a:endParaRPr lang="en-US" sz="950" dirty="0"/>
          </a:p>
        </p:txBody>
      </p:sp>
      <p:sp>
        <p:nvSpPr>
          <p:cNvPr id="8" name="Shape 6"/>
          <p:cNvSpPr/>
          <p:nvPr/>
        </p:nvSpPr>
        <p:spPr>
          <a:xfrm>
            <a:off x="4334256" y="1810512"/>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9" name="Text 7"/>
          <p:cNvSpPr txBox="1"/>
          <p:nvPr/>
        </p:nvSpPr>
        <p:spPr>
          <a:xfrm>
            <a:off x="4334256" y="1938528"/>
            <a:ext cx="3520440" cy="457200"/>
          </a:xfrm>
          <a:prstGeom prst="rect">
            <a:avLst/>
          </a:prstGeom>
          <a:noFill/>
          <a:ln/>
        </p:spPr>
        <p:txBody>
          <a:bodyPr wrap="square" lIns="0" tIns="0" rIns="0" bIns="0" rtlCol="0" anchor="ctr"/>
          <a:lstStyle/>
          <a:p>
            <a:pPr algn="ctr" indent="0" marL="0">
              <a:buNone/>
            </a:pPr>
            <a:r>
              <a:rPr lang="en-US" sz="2400" b="1" dirty="0">
                <a:solidFill>
                  <a:srgbClr val="C06A3C"/>
                </a:solidFill>
                <a:latin typeface="Cambria" pitchFamily="34" charset="0"/>
                <a:ea typeface="Cambria" pitchFamily="34" charset="-122"/>
                <a:cs typeface="Cambria" pitchFamily="34" charset="-120"/>
              </a:rPr>
              <a:t>8 / 12</a:t>
            </a:r>
            <a:endParaRPr lang="en-US" sz="2400" dirty="0"/>
          </a:p>
        </p:txBody>
      </p:sp>
      <p:sp>
        <p:nvSpPr>
          <p:cNvPr id="10" name="Text 8"/>
          <p:cNvSpPr txBox="1"/>
          <p:nvPr/>
        </p:nvSpPr>
        <p:spPr>
          <a:xfrm>
            <a:off x="4443984" y="2322576"/>
            <a:ext cx="3300984" cy="384048"/>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SAFETY-CRITICAL PASSED</a:t>
            </a:r>
            <a:endParaRPr lang="en-US" sz="950" dirty="0"/>
          </a:p>
        </p:txBody>
      </p:sp>
      <p:sp>
        <p:nvSpPr>
          <p:cNvPr id="11" name="Shape 9"/>
          <p:cNvSpPr/>
          <p:nvPr/>
        </p:nvSpPr>
        <p:spPr>
          <a:xfrm>
            <a:off x="8028432" y="1810512"/>
            <a:ext cx="3520440" cy="914400"/>
          </a:xfrm>
          <a:prstGeom prst="roundRect">
            <a:avLst>
              <a:gd name="adj" fmla="val 11000"/>
            </a:avLst>
          </a:prstGeom>
          <a:solidFill>
            <a:srgbClr val="FFFFFF"/>
          </a:solidFill>
          <a:ln/>
          <a:effectLst>
            <a:outerShdw sx="100000" sy="100000" kx="0" ky="0" algn="bl" rotWithShape="0" blurRad="165100" dist="38100" dir="5400000">
              <a:srgbClr val="B7A6C9">
                <a:alpha val="26000"/>
              </a:srgbClr>
            </a:outerShdw>
          </a:effectLst>
        </p:spPr>
      </p:sp>
      <p:sp>
        <p:nvSpPr>
          <p:cNvPr id="12" name="Text 10"/>
          <p:cNvSpPr txBox="1"/>
          <p:nvPr/>
        </p:nvSpPr>
        <p:spPr>
          <a:xfrm>
            <a:off x="8028432" y="1938528"/>
            <a:ext cx="3520440" cy="457200"/>
          </a:xfrm>
          <a:prstGeom prst="rect">
            <a:avLst/>
          </a:prstGeom>
          <a:noFill/>
          <a:ln/>
        </p:spPr>
        <p:txBody>
          <a:bodyPr wrap="square" lIns="0" tIns="0" rIns="0" bIns="0" rtlCol="0" anchor="ctr"/>
          <a:lstStyle/>
          <a:p>
            <a:pPr algn="ctr" indent="0" marL="0">
              <a:buNone/>
            </a:pPr>
            <a:r>
              <a:rPr lang="en-US" sz="3000" b="1" dirty="0">
                <a:solidFill>
                  <a:srgbClr val="C06A3C"/>
                </a:solidFill>
                <a:latin typeface="Cambria" pitchFamily="34" charset="0"/>
                <a:ea typeface="Cambria" pitchFamily="34" charset="-122"/>
                <a:cs typeface="Cambria" pitchFamily="34" charset="-120"/>
              </a:rPr>
              <a:t>9.2</a:t>
            </a:r>
            <a:endParaRPr lang="en-US" sz="3000" dirty="0"/>
          </a:p>
        </p:txBody>
      </p:sp>
      <p:sp>
        <p:nvSpPr>
          <p:cNvPr id="13" name="Text 11"/>
          <p:cNvSpPr txBox="1"/>
          <p:nvPr/>
        </p:nvSpPr>
        <p:spPr>
          <a:xfrm>
            <a:off x="8138160" y="2322576"/>
            <a:ext cx="3300984" cy="384048"/>
          </a:xfrm>
          <a:prstGeom prst="rect">
            <a:avLst/>
          </a:prstGeom>
          <a:noFill/>
          <a:ln/>
        </p:spPr>
        <p:txBody>
          <a:bodyPr wrap="square" lIns="0" tIns="0" rIns="0" bIns="0" rtlCol="0" anchor="t"/>
          <a:lstStyle/>
          <a:p>
            <a:pPr algn="ctr" indent="0" marL="0">
              <a:lnSpc>
                <a:spcPct val="100000"/>
              </a:lnSpc>
              <a:buNone/>
            </a:pPr>
            <a:r>
              <a:rPr lang="en-US" sz="950" b="1" spc="120" kern="0" dirty="0">
                <a:solidFill>
                  <a:srgbClr val="9B93A8"/>
                </a:solidFill>
                <a:latin typeface="Calibri" pitchFamily="34" charset="0"/>
                <a:ea typeface="Calibri" pitchFamily="34" charset="-122"/>
                <a:cs typeface="Calibri" pitchFamily="34" charset="-120"/>
              </a:rPr>
              <a:t>TOK/S · LAPTOP CPU</a:t>
            </a:r>
            <a:endParaRPr lang="en-US" sz="950" dirty="0"/>
          </a:p>
        </p:txBody>
      </p:sp>
      <p:sp>
        <p:nvSpPr>
          <p:cNvPr id="14" name="Shape 12"/>
          <p:cNvSpPr/>
          <p:nvPr/>
        </p:nvSpPr>
        <p:spPr>
          <a:xfrm>
            <a:off x="640080" y="2926080"/>
            <a:ext cx="5257800" cy="2971800"/>
          </a:xfrm>
          <a:prstGeom prst="roundRect">
            <a:avLst>
              <a:gd name="adj" fmla="val 3385"/>
            </a:avLst>
          </a:prstGeom>
          <a:solidFill>
            <a:srgbClr val="FFFFFF"/>
          </a:solidFill>
          <a:ln/>
          <a:effectLst>
            <a:outerShdw sx="100000" sy="100000" kx="0" ky="0" algn="bl" rotWithShape="0" blurRad="165100" dist="38100" dir="5400000">
              <a:srgbClr val="B7A6C9">
                <a:alpha val="26000"/>
              </a:srgbClr>
            </a:outerShdw>
          </a:effectLst>
        </p:spPr>
      </p:sp>
      <p:sp>
        <p:nvSpPr>
          <p:cNvPr id="15" name="Text 13"/>
          <p:cNvSpPr txBox="1"/>
          <p:nvPr/>
        </p:nvSpPr>
        <p:spPr>
          <a:xfrm>
            <a:off x="914400" y="3127248"/>
            <a:ext cx="4754880" cy="365760"/>
          </a:xfrm>
          <a:prstGeom prst="rect">
            <a:avLst/>
          </a:prstGeom>
          <a:noFill/>
          <a:ln/>
        </p:spPr>
        <p:txBody>
          <a:bodyPr wrap="square" lIns="0" tIns="0" rIns="0" bIns="0" rtlCol="0" anchor="ctr"/>
          <a:lstStyle/>
          <a:p>
            <a:pPr indent="0" marL="0">
              <a:buNone/>
            </a:pPr>
            <a:r>
              <a:rPr lang="en-US" sz="1600" b="1" dirty="0">
                <a:solidFill>
                  <a:srgbClr val="3E7C59"/>
                </a:solidFill>
                <a:latin typeface="Calibri" pitchFamily="34" charset="0"/>
                <a:ea typeface="Calibri" pitchFamily="34" charset="-122"/>
                <a:cs typeface="Calibri" pitchFamily="34" charset="-120"/>
              </a:rPr>
              <a:t>✓  What worked</a:t>
            </a:r>
            <a:endParaRPr lang="en-US" sz="1600" dirty="0"/>
          </a:p>
        </p:txBody>
      </p:sp>
      <p:sp>
        <p:nvSpPr>
          <p:cNvPr id="16" name="Text 14"/>
          <p:cNvSpPr txBox="1"/>
          <p:nvPr/>
        </p:nvSpPr>
        <p:spPr>
          <a:xfrm>
            <a:off x="914400" y="3611880"/>
            <a:ext cx="4800600" cy="2148840"/>
          </a:xfrm>
          <a:prstGeom prst="rect">
            <a:avLst/>
          </a:prstGeom>
          <a:noFill/>
          <a:ln/>
        </p:spPr>
        <p:txBody>
          <a:bodyPr wrap="square" lIns="0" tIns="0" rIns="0" bIns="0" rtlCol="0" anchor="t"/>
          <a:lstStyle/>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Warm, on-persona Egyptian-Arabic tone</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Correct refusals: FGM myth, antibiotics, cold-bath</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Emergencies routed to doctor / ER</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Runs on CPU — deployable with the RAG stack</a:t>
            </a:r>
            <a:endParaRPr lang="en-US" sz="1300" dirty="0"/>
          </a:p>
        </p:txBody>
      </p:sp>
      <p:sp>
        <p:nvSpPr>
          <p:cNvPr id="17" name="Shape 15"/>
          <p:cNvSpPr/>
          <p:nvPr/>
        </p:nvSpPr>
        <p:spPr>
          <a:xfrm>
            <a:off x="6263640" y="2926080"/>
            <a:ext cx="5285232" cy="2971800"/>
          </a:xfrm>
          <a:prstGeom prst="roundRect">
            <a:avLst>
              <a:gd name="adj" fmla="val 3385"/>
            </a:avLst>
          </a:prstGeom>
          <a:solidFill>
            <a:srgbClr val="FFFFFF"/>
          </a:solidFill>
          <a:ln/>
          <a:effectLst>
            <a:outerShdw sx="100000" sy="100000" kx="0" ky="0" algn="bl" rotWithShape="0" blurRad="165100" dist="38100" dir="5400000">
              <a:srgbClr val="B7A6C9">
                <a:alpha val="26000"/>
              </a:srgbClr>
            </a:outerShdw>
          </a:effectLst>
        </p:spPr>
      </p:sp>
      <p:sp>
        <p:nvSpPr>
          <p:cNvPr id="18" name="Text 16"/>
          <p:cNvSpPr txBox="1"/>
          <p:nvPr/>
        </p:nvSpPr>
        <p:spPr>
          <a:xfrm>
            <a:off x="6537960" y="3127248"/>
            <a:ext cx="4754880" cy="365760"/>
          </a:xfrm>
          <a:prstGeom prst="rect">
            <a:avLst/>
          </a:prstGeom>
          <a:noFill/>
          <a:ln/>
        </p:spPr>
        <p:txBody>
          <a:bodyPr wrap="square" lIns="0" tIns="0" rIns="0" bIns="0" rtlCol="0" anchor="ctr"/>
          <a:lstStyle/>
          <a:p>
            <a:pPr indent="0" marL="0">
              <a:buNone/>
            </a:pPr>
            <a:r>
              <a:rPr lang="en-US" sz="1600" b="1" dirty="0">
                <a:solidFill>
                  <a:srgbClr val="C06A3C"/>
                </a:solidFill>
                <a:latin typeface="Calibri" pitchFamily="34" charset="0"/>
                <a:ea typeface="Calibri" pitchFamily="34" charset="-122"/>
                <a:cs typeface="Calibri" pitchFamily="34" charset="-120"/>
              </a:rPr>
              <a:t>⚠  What to fix</a:t>
            </a:r>
            <a:endParaRPr lang="en-US" sz="1600" dirty="0"/>
          </a:p>
        </p:txBody>
      </p:sp>
      <p:sp>
        <p:nvSpPr>
          <p:cNvPr id="19" name="Text 17"/>
          <p:cNvSpPr txBox="1"/>
          <p:nvPr/>
        </p:nvSpPr>
        <p:spPr>
          <a:xfrm>
            <a:off x="6537960" y="3611880"/>
            <a:ext cx="4846320" cy="2148840"/>
          </a:xfrm>
          <a:prstGeom prst="rect">
            <a:avLst/>
          </a:prstGeom>
          <a:noFill/>
          <a:ln/>
        </p:spPr>
        <p:txBody>
          <a:bodyPr wrap="square" lIns="0" tIns="0" rIns="0" bIns="0" rtlCol="0" anchor="t"/>
          <a:lstStyle/>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A dosage question produced a numeric answer</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Choking was not escalated as an emergency</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Occasional wrong facts: solids age, screen time</a:t>
            </a:r>
            <a:endParaRPr lang="en-US" sz="1300" dirty="0"/>
          </a:p>
          <a:p>
            <a:pPr marL="342900" indent="-342900">
              <a:lnSpc>
                <a:spcPct val="103000"/>
              </a:lnSpc>
              <a:spcAft>
                <a:spcPts val="1000"/>
              </a:spcAft>
              <a:buSzPct val="100000"/>
              <a:buChar char="•"/>
            </a:pPr>
            <a:r>
              <a:rPr lang="en-US" sz="1300" dirty="0">
                <a:solidFill>
                  <a:srgbClr val="6E6680"/>
                </a:solidFill>
                <a:latin typeface="Calibri" pitchFamily="34" charset="0"/>
                <a:ea typeface="Calibri" pitchFamily="34" charset="-122"/>
                <a:cs typeface="Calibri" pitchFamily="34" charset="-120"/>
              </a:rPr>
              <a:t>Answered some out-of-scope questions</a:t>
            </a:r>
            <a:endParaRPr lang="en-US" sz="1300" dirty="0"/>
          </a:p>
        </p:txBody>
      </p:sp>
      <p:sp>
        <p:nvSpPr>
          <p:cNvPr id="20" name="Text 18"/>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Tone works. Safety needs strengthening. Facts should be grounded by RAG.</a:t>
            </a:r>
            <a:endParaRPr lang="en-US" sz="1150" dirty="0"/>
          </a:p>
        </p:txBody>
      </p:sp>
      <p:sp>
        <p:nvSpPr>
          <p:cNvPr id="21" name="Text 19"/>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17 / 18</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algn="l" indent="0" marL="0">
              <a:buNone/>
            </a:pPr>
            <a:r>
              <a:rPr lang="en-US" sz="1250" b="1" spc="300" kern="0" dirty="0">
                <a:solidFill>
                  <a:srgbClr val="D9824F"/>
                </a:solidFill>
                <a:latin typeface="Calibri" pitchFamily="34" charset="0"/>
                <a:ea typeface="Calibri" pitchFamily="34" charset="-122"/>
                <a:cs typeface="Calibri" pitchFamily="34" charset="-120"/>
              </a:rPr>
              <a:t>LIMITATIONS &amp; FUTURE IMPROVEMENTS</a:t>
            </a:r>
            <a:endParaRPr lang="en-US" sz="1250" dirty="0"/>
          </a:p>
        </p:txBody>
      </p:sp>
      <p:sp>
        <p:nvSpPr>
          <p:cNvPr id="3" name="Text 1"/>
          <p:cNvSpPr txBox="1"/>
          <p:nvPr/>
        </p:nvSpPr>
        <p:spPr>
          <a:xfrm>
            <a:off x="640080" y="749808"/>
            <a:ext cx="10908792" cy="685800"/>
          </a:xfrm>
          <a:prstGeom prst="rect">
            <a:avLst/>
          </a:prstGeom>
          <a:noFill/>
          <a:ln/>
        </p:spPr>
        <p:txBody>
          <a:bodyPr wrap="square" lIns="0" tIns="0" rIns="0" bIns="0" rtlCol="0" anchor="ctr"/>
          <a:lstStyle/>
          <a:p>
            <a:pPr algn="l" indent="0" marL="0">
              <a:buNone/>
            </a:pPr>
            <a:r>
              <a:rPr lang="en-US" sz="3000" b="1" dirty="0">
                <a:solidFill>
                  <a:srgbClr val="3D2352"/>
                </a:solidFill>
                <a:latin typeface="Cambria" pitchFamily="34" charset="0"/>
                <a:ea typeface="Cambria" pitchFamily="34" charset="-122"/>
                <a:cs typeface="Cambria" pitchFamily="34" charset="-120"/>
              </a:rPr>
              <a:t>Where it stands, and where it goes next</a:t>
            </a:r>
            <a:endParaRPr lang="en-US" sz="3000" dirty="0"/>
          </a:p>
        </p:txBody>
      </p:sp>
      <p:sp>
        <p:nvSpPr>
          <p:cNvPr id="4" name="Shape 2"/>
          <p:cNvSpPr/>
          <p:nvPr/>
        </p:nvSpPr>
        <p:spPr>
          <a:xfrm>
            <a:off x="640080" y="1828800"/>
            <a:ext cx="5257800" cy="4114800"/>
          </a:xfrm>
          <a:prstGeom prst="roundRect">
            <a:avLst>
              <a:gd name="adj" fmla="val 2444"/>
            </a:avLst>
          </a:prstGeom>
          <a:solidFill>
            <a:srgbClr val="FFFFFF"/>
          </a:solidFill>
          <a:ln/>
          <a:effectLst>
            <a:outerShdw sx="100000" sy="100000" kx="0" ky="0" algn="bl" rotWithShape="0" blurRad="165100" dist="38100" dir="5400000">
              <a:srgbClr val="B7A6C9">
                <a:alpha val="26000"/>
              </a:srgbClr>
            </a:outerShdw>
          </a:effectLst>
        </p:spPr>
      </p:sp>
      <p:sp>
        <p:nvSpPr>
          <p:cNvPr id="5" name="Text 3"/>
          <p:cNvSpPr txBox="1"/>
          <p:nvPr/>
        </p:nvSpPr>
        <p:spPr>
          <a:xfrm>
            <a:off x="914400" y="2057400"/>
            <a:ext cx="4754880" cy="365760"/>
          </a:xfrm>
          <a:prstGeom prst="rect">
            <a:avLst/>
          </a:prstGeom>
          <a:noFill/>
          <a:ln/>
        </p:spPr>
        <p:txBody>
          <a:bodyPr wrap="square" lIns="0" tIns="0" rIns="0" bIns="0" rtlCol="0" anchor="ctr"/>
          <a:lstStyle/>
          <a:p>
            <a:pPr indent="0" marL="0">
              <a:buNone/>
            </a:pPr>
            <a:r>
              <a:rPr lang="en-US" sz="1600" b="1" dirty="0">
                <a:solidFill>
                  <a:srgbClr val="C06A3C"/>
                </a:solidFill>
                <a:latin typeface="Calibri" pitchFamily="34" charset="0"/>
                <a:ea typeface="Calibri" pitchFamily="34" charset="-122"/>
                <a:cs typeface="Calibri" pitchFamily="34" charset="-120"/>
              </a:rPr>
              <a:t>Limitations</a:t>
            </a:r>
            <a:endParaRPr lang="en-US" sz="1600" dirty="0"/>
          </a:p>
        </p:txBody>
      </p:sp>
      <p:sp>
        <p:nvSpPr>
          <p:cNvPr id="6" name="Text 4"/>
          <p:cNvSpPr txBox="1"/>
          <p:nvPr/>
        </p:nvSpPr>
        <p:spPr>
          <a:xfrm>
            <a:off x="914400" y="2560320"/>
            <a:ext cx="4800600" cy="320040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Not a substitute for professional medical or psychological advice</a:t>
            </a:r>
            <a:endParaRPr lang="en-US" sz="1250" dirty="0"/>
          </a:p>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Safety refusals imperfect — dosage &amp; choking misses</a:t>
            </a:r>
            <a:endParaRPr lang="en-US" sz="1250" dirty="0"/>
          </a:p>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Facts only as good as the retrieved sources</a:t>
            </a:r>
            <a:endParaRPr lang="en-US" sz="1250" dirty="0"/>
          </a:p>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Narrow topic coverage (discipline, screen time, sleep)</a:t>
            </a:r>
            <a:endParaRPr lang="en-US" sz="1250" dirty="0"/>
          </a:p>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STT can drift Egyptian colloquial → MSA</a:t>
            </a:r>
            <a:endParaRPr lang="en-US" sz="1250" dirty="0"/>
          </a:p>
          <a:p>
            <a:pPr marL="342900" indent="-342900">
              <a:lnSpc>
                <a:spcPct val="105000"/>
              </a:lnSpc>
              <a:spcAft>
                <a:spcPts val="900"/>
              </a:spcAft>
              <a:buSzPct val="100000"/>
              <a:buChar char="•"/>
            </a:pPr>
            <a:r>
              <a:rPr lang="en-US" sz="1250" dirty="0">
                <a:solidFill>
                  <a:srgbClr val="6E6680"/>
                </a:solidFill>
                <a:latin typeface="Calibri" pitchFamily="34" charset="0"/>
                <a:ea typeface="Calibri" pitchFamily="34" charset="-122"/>
                <a:cs typeface="Calibri" pitchFamily="34" charset="-120"/>
              </a:rPr>
              <a:t>TTS depends on a third-party hosted Space</a:t>
            </a:r>
            <a:endParaRPr lang="en-US" sz="1250" dirty="0"/>
          </a:p>
        </p:txBody>
      </p:sp>
      <p:sp>
        <p:nvSpPr>
          <p:cNvPr id="7" name="Shape 5"/>
          <p:cNvSpPr/>
          <p:nvPr/>
        </p:nvSpPr>
        <p:spPr>
          <a:xfrm>
            <a:off x="6263640" y="1828800"/>
            <a:ext cx="5285232" cy="4114800"/>
          </a:xfrm>
          <a:prstGeom prst="roundRect">
            <a:avLst>
              <a:gd name="adj" fmla="val 2444"/>
            </a:avLst>
          </a:prstGeom>
          <a:solidFill>
            <a:srgbClr val="FBF6FB"/>
          </a:solidFill>
          <a:ln/>
          <a:effectLst>
            <a:outerShdw sx="100000" sy="100000" kx="0" ky="0" algn="bl" rotWithShape="0" blurRad="165100" dist="38100" dir="5400000">
              <a:srgbClr val="B7A6C9">
                <a:alpha val="26000"/>
              </a:srgbClr>
            </a:outerShdw>
          </a:effectLst>
        </p:spPr>
      </p:sp>
      <p:sp>
        <p:nvSpPr>
          <p:cNvPr id="8" name="Text 6"/>
          <p:cNvSpPr txBox="1"/>
          <p:nvPr/>
        </p:nvSpPr>
        <p:spPr>
          <a:xfrm>
            <a:off x="6537960" y="2057400"/>
            <a:ext cx="4754880" cy="365760"/>
          </a:xfrm>
          <a:prstGeom prst="rect">
            <a:avLst/>
          </a:prstGeom>
          <a:noFill/>
          <a:ln/>
        </p:spPr>
        <p:txBody>
          <a:bodyPr wrap="square" lIns="0" tIns="0" rIns="0" bIns="0" rtlCol="0" anchor="ctr"/>
          <a:lstStyle/>
          <a:p>
            <a:pPr indent="0" marL="0">
              <a:buNone/>
            </a:pPr>
            <a:r>
              <a:rPr lang="en-US" sz="1600" b="1" dirty="0">
                <a:solidFill>
                  <a:srgbClr val="C06A3C"/>
                </a:solidFill>
                <a:latin typeface="Calibri" pitchFamily="34" charset="0"/>
                <a:ea typeface="Calibri" pitchFamily="34" charset="-122"/>
                <a:cs typeface="Calibri" pitchFamily="34" charset="-120"/>
              </a:rPr>
              <a:t>Future improvements</a:t>
            </a:r>
            <a:endParaRPr lang="en-US" sz="1600" dirty="0"/>
          </a:p>
        </p:txBody>
      </p:sp>
      <p:sp>
        <p:nvSpPr>
          <p:cNvPr id="9" name="Shape 7"/>
          <p:cNvSpPr/>
          <p:nvPr/>
        </p:nvSpPr>
        <p:spPr>
          <a:xfrm>
            <a:off x="6537960" y="2578608"/>
            <a:ext cx="420624" cy="420624"/>
          </a:xfrm>
          <a:prstGeom prst="ellipse">
            <a:avLst/>
          </a:prstGeom>
          <a:solidFill>
            <a:srgbClr val="FFFFFF"/>
          </a:solidFill>
          <a:ln w="22225">
            <a:solidFill>
              <a:srgbClr val="D9824F"/>
            </a:solidFill>
            <a:prstDash val="solid"/>
          </a:ln>
        </p:spPr>
      </p:sp>
      <p:sp>
        <p:nvSpPr>
          <p:cNvPr id="10" name="Text 8"/>
          <p:cNvSpPr txBox="1"/>
          <p:nvPr/>
        </p:nvSpPr>
        <p:spPr>
          <a:xfrm>
            <a:off x="6537960" y="2578608"/>
            <a:ext cx="420624" cy="420624"/>
          </a:xfrm>
          <a:prstGeom prst="rect">
            <a:avLst/>
          </a:prstGeom>
          <a:noFill/>
          <a:ln/>
        </p:spPr>
        <p:txBody>
          <a:bodyPr wrap="square" lIns="0" tIns="0" rIns="0" bIns="0" rtlCol="0" anchor="ctr"/>
          <a:lstStyle/>
          <a:p>
            <a:pPr algn="ctr" indent="0" marL="0">
              <a:buNone/>
            </a:pPr>
            <a:r>
              <a:rPr lang="en-US" sz="1400" b="1" dirty="0">
                <a:solidFill>
                  <a:srgbClr val="C06A3C"/>
                </a:solidFill>
                <a:latin typeface="Cambria" pitchFamily="34" charset="0"/>
                <a:ea typeface="Cambria" pitchFamily="34" charset="-122"/>
                <a:cs typeface="Cambria" pitchFamily="34" charset="-120"/>
              </a:rPr>
              <a:t>1</a:t>
            </a:r>
            <a:endParaRPr lang="en-US" sz="1400" dirty="0"/>
          </a:p>
        </p:txBody>
      </p:sp>
      <p:sp>
        <p:nvSpPr>
          <p:cNvPr id="11" name="Text 9"/>
          <p:cNvSpPr txBox="1"/>
          <p:nvPr/>
        </p:nvSpPr>
        <p:spPr>
          <a:xfrm>
            <a:off x="7132320" y="2523744"/>
            <a:ext cx="4251960" cy="640080"/>
          </a:xfrm>
          <a:prstGeom prst="rect">
            <a:avLst/>
          </a:prstGeom>
          <a:noFill/>
          <a:ln/>
        </p:spPr>
        <p:txBody>
          <a:bodyPr wrap="square" lIns="0" tIns="0" rIns="0" bIns="0" rtlCol="0" anchor="t"/>
          <a:lstStyle/>
          <a:p>
            <a:pPr indent="0" marL="0">
              <a:lnSpc>
                <a:spcPct val="103000"/>
              </a:lnSpc>
              <a:buNone/>
            </a:pPr>
            <a:r>
              <a:rPr lang="en-US" sz="1300" b="1" dirty="0">
                <a:solidFill>
                  <a:srgbClr val="3D2352"/>
                </a:solidFill>
                <a:latin typeface="Calibri" pitchFamily="34" charset="0"/>
                <a:ea typeface="Calibri" pitchFamily="34" charset="-122"/>
                <a:cs typeface="Calibri" pitchFamily="34" charset="-120"/>
              </a:rPr>
              <a:t>Expand  </a:t>
            </a:r>
            <a:pPr indent="0" marL="0">
              <a:lnSpc>
                <a:spcPct val="103000"/>
              </a:lnSpc>
              <a:buNone/>
            </a:pPr>
            <a:r>
              <a:rPr lang="en-US" sz="1150" dirty="0">
                <a:solidFill>
                  <a:srgbClr val="6E6680"/>
                </a:solidFill>
                <a:latin typeface="Calibri" pitchFamily="34" charset="0"/>
                <a:ea typeface="Calibri" pitchFamily="34" charset="-122"/>
                <a:cs typeface="Calibri" pitchFamily="34" charset="-120"/>
              </a:rPr>
              <a:t>more safety pairs across emergencies, dosing &amp; out-of-scope</a:t>
            </a:r>
            <a:endParaRPr lang="en-US" sz="1300" dirty="0"/>
          </a:p>
        </p:txBody>
      </p:sp>
      <p:sp>
        <p:nvSpPr>
          <p:cNvPr id="12" name="Shape 10"/>
          <p:cNvSpPr/>
          <p:nvPr/>
        </p:nvSpPr>
        <p:spPr>
          <a:xfrm>
            <a:off x="6537960" y="3236976"/>
            <a:ext cx="420624" cy="420624"/>
          </a:xfrm>
          <a:prstGeom prst="ellipse">
            <a:avLst/>
          </a:prstGeom>
          <a:solidFill>
            <a:srgbClr val="FFFFFF"/>
          </a:solidFill>
          <a:ln w="22225">
            <a:solidFill>
              <a:srgbClr val="D9824F"/>
            </a:solidFill>
            <a:prstDash val="solid"/>
          </a:ln>
        </p:spPr>
      </p:sp>
      <p:sp>
        <p:nvSpPr>
          <p:cNvPr id="13" name="Text 11"/>
          <p:cNvSpPr txBox="1"/>
          <p:nvPr/>
        </p:nvSpPr>
        <p:spPr>
          <a:xfrm>
            <a:off x="6537960" y="3236976"/>
            <a:ext cx="420624" cy="420624"/>
          </a:xfrm>
          <a:prstGeom prst="rect">
            <a:avLst/>
          </a:prstGeom>
          <a:noFill/>
          <a:ln/>
        </p:spPr>
        <p:txBody>
          <a:bodyPr wrap="square" lIns="0" tIns="0" rIns="0" bIns="0" rtlCol="0" anchor="ctr"/>
          <a:lstStyle/>
          <a:p>
            <a:pPr algn="ctr" indent="0" marL="0">
              <a:buNone/>
            </a:pPr>
            <a:r>
              <a:rPr lang="en-US" sz="1400" b="1" dirty="0">
                <a:solidFill>
                  <a:srgbClr val="C06A3C"/>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7132320" y="3182112"/>
            <a:ext cx="4251960" cy="640080"/>
          </a:xfrm>
          <a:prstGeom prst="rect">
            <a:avLst/>
          </a:prstGeom>
          <a:noFill/>
          <a:ln/>
        </p:spPr>
        <p:txBody>
          <a:bodyPr wrap="square" lIns="0" tIns="0" rIns="0" bIns="0" rtlCol="0" anchor="t"/>
          <a:lstStyle/>
          <a:p>
            <a:pPr indent="0" marL="0">
              <a:lnSpc>
                <a:spcPct val="103000"/>
              </a:lnSpc>
              <a:buNone/>
            </a:pPr>
            <a:r>
              <a:rPr lang="en-US" sz="1300" b="1" dirty="0">
                <a:solidFill>
                  <a:srgbClr val="3D2352"/>
                </a:solidFill>
                <a:latin typeface="Calibri" pitchFamily="34" charset="0"/>
                <a:ea typeface="Calibri" pitchFamily="34" charset="-122"/>
                <a:cs typeface="Calibri" pitchFamily="34" charset="-120"/>
              </a:rPr>
              <a:t>Strengthen  </a:t>
            </a:r>
            <a:pPr indent="0" marL="0">
              <a:lnSpc>
                <a:spcPct val="103000"/>
              </a:lnSpc>
              <a:buNone/>
            </a:pPr>
            <a:r>
              <a:rPr lang="en-US" sz="1150" dirty="0">
                <a:solidFill>
                  <a:srgbClr val="6E6680"/>
                </a:solidFill>
                <a:latin typeface="Calibri" pitchFamily="34" charset="0"/>
                <a:ea typeface="Calibri" pitchFamily="34" charset="-122"/>
                <a:cs typeface="Calibri" pitchFamily="34" charset="-120"/>
              </a:rPr>
              <a:t>stricter refusal training so safety-critical items pass reliably</a:t>
            </a:r>
            <a:endParaRPr lang="en-US" sz="1300" dirty="0"/>
          </a:p>
        </p:txBody>
      </p:sp>
      <p:sp>
        <p:nvSpPr>
          <p:cNvPr id="15" name="Shape 13"/>
          <p:cNvSpPr/>
          <p:nvPr/>
        </p:nvSpPr>
        <p:spPr>
          <a:xfrm>
            <a:off x="6537960" y="3895344"/>
            <a:ext cx="420624" cy="420624"/>
          </a:xfrm>
          <a:prstGeom prst="ellipse">
            <a:avLst/>
          </a:prstGeom>
          <a:solidFill>
            <a:srgbClr val="FFFFFF"/>
          </a:solidFill>
          <a:ln w="22225">
            <a:solidFill>
              <a:srgbClr val="D9824F"/>
            </a:solidFill>
            <a:prstDash val="solid"/>
          </a:ln>
        </p:spPr>
      </p:sp>
      <p:sp>
        <p:nvSpPr>
          <p:cNvPr id="16" name="Text 14"/>
          <p:cNvSpPr txBox="1"/>
          <p:nvPr/>
        </p:nvSpPr>
        <p:spPr>
          <a:xfrm>
            <a:off x="6537960" y="3895344"/>
            <a:ext cx="420624" cy="420624"/>
          </a:xfrm>
          <a:prstGeom prst="rect">
            <a:avLst/>
          </a:prstGeom>
          <a:noFill/>
          <a:ln/>
        </p:spPr>
        <p:txBody>
          <a:bodyPr wrap="square" lIns="0" tIns="0" rIns="0" bIns="0" rtlCol="0" anchor="ctr"/>
          <a:lstStyle/>
          <a:p>
            <a:pPr algn="ctr" indent="0" marL="0">
              <a:buNone/>
            </a:pPr>
            <a:r>
              <a:rPr lang="en-US" sz="1400" b="1" dirty="0">
                <a:solidFill>
                  <a:srgbClr val="C06A3C"/>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7132320" y="3840480"/>
            <a:ext cx="4251960" cy="640080"/>
          </a:xfrm>
          <a:prstGeom prst="rect">
            <a:avLst/>
          </a:prstGeom>
          <a:noFill/>
          <a:ln/>
        </p:spPr>
        <p:txBody>
          <a:bodyPr wrap="square" lIns="0" tIns="0" rIns="0" bIns="0" rtlCol="0" anchor="t"/>
          <a:lstStyle/>
          <a:p>
            <a:pPr indent="0" marL="0">
              <a:lnSpc>
                <a:spcPct val="103000"/>
              </a:lnSpc>
              <a:buNone/>
            </a:pPr>
            <a:r>
              <a:rPr lang="en-US" sz="1300" b="1" dirty="0">
                <a:solidFill>
                  <a:srgbClr val="3D2352"/>
                </a:solidFill>
                <a:latin typeface="Calibri" pitchFamily="34" charset="0"/>
                <a:ea typeface="Calibri" pitchFamily="34" charset="-122"/>
                <a:cs typeface="Calibri" pitchFamily="34" charset="-120"/>
              </a:rPr>
              <a:t>Ground  </a:t>
            </a:r>
            <a:pPr indent="0" marL="0">
              <a:lnSpc>
                <a:spcPct val="103000"/>
              </a:lnSpc>
              <a:buNone/>
            </a:pPr>
            <a:r>
              <a:rPr lang="en-US" sz="1150" dirty="0">
                <a:solidFill>
                  <a:srgbClr val="6E6680"/>
                </a:solidFill>
                <a:latin typeface="Calibri" pitchFamily="34" charset="0"/>
                <a:ea typeface="Calibri" pitchFamily="34" charset="-122"/>
                <a:cs typeface="Calibri" pitchFamily="34" charset="-120"/>
              </a:rPr>
              <a:t>rely on RAG for facts rather than the model's memory</a:t>
            </a:r>
            <a:endParaRPr lang="en-US" sz="1300" dirty="0"/>
          </a:p>
        </p:txBody>
      </p:sp>
      <p:sp>
        <p:nvSpPr>
          <p:cNvPr id="18" name="Shape 16"/>
          <p:cNvSpPr/>
          <p:nvPr/>
        </p:nvSpPr>
        <p:spPr>
          <a:xfrm>
            <a:off x="6537960" y="4553712"/>
            <a:ext cx="420624" cy="420624"/>
          </a:xfrm>
          <a:prstGeom prst="ellipse">
            <a:avLst/>
          </a:prstGeom>
          <a:solidFill>
            <a:srgbClr val="FFFFFF"/>
          </a:solidFill>
          <a:ln w="22225">
            <a:solidFill>
              <a:srgbClr val="D9824F"/>
            </a:solidFill>
            <a:prstDash val="solid"/>
          </a:ln>
        </p:spPr>
      </p:sp>
      <p:sp>
        <p:nvSpPr>
          <p:cNvPr id="19" name="Text 17"/>
          <p:cNvSpPr txBox="1"/>
          <p:nvPr/>
        </p:nvSpPr>
        <p:spPr>
          <a:xfrm>
            <a:off x="6537960" y="4553712"/>
            <a:ext cx="420624" cy="420624"/>
          </a:xfrm>
          <a:prstGeom prst="rect">
            <a:avLst/>
          </a:prstGeom>
          <a:noFill/>
          <a:ln/>
        </p:spPr>
        <p:txBody>
          <a:bodyPr wrap="square" lIns="0" tIns="0" rIns="0" bIns="0" rtlCol="0" anchor="ctr"/>
          <a:lstStyle/>
          <a:p>
            <a:pPr algn="ctr" indent="0" marL="0">
              <a:buNone/>
            </a:pPr>
            <a:r>
              <a:rPr lang="en-US" sz="1400" b="1" dirty="0">
                <a:solidFill>
                  <a:srgbClr val="C06A3C"/>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7132320" y="4498848"/>
            <a:ext cx="4251960" cy="640080"/>
          </a:xfrm>
          <a:prstGeom prst="rect">
            <a:avLst/>
          </a:prstGeom>
          <a:noFill/>
          <a:ln/>
        </p:spPr>
        <p:txBody>
          <a:bodyPr wrap="square" lIns="0" tIns="0" rIns="0" bIns="0" rtlCol="0" anchor="t"/>
          <a:lstStyle/>
          <a:p>
            <a:pPr indent="0" marL="0">
              <a:lnSpc>
                <a:spcPct val="103000"/>
              </a:lnSpc>
              <a:buNone/>
            </a:pPr>
            <a:r>
              <a:rPr lang="en-US" sz="1300" b="1" dirty="0">
                <a:solidFill>
                  <a:srgbClr val="3D2352"/>
                </a:solidFill>
                <a:latin typeface="Calibri" pitchFamily="34" charset="0"/>
                <a:ea typeface="Calibri" pitchFamily="34" charset="-122"/>
                <a:cs typeface="Calibri" pitchFamily="34" charset="-120"/>
              </a:rPr>
              <a:t>Broaden  </a:t>
            </a:r>
            <a:pPr indent="0" marL="0">
              <a:lnSpc>
                <a:spcPct val="103000"/>
              </a:lnSpc>
              <a:buNone/>
            </a:pPr>
            <a:r>
              <a:rPr lang="en-US" sz="1150" dirty="0">
                <a:solidFill>
                  <a:srgbClr val="6E6680"/>
                </a:solidFill>
                <a:latin typeface="Calibri" pitchFamily="34" charset="0"/>
                <a:ea typeface="Calibri" pitchFamily="34" charset="-122"/>
                <a:cs typeface="Calibri" pitchFamily="34" charset="-120"/>
              </a:rPr>
              <a:t>wider topic and age-band coverage</a:t>
            </a:r>
            <a:endParaRPr lang="en-US" sz="1300" dirty="0"/>
          </a:p>
        </p:txBody>
      </p:sp>
      <p:sp>
        <p:nvSpPr>
          <p:cNvPr id="21" name="Shape 19"/>
          <p:cNvSpPr/>
          <p:nvPr/>
        </p:nvSpPr>
        <p:spPr>
          <a:xfrm>
            <a:off x="6537960" y="5212080"/>
            <a:ext cx="420624" cy="420624"/>
          </a:xfrm>
          <a:prstGeom prst="ellipse">
            <a:avLst/>
          </a:prstGeom>
          <a:solidFill>
            <a:srgbClr val="FFFFFF"/>
          </a:solidFill>
          <a:ln w="22225">
            <a:solidFill>
              <a:srgbClr val="D9824F"/>
            </a:solidFill>
            <a:prstDash val="solid"/>
          </a:ln>
        </p:spPr>
      </p:sp>
      <p:sp>
        <p:nvSpPr>
          <p:cNvPr id="22" name="Text 20"/>
          <p:cNvSpPr txBox="1"/>
          <p:nvPr/>
        </p:nvSpPr>
        <p:spPr>
          <a:xfrm>
            <a:off x="6537960" y="5212080"/>
            <a:ext cx="420624" cy="420624"/>
          </a:xfrm>
          <a:prstGeom prst="rect">
            <a:avLst/>
          </a:prstGeom>
          <a:noFill/>
          <a:ln/>
        </p:spPr>
        <p:txBody>
          <a:bodyPr wrap="square" lIns="0" tIns="0" rIns="0" bIns="0" rtlCol="0" anchor="ctr"/>
          <a:lstStyle/>
          <a:p>
            <a:pPr algn="ctr" indent="0" marL="0">
              <a:buNone/>
            </a:pPr>
            <a:r>
              <a:rPr lang="en-US" sz="1400" b="1" dirty="0">
                <a:solidFill>
                  <a:srgbClr val="C06A3C"/>
                </a:solidFill>
                <a:latin typeface="Cambria" pitchFamily="34" charset="0"/>
                <a:ea typeface="Cambria" pitchFamily="34" charset="-122"/>
                <a:cs typeface="Cambria" pitchFamily="34" charset="-120"/>
              </a:rPr>
              <a:t>5</a:t>
            </a:r>
            <a:endParaRPr lang="en-US" sz="1400" dirty="0"/>
          </a:p>
        </p:txBody>
      </p:sp>
      <p:sp>
        <p:nvSpPr>
          <p:cNvPr id="23" name="Text 21"/>
          <p:cNvSpPr txBox="1"/>
          <p:nvPr/>
        </p:nvSpPr>
        <p:spPr>
          <a:xfrm>
            <a:off x="7132320" y="5157216"/>
            <a:ext cx="4251960" cy="640080"/>
          </a:xfrm>
          <a:prstGeom prst="rect">
            <a:avLst/>
          </a:prstGeom>
          <a:noFill/>
          <a:ln/>
        </p:spPr>
        <p:txBody>
          <a:bodyPr wrap="square" lIns="0" tIns="0" rIns="0" bIns="0" rtlCol="0" anchor="t"/>
          <a:lstStyle/>
          <a:p>
            <a:pPr indent="0" marL="0">
              <a:lnSpc>
                <a:spcPct val="103000"/>
              </a:lnSpc>
              <a:buNone/>
            </a:pPr>
            <a:r>
              <a:rPr lang="en-US" sz="1300" b="1" dirty="0">
                <a:solidFill>
                  <a:srgbClr val="3D2352"/>
                </a:solidFill>
                <a:latin typeface="Calibri" pitchFamily="34" charset="0"/>
                <a:ea typeface="Calibri" pitchFamily="34" charset="-122"/>
                <a:cs typeface="Calibri" pitchFamily="34" charset="-120"/>
              </a:rPr>
              <a:t>Upgrade  </a:t>
            </a:r>
            <a:pPr indent="0" marL="0">
              <a:lnSpc>
                <a:spcPct val="103000"/>
              </a:lnSpc>
              <a:buNone/>
            </a:pPr>
            <a:r>
              <a:rPr lang="en-US" sz="1150" dirty="0">
                <a:solidFill>
                  <a:srgbClr val="6E6680"/>
                </a:solidFill>
                <a:latin typeface="Calibri" pitchFamily="34" charset="0"/>
                <a:ea typeface="Calibri" pitchFamily="34" charset="-122"/>
                <a:cs typeface="Calibri" pitchFamily="34" charset="-120"/>
              </a:rPr>
              <a:t>dialect-specific STT + a duplicated, private TTS Space</a:t>
            </a:r>
            <a:endParaRPr lang="en-US" sz="1300" dirty="0"/>
          </a:p>
        </p:txBody>
      </p:sp>
      <p:sp>
        <p:nvSpPr>
          <p:cNvPr id="24" name="Text 22"/>
          <p:cNvSpPr txBox="1"/>
          <p:nvPr/>
        </p:nvSpPr>
        <p:spPr>
          <a:xfrm>
            <a:off x="640080" y="6272784"/>
            <a:ext cx="8412480" cy="292608"/>
          </a:xfrm>
          <a:prstGeom prst="rect">
            <a:avLst/>
          </a:prstGeom>
          <a:noFill/>
          <a:ln/>
        </p:spPr>
        <p:txBody>
          <a:bodyPr wrap="square" lIns="0" tIns="0" rIns="0" bIns="0" rtlCol="0" anchor="ctr"/>
          <a:lstStyle/>
          <a:p>
            <a:pPr algn="l" indent="0" marL="0">
              <a:buNone/>
            </a:pPr>
            <a:r>
              <a:rPr lang="en-US" sz="1150" i="1" dirty="0">
                <a:solidFill>
                  <a:srgbClr val="5C4477"/>
                </a:solidFill>
                <a:latin typeface="Calibri" pitchFamily="34" charset="0"/>
                <a:ea typeface="Calibri" pitchFamily="34" charset="-122"/>
                <a:cs typeface="Calibri" pitchFamily="34" charset="-120"/>
              </a:rPr>
              <a:t>Honest scoping: a clean, working small system beats an overextended one.</a:t>
            </a:r>
            <a:endParaRPr lang="en-US" sz="1150" dirty="0"/>
          </a:p>
        </p:txBody>
      </p:sp>
      <p:sp>
        <p:nvSpPr>
          <p:cNvPr id="25" name="Text 23"/>
          <p:cNvSpPr txBox="1"/>
          <p:nvPr/>
        </p:nvSpPr>
        <p:spPr>
          <a:xfrm>
            <a:off x="9144000" y="6272784"/>
            <a:ext cx="2404872" cy="292608"/>
          </a:xfrm>
          <a:prstGeom prst="rect">
            <a:avLst/>
          </a:prstGeom>
          <a:noFill/>
          <a:ln/>
        </p:spPr>
        <p:txBody>
          <a:bodyPr wrap="square" lIns="0" tIns="0" rIns="0" bIns="0" rtlCol="0" anchor="ctr"/>
          <a:lstStyle/>
          <a:p>
            <a:pPr algn="r" indent="0" marL="0">
              <a:buNone/>
            </a:pPr>
            <a:r>
              <a:rPr lang="en-US" sz="1050" dirty="0">
                <a:solidFill>
                  <a:srgbClr val="9B93A8"/>
                </a:solidFill>
                <a:latin typeface="Calibri" pitchFamily="34" charset="0"/>
                <a:ea typeface="Calibri" pitchFamily="34" charset="-122"/>
                <a:cs typeface="Calibri" pitchFamily="34" charset="-120"/>
              </a:rPr>
              <a:t>ParentWise  ·  18 / 18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2026-09-07T14:59:04Z</dcterms:created>
  <dcterms:modified xsi:type="dcterms:W3CDTF">2026-09-07T14:59:04Z</dcterms:modified>
</cp:coreProperties>
</file>