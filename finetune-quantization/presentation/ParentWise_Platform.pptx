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ParentWise: an Arabic-first parenting assistant combining RAG, a fine-tuned Nile-Chat-4B model, and voice I/O. We tune behaviour and ground 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Problem, audience, and the two design commitments: teach behaviour / ground facts, and a hard medical-safety boundary enforced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 flow: React frontend to FastAPI backend, which runs STT (if voice), builds the prompt with retrieved ChromaDB context, calls the fine-tuned QLoRA model, returns text, and stores per-session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Knowledge base: 944 chunks from 34 documents (11 PDFs, 13 web, 10 research), built with structure-aware chunking and Arabic NFKC normalization.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Retrieval engine: BGE-M3 dense (1024-dim) + BM25 sparse, fused with RRF, metadata-ranked, and reranked to the final 8 chunks (min confidence 0.1).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Deterministic safety gate: 7 risk categories, 4 hard-blocked (child abuse, violence, self-harm, emergency) to crisis resources, and soft boundaries (medical, mental health) answered with a professional nudge, never a diagnosis.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structured context-injection template, built on the exact base system message the model was tuned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QLoRA config and the 507-pair semi-synthetic dataset (483 grounded + 24 safety), split 482/25 with a 28-item held-out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Quantization to GGUF Q4_K_M: ~8GB to 2.5GB, ~9.2 tok/s on CPU, no GPU needed to 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prompting strategy is a three-stage defense-in-depth pipeline: a zero-shot router, a role/few-shot/CoT generator, and an independent chain-of-verification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prompt-engineering techniques: role prompting, zero-shot classification, few-shot, chain-of-thought, retrieval-grounding, and chain-of-verification.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reliability safeguards: age-awareness, evidence vs opinion, medical redirection, and admitting insufficient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Testing surfaced and fixed real bugs: router misclassification (fixed with few-shot) and irrelevant keyword retrieval (fixed with stopword filtering + overlap threshold).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React frontend: RTL-first Egyptian-Arabic chat UI with MediaRecorder voice capture and a clean mock-to-real swap point for backend wiring.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Voice component: faster-whisper STT (VAD-tuned) and NAMAA Egyptian TTS, delivered as a FastAPI service that calls the RAG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 result: a fully functional voice-to-voice pipeline, demoed live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evaluation: strong tone and most refusals, but real safety misses (dosage, choking) to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 (not medical advice, imperfect refusals, narrow scope, STT/TTS caveats) and the future roadmap: expand, strengthen, ground, broaden,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PROJECT  ·  GENERATIVE AI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86384" y="2176272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ParentWise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101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5C44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Parenting Guidance Platform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776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Arabic-first, evidence-grounded assistant — parents ask by voice or text in Egyptian colloquial Arabic and get warm, source-grounded answers that defer to a professional on health and safety.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5029200"/>
            <a:ext cx="81838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8183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897380" y="5029200"/>
            <a:ext cx="3236976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897380" y="5029200"/>
            <a:ext cx="3236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+ Quantization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390388" y="5029200"/>
            <a:ext cx="229057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390388" y="5029200"/>
            <a:ext cx="22905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· STT + TTS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model: MBZUAI-Paris/Nile-Chat-4B  ·  answers in Egyptian Arabic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THE PROBLEM &amp; OUR APPROACH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parenting help — without the noise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6002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993392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  <a:p>
            <a:pPr indent="0" marL="0">
              <a:lnSpc>
                <a:spcPct val="11200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and existing parents lack fast, judgment-free guidance on everyday challenges — tantrums, discipline, screen time, sleep — and fall back on scattered, inconsistent social-media advice.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63640" y="1783080"/>
            <a:ext cx="5285232" cy="16002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37960" y="1993392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it's for</a:t>
            </a:r>
            <a:endParaRPr lang="en-US" sz="1500" dirty="0"/>
          </a:p>
          <a:p>
            <a:pPr indent="0" marL="0">
              <a:lnSpc>
                <a:spcPct val="11200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of children aged 0–12 — especially first-time parents — who want evidence-informed answers rooted in recognized parenting frameworks, in their own dialect.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5257800" cy="2286000"/>
          </a:xfrm>
          <a:prstGeom prst="roundRect">
            <a:avLst>
              <a:gd name="adj" fmla="val 4400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3840480"/>
            <a:ext cx="566928" cy="566928"/>
          </a:xfrm>
          <a:prstGeom prst="ellipse">
            <a:avLst/>
          </a:prstGeom>
          <a:solidFill>
            <a:srgbClr val="ECE4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858768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behaviour, ground facts</a:t>
            </a:r>
            <a:endParaRPr lang="en-US" sz="1500" dirty="0"/>
          </a:p>
          <a:p>
            <a:pPr indent="0" marL="0">
              <a:lnSpc>
                <a:spcPct val="110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shapes how the model answers — warm, structured, safe. RAG decides what it answers with, at query time. The two reinforce each other.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63640" y="3566160"/>
            <a:ext cx="5285232" cy="2286000"/>
          </a:xfrm>
          <a:prstGeom prst="roundRect">
            <a:avLst>
              <a:gd name="adj" fmla="val 4400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37960" y="3840480"/>
            <a:ext cx="566928" cy="566928"/>
          </a:xfrm>
          <a:prstGeom prst="ellipse">
            <a:avLst/>
          </a:prstGeom>
          <a:solidFill>
            <a:srgbClr val="ECE4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3858768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safety boundary</a:t>
            </a:r>
            <a:endParaRPr lang="en-US" sz="1500" dirty="0"/>
          </a:p>
          <a:p>
            <a:pPr indent="0" marL="0">
              <a:lnSpc>
                <a:spcPct val="110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&amp; developmental parenting only. Medical, dosing, and emergencies are refused and redirected to a pediatrician — enforced in the model and a RAG safety gate.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over breadth: a few core topics, done well.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2 / 18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· THE PIPELINE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question flows through the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3401568" cy="82296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27632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  </a:t>
            </a:r>
            <a:pPr algn="ctr" indent="0" marL="0"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text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3986784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89120" y="1627632"/>
            <a:ext cx="3401568" cy="82296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27632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   </a:t>
            </a:r>
            <a:pPr algn="ctr" indent="0" marL="0"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 (RTL)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35824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138160" y="1627632"/>
            <a:ext cx="3401568" cy="82296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27632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   </a:t>
            </a:r>
            <a:pPr algn="ctr" indent="0" marL="0"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10908792" cy="2286000"/>
          </a:xfrm>
          <a:prstGeom prst="roundRect">
            <a:avLst>
              <a:gd name="adj" fmla="val 4400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68680" y="281635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backend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68680" y="3200400"/>
            <a:ext cx="2542032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01952" y="3383280"/>
            <a:ext cx="475488" cy="47548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01952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78408" y="395020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(Whisper)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96696" y="4297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 — if voice input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547872" y="3200400"/>
            <a:ext cx="2542032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81144" y="3383280"/>
            <a:ext cx="475488" cy="47548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81144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95020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675888" y="4297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+ few-shot + retrieved context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27064" y="3200400"/>
            <a:ext cx="2542032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260336" y="3383280"/>
            <a:ext cx="475488" cy="47548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60336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395020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retriever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355080" y="4297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→ top-k chunks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906256" y="3200400"/>
            <a:ext cx="2542032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939528" y="3383280"/>
            <a:ext cx="475488" cy="47548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939528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015984" y="395020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LLM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4297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QLoRA-adapted → text response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5166360"/>
            <a:ext cx="6629400" cy="8686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14400" y="516636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 </a:t>
            </a:r>
            <a:pPr indent="0" marL="0">
              <a:buNone/>
            </a:pPr>
            <a:r>
              <a:rPr lang="en-US" sz="13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 displays the response </a:t>
            </a:r>
            <a:pPr indent="0" marL="0"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(text)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7406640" y="5166360"/>
            <a:ext cx="4142232" cy="868680"/>
          </a:xfrm>
          <a:prstGeom prst="roundRect">
            <a:avLst>
              <a:gd name="adj" fmla="val 11579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35240" y="51663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history</a:t>
            </a:r>
            <a:endParaRPr lang="en-US" sz="13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per session · Postgres / SQLite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Voice/text → React → FastAPI (STT · prompt · RAG · fine-tuned LLM) → response → history.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3 / 18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RAG — KNOWLEDGE BASE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answers in real sources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Arabic-language RAG pipeline over UNICEF, WHO &amp; academic parenting research.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520440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002536"/>
            <a:ext cx="35204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944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463394"/>
            <a:ext cx="3300984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spc="120" kern="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34256" y="1874520"/>
            <a:ext cx="3520440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334256" y="2002536"/>
            <a:ext cx="35204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443984" y="2463394"/>
            <a:ext cx="3300984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spc="120" kern="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DOCS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28432" y="1874520"/>
            <a:ext cx="3520440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028432" y="2002536"/>
            <a:ext cx="35204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338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2463394"/>
            <a:ext cx="3300984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spc="120" kern="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WORDS / CHUNK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3154680"/>
            <a:ext cx="3520440" cy="658368"/>
          </a:xfrm>
          <a:prstGeom prst="roundRect">
            <a:avLst>
              <a:gd name="adj" fmla="val 12500"/>
            </a:avLst>
          </a:prstGeom>
          <a:solidFill>
            <a:srgbClr val="FBF6FB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315468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 </a:t>
            </a:r>
            <a:pPr algn="ctr" indent="0" marL="0">
              <a:buNone/>
            </a:pPr>
            <a:r>
              <a:rPr lang="en-US" sz="1000" b="1" spc="100" kern="0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334256" y="3154680"/>
            <a:ext cx="3520440" cy="658368"/>
          </a:xfrm>
          <a:prstGeom prst="roundRect">
            <a:avLst>
              <a:gd name="adj" fmla="val 12500"/>
            </a:avLst>
          </a:prstGeom>
          <a:solidFill>
            <a:srgbClr val="FBF6FB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471416" y="315468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 </a:t>
            </a:r>
            <a:pPr algn="ctr" indent="0" marL="0">
              <a:buNone/>
            </a:pPr>
            <a:r>
              <a:rPr lang="en-US" sz="1000" b="1" spc="100" kern="0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SOURCES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028432" y="3154680"/>
            <a:ext cx="3520440" cy="658368"/>
          </a:xfrm>
          <a:prstGeom prst="roundRect">
            <a:avLst>
              <a:gd name="adj" fmla="val 12500"/>
            </a:avLst>
          </a:prstGeom>
          <a:solidFill>
            <a:srgbClr val="FBF6FB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165592" y="315468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 </a:t>
            </a:r>
            <a:pPr algn="ctr" indent="0" marL="0">
              <a:buNone/>
            </a:pPr>
            <a:r>
              <a:rPr lang="en-US" sz="1000" b="1" spc="100" kern="0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4114800"/>
            <a:ext cx="238429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3232" y="4114800"/>
            <a:ext cx="22379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024378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481578" y="4114800"/>
            <a:ext cx="238429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554730" y="4114800"/>
            <a:ext cx="22379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865876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323076" y="4114800"/>
            <a:ext cx="238429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96228" y="4114800"/>
            <a:ext cx="22379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707374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164574" y="4114800"/>
            <a:ext cx="238429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237726" y="4114800"/>
            <a:ext cx="22379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5257800"/>
            <a:ext cx="10908792" cy="777240"/>
          </a:xfrm>
          <a:prstGeom prst="roundRect">
            <a:avLst>
              <a:gd name="adj" fmla="val 12941"/>
            </a:avLst>
          </a:prstGeom>
          <a:solidFill>
            <a:srgbClr val="F7EEE9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14400" y="525780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was built.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chunking · Arabic Unicode normalization (NFKC) · sentence-level fallback splitting for oversized paragraphs.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retrieve real evidence, not hallucinated advice.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4 / 18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RAG — RETRIEVAL ENGINE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search beats either alone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embeddings catch meaning; lexical search catches exact terminology.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9689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002536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1024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437790"/>
            <a:ext cx="237744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spc="120" kern="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DIMS · BGE-M3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410712" y="1874520"/>
            <a:ext cx="259689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10712" y="2002536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437790"/>
            <a:ext cx="237744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spc="120" kern="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RETRIEVERS FUSED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81344" y="1874520"/>
            <a:ext cx="259689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181344" y="2002536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91072" y="2437790"/>
            <a:ext cx="237744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spc="120" kern="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CHUNKS TO LLM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951976" y="1874520"/>
            <a:ext cx="259689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951976" y="2002536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061704" y="2437790"/>
            <a:ext cx="237744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spc="120" kern="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RERANK CONFIDENCE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3063240"/>
            <a:ext cx="238429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13232" y="3063240"/>
            <a:ext cx="22379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BM25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024378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481578" y="3063240"/>
            <a:ext cx="238429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554730" y="3063240"/>
            <a:ext cx="22379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 Fusion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865876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323076" y="3063240"/>
            <a:ext cx="238429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6228" y="3063240"/>
            <a:ext cx="22379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Ranking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707374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64574" y="3063240"/>
            <a:ext cx="238429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237726" y="3063240"/>
            <a:ext cx="22379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 · BGE-v2-m3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4206240"/>
            <a:ext cx="10908792" cy="1645920"/>
          </a:xfrm>
          <a:prstGeom prst="roundRect">
            <a:avLst>
              <a:gd name="adj" fmla="val 6111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14400" y="437083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hybrid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7548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(BGE-M3) catches semantic meaning even when wording differs from the source.</a:t>
            </a:r>
            <a:endParaRPr lang="en-US" sz="1250" dirty="0"/>
          </a:p>
          <a:p>
            <a:pPr marL="342900" indent="-3429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catches exact Arabic clinical / common terms that dense embeddings can dilute.</a:t>
            </a:r>
            <a:endParaRPr lang="en-US" sz="1250" dirty="0"/>
          </a:p>
          <a:p>
            <a:pPr marL="342900" indent="-3429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combines both without hand-tuned weights.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retrievers see what one alone would miss.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5 / 18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RAG — SAFETY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is caught before generation, not after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gate runs before any retrieval or generation happens.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5204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0025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437790"/>
            <a:ext cx="3300984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spc="120" kern="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CATEGORIES MONITORED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34256" y="1874520"/>
            <a:ext cx="35204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334256" y="20025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443984" y="2437790"/>
            <a:ext cx="3300984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spc="120" kern="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HARD-BLOCKED CATEGORIES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28432" y="1874520"/>
            <a:ext cx="35204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028432" y="20025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2437790"/>
            <a:ext cx="3300984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spc="120" kern="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CALLS ON BLOCKED QUERIES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3063240"/>
            <a:ext cx="5349240" cy="1783080"/>
          </a:xfrm>
          <a:prstGeom prst="roundRect">
            <a:avLst>
              <a:gd name="adj" fmla="val 5641"/>
            </a:avLst>
          </a:prstGeom>
          <a:solidFill>
            <a:srgbClr val="F7EEE9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outright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6393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CHILD_ABUSE · VIOLENCE · SELF_HARM · EMERGENCY</a:t>
            </a:r>
            <a:endParaRPr lang="en-US" sz="1200" dirty="0"/>
          </a:p>
          <a:p>
            <a:pPr indent="0" marL="0">
              <a:lnSpc>
                <a:spcPct val="105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straight to a safety response with crisis resources.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3063240"/>
            <a:ext cx="5349240" cy="1783080"/>
          </a:xfrm>
          <a:prstGeom prst="roundRect">
            <a:avLst>
              <a:gd name="adj" fmla="val 5641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73952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boundary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36393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· MENTAL_HEALTH</a:t>
            </a:r>
            <a:endParaRPr lang="en-US" sz="1200" dirty="0"/>
          </a:p>
          <a:p>
            <a:pPr indent="0" marL="0">
              <a:lnSpc>
                <a:spcPct val="105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with general info + a nudge to consult a professional — never a diagnosis.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219456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080" y="50749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5230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429000" y="5074920"/>
            <a:ext cx="288036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429000" y="50749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Classification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382512" y="5230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903720" y="5074920"/>
            <a:ext cx="4645152" cy="777240"/>
          </a:xfrm>
          <a:prstGeom prst="roundRect">
            <a:avLst>
              <a:gd name="adj" fmla="val 10588"/>
            </a:avLst>
          </a:prstGeom>
          <a:solidFill>
            <a:srgbClr val="F4EEFA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040880" y="507492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→ Safety Response</a:t>
            </a:r>
            <a:endParaRPr lang="en-US" sz="1150" dirty="0"/>
          </a:p>
          <a:p>
            <a:pPr indent="0" marL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3E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→ Retrieval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question never reaches the model — it's stopped first.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6 / 18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→ FINE-TUNED MODEL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context-injection template the model trusts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chunks are formatted so the fine-tuned model consumes them reliably — and only them.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56432" cy="278892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0120" y="24414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98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38328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Query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840480"/>
            <a:ext cx="2798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the query sent to the RAG system to fetch the most relevant source chunks.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000500" y="3314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61688" y="2148840"/>
            <a:ext cx="3456432" cy="278892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81728" y="24414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98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38328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Injection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840480"/>
            <a:ext cx="2798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and format retrieved chunks into the prompt using a structured, per-source template.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22108" y="3314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083296" y="2148840"/>
            <a:ext cx="3456432" cy="278892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403336" y="24414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98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38328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Generation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30768" y="3840480"/>
            <a:ext cx="2798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answers using only the injected, trustworthy sources — and cites them.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2578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starts from the fine-tuning team's exact base message — RAG rules are appended in the same Egyptian-colloquial register, never replacing it.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 between retrieval and generation.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7 / 18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FINE-TUNING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 on a single free GPU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Nile-Chat-4B (4-bit), train lightweight LoRA adapters — &lt; 1% of parameters.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993392" cy="13716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212848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16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rank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98648" y="2011680"/>
            <a:ext cx="1993392" cy="13716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898648" y="2212848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 = 16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898648" y="2880360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alpha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57216" y="2011680"/>
            <a:ext cx="1993392" cy="13716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157216" y="2212848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1e-4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157216" y="2880360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15784" y="2011680"/>
            <a:ext cx="1993392" cy="13716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415784" y="2212848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415784" y="2880360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5257800" cy="228600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14400" y="38221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507 Q&amp;A pairs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20624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483 grounded parenting pairs</a:t>
            </a:r>
            <a:endParaRPr lang="en-US" sz="1300" dirty="0"/>
          </a:p>
          <a:p>
            <a:pPr indent="0" marL="0">
              <a:lnSpc>
                <a:spcPct val="103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mined from the RAG source chunks, Egyptian Arabic</a:t>
            </a:r>
            <a:endParaRPr lang="en-US" sz="1300" dirty="0"/>
          </a:p>
          <a:p>
            <a:pPr indent="0" marL="0">
              <a:lnSpc>
                <a:spcPct val="103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safety / refusal pairs</a:t>
            </a:r>
            <a:endParaRPr lang="en-US" sz="1300" dirty="0"/>
          </a:p>
          <a:p>
            <a:pPr indent="0" marL="0">
              <a:lnSpc>
                <a:spcPct val="103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emergencies, dosing, myths, no-diagnosis, out-of-scope</a:t>
            </a:r>
            <a:endParaRPr lang="en-US" sz="1300" dirty="0"/>
          </a:p>
          <a:p>
            <a:pPr indent="0" marL="0">
              <a:lnSpc>
                <a:spcPct val="103000"/>
              </a:lnSpc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482 train  ·  25 val  ·  28 held-out test (0 overlap)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611880"/>
            <a:ext cx="5285232" cy="2286000"/>
          </a:xfrm>
          <a:prstGeom prst="roundRect">
            <a:avLst>
              <a:gd name="adj" fmla="val 4400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38221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teach behaviour, not facts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224528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Semi-synthetic + human-reviewed for tone</a:t>
            </a:r>
            <a:endParaRPr lang="en-US" sz="125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non-judgmental, Egyptian-colloquial persona</a:t>
            </a:r>
            <a:endParaRPr lang="en-US" sz="125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 guards: low LR, 2 epochs, dropout 0.05</a:t>
            </a:r>
            <a:endParaRPr lang="en-US" sz="1250" dirty="0"/>
          </a:p>
          <a:p>
            <a:pPr marL="342900" indent="-3429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train_on_responses_only · keep best by val loss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train &lt; 1% of params on a free Kaggle T4.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8 / 18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OPTIMIZATION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enough to run on a laptop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Post-training quantization to GGUF (Q4_K_M) enables CPU-based inference beside the RAG stack.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246120" cy="2468880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286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5176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GB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661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model · GPU-oriented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041648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663440" y="2057400"/>
            <a:ext cx="3246120" cy="2468880"/>
          </a:xfrm>
          <a:prstGeom prst="roundRect">
            <a:avLst>
              <a:gd name="adj" fmla="val 4074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63440" y="2286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65176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GB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5661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GGUF Q4_K_M · CPU-capable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75320" y="2057400"/>
            <a:ext cx="3273552" cy="749808"/>
          </a:xfrm>
          <a:prstGeom prst="roundRect">
            <a:avLst>
              <a:gd name="adj" fmla="val 1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58200" y="2057400"/>
            <a:ext cx="1051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~3×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0" y="2057400"/>
            <a:ext cx="1874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footprint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75320" y="2916936"/>
            <a:ext cx="3273552" cy="749808"/>
          </a:xfrm>
          <a:prstGeom prst="roundRect">
            <a:avLst>
              <a:gd name="adj" fmla="val 1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458200" y="2916936"/>
            <a:ext cx="1051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9.2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0" y="2916936"/>
            <a:ext cx="1874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/ sec on laptop CPU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75320" y="3776472"/>
            <a:ext cx="3273552" cy="749808"/>
          </a:xfrm>
          <a:prstGeom prst="roundRect">
            <a:avLst>
              <a:gd name="adj" fmla="val 1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458200" y="3776472"/>
            <a:ext cx="1051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3776472"/>
            <a:ext cx="1874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required at serving time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892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Quantization makes the fine-tuned model practical for local, private deployment.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behaviour, one-third the size — runs where a GPU can't.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9 / 18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· DEFENSE-IN-DEPTH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Router → Generator → Verifier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safety checks — the fine-tuned model is not the only line of defense.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56432" cy="2606040"/>
          </a:xfrm>
          <a:prstGeom prst="roundRect">
            <a:avLst>
              <a:gd name="adj" fmla="val 386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41832" y="2377440"/>
            <a:ext cx="512064" cy="51206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832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14016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306324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classification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3474720"/>
            <a:ext cx="2798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BEHAVIORAL / MEDICAL / MIXED / OUT_OF_SCOPE before anything runs — and skips retrieval and generation entirely for medical or out-of-scope questions.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00500" y="3177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61688" y="2103120"/>
            <a:ext cx="3456432" cy="2606040"/>
          </a:xfrm>
          <a:prstGeom prst="roundRect">
            <a:avLst>
              <a:gd name="adj" fmla="val 386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377440"/>
            <a:ext cx="512064" cy="51206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414016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Generator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690872" y="306324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+ Few-shot + Chain-of-thought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690872" y="3474720"/>
            <a:ext cx="2798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silent 5-step reasoning check (relevance, age-fit, safety) runs before the model writes. Only the final answer is ever shown to the user.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22108" y="3177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083296" y="2103120"/>
            <a:ext cx="3456432" cy="2606040"/>
          </a:xfrm>
          <a:prstGeom prst="roundRect">
            <a:avLst>
              <a:gd name="adj" fmla="val 386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85048" y="2377440"/>
            <a:ext cx="512064" cy="51206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5048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043416" y="2414016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Verifier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306324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Chain-of-verification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3474720"/>
            <a:ext cx="2798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second pass — not the same call reflecting on itself — checks grounding and medical safety before the answer ships.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10908792" cy="932688"/>
          </a:xfrm>
          <a:prstGeom prst="roundRect">
            <a:avLst>
              <a:gd name="adj" fmla="val 10784"/>
            </a:avLst>
          </a:prstGeom>
          <a:solidFill>
            <a:srgbClr val="F7EEE9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14400" y="502920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Defense-in-depth. 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fine-tuned model already carries safety training (24 of 507 pairs). The router and verifier are two independent checks layered on top — each catches what the other might miss.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gate lives here — before retrieval, before generation.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10 / 18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· TECHNIQUES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named techniques, each a distinct job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for what each one does — not stacked for variety.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8523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231136"/>
            <a:ext cx="475488" cy="47548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31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1975104"/>
            <a:ext cx="4142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/ persona prompting</a:t>
            </a:r>
            <a:endParaRPr lang="en-US" sz="1400" dirty="0"/>
          </a:p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assistant's identity and warm tone before anything else.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28523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2231136"/>
            <a:ext cx="475488" cy="47548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2231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975104"/>
            <a:ext cx="4142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classification</a:t>
            </a:r>
            <a:endParaRPr lang="en-US" sz="1400" dirty="0"/>
          </a:p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router tags intent with no examples needed — fast, cheap triage.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8523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621024"/>
            <a:ext cx="475488" cy="47548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36210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364992"/>
            <a:ext cx="4142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examples</a:t>
            </a:r>
            <a:endParaRPr lang="en-US" sz="1400" dirty="0"/>
          </a:p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short worked examples demonstrate response shape, not just describe it.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63640" y="3218688"/>
            <a:ext cx="528523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19672" y="3621024"/>
            <a:ext cx="475488" cy="47548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19672" y="36210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3364992"/>
            <a:ext cx="4142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</a:t>
            </a:r>
            <a:endParaRPr lang="en-US" sz="1400" dirty="0"/>
          </a:p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reasoning on relevance, age-fit, and safety — hidden from the output.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608576"/>
            <a:ext cx="528523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5010912"/>
            <a:ext cx="475488" cy="47548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6112" y="5010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4754880"/>
            <a:ext cx="4142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Retrieval-grounding</a:t>
            </a:r>
            <a:endParaRPr lang="en-US" sz="1400" dirty="0"/>
          </a:p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restricted to retrieved context; admits when it's insufficient.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63640" y="4608576"/>
            <a:ext cx="528523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19672" y="5010912"/>
            <a:ext cx="475488" cy="47548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19672" y="5010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4754880"/>
            <a:ext cx="4142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Chain-of-verification</a:t>
            </a:r>
            <a:endParaRPr lang="en-US" sz="1400" dirty="0"/>
          </a:p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independent LLM call checks the draft before it ships.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was tuned against the exact base persona these build on.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11 / 18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SAFEGUARDS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Built-in safety &amp; accuracy rules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85232" cy="187452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94560"/>
            <a:ext cx="603504" cy="603504"/>
          </a:xfrm>
          <a:prstGeom prst="ellipse">
            <a:avLst/>
          </a:prstGeom>
          <a:solidFill>
            <a:srgbClr val="ECE4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21945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203704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Age-aware responses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6974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tailored to the specific age of the child in the question.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874520"/>
            <a:ext cx="5285232" cy="187452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194560"/>
            <a:ext cx="603504" cy="603504"/>
          </a:xfrm>
          <a:prstGeom prst="ellipse">
            <a:avLst/>
          </a:prstGeom>
          <a:solidFill>
            <a:srgbClr val="ECE4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6248" y="21945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203704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vs. opinion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6974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distinguishes scientific evidence from general opinion.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285232" cy="187452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4297680"/>
            <a:ext cx="603504" cy="603504"/>
          </a:xfrm>
          <a:prstGeom prst="ellipse">
            <a:avLst/>
          </a:prstGeom>
          <a:solidFill>
            <a:srgbClr val="ECE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" y="42976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4306824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redirection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800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Redirects medical questions to a professional instead of answering directly.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285232" cy="187452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97680"/>
            <a:ext cx="603504" cy="603504"/>
          </a:xfrm>
          <a:prstGeom prst="ellipse">
            <a:avLst/>
          </a:prstGeom>
          <a:solidFill>
            <a:srgbClr val="ECE4F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6248" y="42976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4306824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hallucination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4800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Acknowledges out loud when the retrieved context is insufficient.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isn't a prompt line — it's enforced deterministically before generation.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12 / 18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· REAL-WORLD TESTING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fix came from real data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against the real fine-tuned model and real UNICEF sources — not assumptions.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52044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1874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categories validated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34256" y="1874520"/>
            <a:ext cx="352044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17136" y="187452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5934456" y="1874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28432" y="1874520"/>
            <a:ext cx="352044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11312" y="187452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10m → 5s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628632" y="1874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time, CPU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2971800"/>
            <a:ext cx="10908792" cy="1170432"/>
          </a:xfrm>
          <a:prstGeom prst="roundRect">
            <a:avLst>
              <a:gd name="adj" fmla="val 8594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264408"/>
            <a:ext cx="548640" cy="548640"/>
          </a:xfrm>
          <a:prstGeom prst="ellipse">
            <a:avLst/>
          </a:prstGeom>
          <a:solidFill>
            <a:srgbClr val="ECE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264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3099816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Bef>
                <a:spcPts val="300"/>
              </a:spcBef>
              <a:buNone/>
            </a:pPr>
            <a:r>
              <a:rPr lang="en-US" sz="13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misfired without examples</a:t>
            </a:r>
            <a:endParaRPr lang="en-US" sz="1350" dirty="0"/>
          </a:p>
          <a:p>
            <a:pPr indent="0" marL="0">
              <a:lnSpc>
                <a:spcPct val="105000"/>
              </a:lnSpc>
              <a:spcBef>
                <a:spcPts val="300"/>
              </a:spcBef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a ball-sharing question was tagged MEDICAL.  </a:t>
            </a:r>
            <a:pPr indent="0" marL="0">
              <a:lnSpc>
                <a:spcPct val="105000"/>
              </a:lnSpc>
              <a:spcBef>
                <a:spcPts val="300"/>
              </a:spcBef>
              <a:buNone/>
            </a:pPr>
            <a:r>
              <a:rPr lang="en-US" sz="1150" b="1" dirty="0">
                <a:solidFill>
                  <a:srgbClr val="3E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added 5 few-shot examples → correctly tagged BEHAVIORAL.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4251960"/>
            <a:ext cx="10908792" cy="1170432"/>
          </a:xfrm>
          <a:prstGeom prst="roundRect">
            <a:avLst>
              <a:gd name="adj" fmla="val 8594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" y="4544568"/>
            <a:ext cx="548640" cy="548640"/>
          </a:xfrm>
          <a:prstGeom prst="ellipse">
            <a:avLst/>
          </a:prstGeom>
          <a:solidFill>
            <a:srgbClr val="ECE4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4379976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Bef>
                <a:spcPts val="300"/>
              </a:spcBef>
              <a:buNone/>
            </a:pPr>
            <a:r>
              <a:rPr lang="en-US" sz="13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retrieval pulled irrelevant chunks</a:t>
            </a:r>
            <a:endParaRPr lang="en-US" sz="1350" dirty="0"/>
          </a:p>
          <a:p>
            <a:pPr indent="0" marL="0">
              <a:lnSpc>
                <a:spcPct val="105000"/>
              </a:lnSpc>
              <a:spcBef>
                <a:spcPts val="300"/>
              </a:spcBef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a screen-time question retrieved chunks about chores → incoherent answer.  </a:t>
            </a:r>
            <a:pPr indent="0" marL="0">
              <a:lnSpc>
                <a:spcPct val="105000"/>
              </a:lnSpc>
              <a:spcBef>
                <a:spcPts val="300"/>
              </a:spcBef>
              <a:buNone/>
            </a:pPr>
            <a:r>
              <a:rPr lang="en-US" sz="1150" b="1" dirty="0">
                <a:solidFill>
                  <a:srgbClr val="3E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stopword filtering + overlap threshold → honest fallback, not hallucination.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0080" y="553212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77240" y="553212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 </a:t>
            </a:r>
            <a:pPr indent="0" marL="0">
              <a:buNone/>
            </a:pPr>
            <a:r>
              <a:rPr lang="en-US" sz="10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طفلي بيضرب أخوه… → grounded answer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34256" y="553212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471416" y="553212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 </a:t>
            </a:r>
            <a:pPr indent="0" marL="0">
              <a:buNone/>
            </a:pPr>
            <a:r>
              <a:rPr lang="en-US" sz="10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عنده حرارة من يومين… → clean redirect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28432" y="553212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C4B6D2">
                <a:alpha val="2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165592" y="553212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OUT_OF_SCOPE  </a:t>
            </a:r>
            <a:pPr indent="0" marL="0">
              <a:buNone/>
            </a:pPr>
            <a:r>
              <a:rPr lang="en-US" sz="10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خطاب استقالة → politely declined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13 / 18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LAYER · FRONTEND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Egyptian-Arabic chat interface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React chat UI, built RTL-first for the actual language of the product.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29000" cy="3977640"/>
          </a:xfrm>
          <a:prstGeom prst="roundRect">
            <a:avLst>
              <a:gd name="adj" fmla="val 29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30552"/>
            <a:ext cx="2916936" cy="502920"/>
          </a:xfrm>
          <a:prstGeom prst="roundRect">
            <a:avLst>
              <a:gd name="adj" fmla="val 14545"/>
            </a:avLst>
          </a:prstGeom>
          <a:solidFill>
            <a:srgbClr val="F4EE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2130552"/>
            <a:ext cx="2916936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مساعد الأهل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96112" y="2788920"/>
            <a:ext cx="2423160" cy="868680"/>
          </a:xfrm>
          <a:prstGeom prst="roundRect">
            <a:avLst>
              <a:gd name="adj" fmla="val 10526"/>
            </a:avLst>
          </a:prstGeom>
          <a:solidFill>
            <a:srgbClr val="ECE4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825496"/>
            <a:ext cx="2313432" cy="7955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ده موقف شائع جدًا، وده مش معناه إنك بتعملي حاجة غلط…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508760" y="3840480"/>
            <a:ext cx="2304288" cy="731520"/>
          </a:xfrm>
          <a:prstGeom prst="roundRect">
            <a:avLst>
              <a:gd name="adj" fmla="val 12500"/>
            </a:avLst>
          </a:prstGeom>
          <a:solidFill>
            <a:srgbClr val="F6E2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4480" y="3867912"/>
            <a:ext cx="2212848" cy="676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طفلي بيضرب أخوه لما يتعصب، أعمل إيه؟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96112" y="5074920"/>
            <a:ext cx="2916936" cy="548640"/>
          </a:xfrm>
          <a:prstGeom prst="roundRect">
            <a:avLst>
              <a:gd name="adj" fmla="val 50000"/>
            </a:avLst>
          </a:prstGeom>
          <a:solidFill>
            <a:srgbClr val="F4EEF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" y="5148072"/>
            <a:ext cx="402336" cy="402336"/>
          </a:xfrm>
          <a:prstGeom prst="ellipse">
            <a:avLst/>
          </a:prstGeom>
          <a:solidFill>
            <a:srgbClr val="D982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5148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426464" y="5074920"/>
            <a:ext cx="23317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اكتب سؤالك، أو استخدم الميكروفون…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34840" y="1874520"/>
            <a:ext cx="7114032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148840"/>
            <a:ext cx="502920" cy="50292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200253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layout, Egyptian dialect throughout</a:t>
            </a:r>
            <a:endParaRPr lang="en-US" sz="1400" dirty="0"/>
          </a:p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Sidebar, message alignment, and every UI string built for Arabic from the start.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434840" y="3017520"/>
            <a:ext cx="7114032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3291840"/>
            <a:ext cx="502920" cy="50292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634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349240" y="314553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recording via MediaRecorder</a:t>
            </a:r>
            <a:endParaRPr lang="en-US" sz="1400" dirty="0"/>
          </a:p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browser mic capture with a live “listening…” state, ready for the STT endpoint.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434840" y="4160520"/>
            <a:ext cx="7114032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4434840"/>
            <a:ext cx="502920" cy="50292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6344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5349240" y="428853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Mock-to-real backend swap point</a:t>
            </a:r>
            <a:endParaRPr lang="en-US" sz="1400" dirty="0"/>
          </a:p>
          <a:p>
            <a:pPr indent="0" marL="0">
              <a:lnSpc>
                <a:spcPct val="103000"/>
              </a:lnSpc>
              <a:spcBef>
                <a:spcPts val="300"/>
              </a:spcBef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isolated functions (chat, transcription) so wiring the real API touches no UI code.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434840" y="5394960"/>
            <a:ext cx="950976" cy="457200"/>
          </a:xfrm>
          <a:prstGeom prst="roundRect">
            <a:avLst>
              <a:gd name="adj" fmla="val 50000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434840" y="5394960"/>
            <a:ext cx="950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14416" y="5394960"/>
            <a:ext cx="2136038" cy="457200"/>
          </a:xfrm>
          <a:prstGeom prst="roundRect">
            <a:avLst>
              <a:gd name="adj" fmla="val 50000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614416" y="5394960"/>
            <a:ext cx="2136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MediaRecorder API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979054" y="5394960"/>
            <a:ext cx="2136038" cy="457200"/>
          </a:xfrm>
          <a:prstGeom prst="roundRect">
            <a:avLst>
              <a:gd name="adj" fmla="val 50000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979054" y="5394960"/>
            <a:ext cx="2136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design tokens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RTL-first — the interface speaks the user's language, literally.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14 / 18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VOICE SERVICE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Speech-to-Text &amp; Text-to-Speech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Hands-free: parents ask while their hands are full — no typing required.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0879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58568"/>
            <a:ext cx="548640" cy="54864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258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0939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(STT)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532888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faster-whisper (small), Arabic-forced, VAD tuned to 1500 ms — turns the spoken question into text for the RAG pipeline.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1090879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675888"/>
            <a:ext cx="548640" cy="54864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675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5112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 (TTS)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3950208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NAMAA Egyptian-Arabic voice via a hosted Space — turns the written answer back into natural spoken audio.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5093208"/>
            <a:ext cx="548640" cy="54864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928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integrated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737360" y="5367528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standalone FastAPI service wired end-to-end into the RAG + fine-tuned model pipeline over HTTP.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is core scope; TTS delivered as a bonus — Egyptian voice in and out.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15 / 18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SERVICE · RESULT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voice to voice — a working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2194560"/>
            <a:ext cx="3310128" cy="1828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74320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33756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(STT)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1668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681728" y="2194560"/>
            <a:ext cx="3310128" cy="1828800"/>
          </a:xfrm>
          <a:prstGeom prst="roundRect">
            <a:avLst>
              <a:gd name="adj" fmla="val 5500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64608" y="274320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Fine-Tuned Model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333756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(Nile-Chat-4B)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014716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494776" y="2194560"/>
            <a:ext cx="3310128" cy="1828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677656" y="274320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Output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677656" y="333756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(TTS)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4526280"/>
            <a:ext cx="10451592" cy="1051560"/>
          </a:xfrm>
          <a:prstGeom prst="roundRect">
            <a:avLst>
              <a:gd name="adj" fmla="val 9565"/>
            </a:avLst>
          </a:prstGeom>
          <a:solidFill>
            <a:srgbClr val="F7EEE9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097280" y="452628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5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tested and working — the full voice-to-voice pipeline runs end-to-end.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speaks in Egyptian Arabic and hears an answer back.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16 / 18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· FINDINGS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honest read of the evaluation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rubric-graded held-out questions · safety-critical items are hard fails · ~67% overall.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57800" cy="356616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 worked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on-persona Egyptian-Arabic tone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refusals: FGM myth, antibiotics, cold-bath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Emergencies routed to doctor / ER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CPU — deployable with the RAG stack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Safety-critical subset: 8 / 12 passed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965960"/>
            <a:ext cx="5285232" cy="356616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What to fix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69748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dosage question produced a numeric answer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Choking was not escalated as an emergency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Occasional wrong facts: solids age, screen time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some out-of-scope questions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works. Safety needs strengthening. Facts should be grounded by RAG.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17 / 18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8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IMPROVEMENTS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D2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stands, and where it goes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4114800"/>
          </a:xfrm>
          <a:prstGeom prst="roundRect">
            <a:avLst>
              <a:gd name="adj" fmla="val 2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substitute for professional medical or psychological advice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refusals imperfect — dosage &amp; choking misses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only as good as the retrieved sources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topic coverage (discipline, screen time, sleep)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can drift Egyptian colloquial → MSA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 depends on a third-party hosted Space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285232" cy="4114800"/>
          </a:xfrm>
          <a:prstGeom prst="roundRect">
            <a:avLst>
              <a:gd name="adj" fmla="val 2444"/>
            </a:avLst>
          </a:prstGeom>
          <a:solidFill>
            <a:srgbClr val="FBF6FB"/>
          </a:solidFill>
          <a:ln/>
          <a:effectLst>
            <a:outerShdw sx="100000" sy="100000" kx="0" ky="0" algn="bl" rotWithShape="0" blurRad="165100" dist="38100" dir="5400000">
              <a:srgbClr val="B7A6C9">
                <a:alpha val="26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2057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improvements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37960" y="2578608"/>
            <a:ext cx="420624" cy="42062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2578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2523744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 </a:t>
            </a:r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safety pairs across emergencies, dosing &amp; out-of-scope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3236976"/>
            <a:ext cx="420624" cy="42062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3236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18211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 </a:t>
            </a:r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stricter refusal training so safety-critical items pass reliably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37960" y="3895344"/>
            <a:ext cx="420624" cy="42062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7960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384048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 </a:t>
            </a:r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rely on RAG for facts rather than the model's memory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37960" y="4553712"/>
            <a:ext cx="420624" cy="42062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4498848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 </a:t>
            </a:r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wider topic and age-band coverage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37960" y="5212080"/>
            <a:ext cx="420624" cy="42062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D982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5212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6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5157216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3D2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 </a:t>
            </a:r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dialect-specific STT + a duplicated, private TTS Space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727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C4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scoping: a clean, working small system beats an overextended one.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627278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ParentWise  ·  18 / 18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2026-09-07T14:39:41Z</dcterms:created>
  <dcterms:modified xsi:type="dcterms:W3CDTF">2026-09-07T14:39:41Z</dcterms:modified>
</cp:coreProperties>
</file>